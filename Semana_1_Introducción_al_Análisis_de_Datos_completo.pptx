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88" r:id="rId67"/>
    <p:sldId id="289" r:id="rId68"/>
    <p:sldId id="290" r:id="rId69"/>
    <p:sldId id="267" r:id="rId18"/>
    <p:sldId id="291" r:id="rId70"/>
    <p:sldId id="292" r:id="rId71"/>
    <p:sldId id="293" r:id="rId72"/>
    <p:sldId id="294" r:id="rId73"/>
    <p:sldId id="268" r:id="rId19"/>
    <p:sldId id="269" r:id="rId20"/>
    <p:sldId id="270" r:id="rId21"/>
    <p:sldId id="271" r:id="rId22"/>
    <p:sldId id="295" r:id="rId74"/>
    <p:sldId id="296" r:id="rId75"/>
    <p:sldId id="272" r:id="rId23"/>
    <p:sldId id="297" r:id="rId76"/>
    <p:sldId id="273" r:id="rId24"/>
    <p:sldId id="274" r:id="rId25"/>
    <p:sldId id="275" r:id="rId26"/>
    <p:sldId id="276" r:id="rId27"/>
    <p:sldId id="298" r:id="rId77"/>
    <p:sldId id="299" r:id="rId78"/>
    <p:sldId id="300" r:id="rId79"/>
    <p:sldId id="277" r:id="rId28"/>
    <p:sldId id="278" r:id="rId29"/>
    <p:sldId id="279" r:id="rId30"/>
    <p:sldId id="280" r:id="rId31"/>
    <p:sldId id="301" r:id="rId80"/>
    <p:sldId id="281" r:id="rId32"/>
    <p:sldId id="282" r:id="rId33"/>
    <p:sldId id="283" r:id="rId34"/>
    <p:sldId id="284" r:id="rId35"/>
    <p:sldId id="285" r:id="rId36"/>
    <p:sldId id="302" r:id="rId81"/>
    <p:sldId id="303" r:id="rId82"/>
    <p:sldId id="304" r:id="rId83"/>
    <p:sldId id="286" r:id="rId37"/>
    <p:sldId id="287" r:id="rId38"/>
  </p:sldIdLst>
  <p:sldSz cy="5143500" cx="9144000"/>
  <p:notesSz cx="6858000" cy="9144000"/>
  <p:embeddedFontLst>
    <p:embeddedFont>
      <p:font typeface="Anton"/>
      <p:regular r:id="rId39"/>
    </p:embeddedFont>
    <p:embeddedFont>
      <p:font typeface="Plus Jakarta Sans ExtraBold"/>
      <p:bold r:id="rId40"/>
      <p:boldItalic r:id="rId41"/>
    </p:embeddedFont>
    <p:embeddedFont>
      <p:font typeface="Roboto"/>
      <p:regular r:id="rId42"/>
      <p:bold r:id="rId43"/>
      <p:italic r:id="rId44"/>
      <p:boldItalic r:id="rId45"/>
    </p:embeddedFont>
    <p:embeddedFont>
      <p:font typeface="Plus Jakarta Sans"/>
      <p:regular r:id="rId46"/>
      <p:bold r:id="rId47"/>
      <p:italic r:id="rId48"/>
      <p:boldItalic r:id="rId49"/>
    </p:embeddedFont>
    <p:embeddedFont>
      <p:font typeface="Plus Jakarta Sans Light"/>
      <p:regular r:id="rId50"/>
      <p:bold r:id="rId51"/>
      <p:italic r:id="rId52"/>
      <p:boldItalic r:id="rId53"/>
    </p:embeddedFont>
    <p:embeddedFont>
      <p:font typeface="Candara"/>
      <p:regular r:id="rId54"/>
      <p:bold r:id="rId55"/>
      <p:italic r:id="rId56"/>
      <p:boldItalic r:id="rId57"/>
    </p:embeddedFont>
    <p:embeddedFont>
      <p:font typeface="Book Antiqua"/>
      <p:regular r:id="rId58"/>
      <p:bold r:id="rId59"/>
      <p:italic r:id="rId60"/>
      <p:boldItalic r:id="rId61"/>
    </p:embeddedFont>
    <p:embeddedFont>
      <p:font typeface="DM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6" roundtripDataSignature="AMtx7mhaS2ivFVFvy/aHSAsMXk2Z7evL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8D60F0-E939-4DE0-92F3-595DE114B0EE}">
  <a:tblStyle styleId="{FD8D60F0-E939-4DE0-92F3-595DE114B0EE}" styleName="Table_0">
    <a:wholeTbl>
      <a:tcTxStyle b="off" i="off">
        <a:font>
          <a:latin typeface="Arial"/>
          <a:ea typeface="Arial"/>
          <a:cs typeface="Arial"/>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FFF1E8"/>
          </a:solidFill>
        </a:fill>
      </a:tcStyle>
    </a:wholeTbl>
    <a:band1H>
      <a:tcTxStyle/>
      <a:tcStyle>
        <a:fill>
          <a:solidFill>
            <a:srgbClr val="FFE2CD"/>
          </a:solidFill>
        </a:fill>
      </a:tcStyle>
    </a:band1H>
    <a:band2H>
      <a:tcTxStyle/>
    </a:band2H>
    <a:band1V>
      <a:tcTxStyle/>
      <a:tcStyle>
        <a:fill>
          <a:solidFill>
            <a:srgbClr val="FFE2CD"/>
          </a:solidFill>
        </a:fill>
      </a:tcStyle>
    </a:band1V>
    <a:band2V>
      <a:tcTxStyle/>
    </a:band2V>
    <a:lastCol>
      <a:tcTxStyle b="on" i="off"/>
    </a:lastCol>
    <a:firstCol>
      <a:tcTxStyle b="on" i="off"/>
    </a:firstCol>
    <a:lastRow>
      <a:tcTxStyle b="on" i="off"/>
      <a:tcStyle>
        <a:tcBdr>
          <a:top>
            <a:ln cap="flat" cmpd="sng" w="25400">
              <a:solidFill>
                <a:schemeClr val="accent4"/>
              </a:solidFill>
              <a:prstDash val="solid"/>
              <a:round/>
              <a:headEnd len="sm" w="sm" type="none"/>
              <a:tailEnd len="sm" w="sm" type="none"/>
            </a:ln>
          </a:top>
        </a:tcBdr>
        <a:fill>
          <a:solidFill>
            <a:srgbClr val="FFF1E8"/>
          </a:solidFill>
        </a:fill>
      </a:tcStyle>
    </a:lastRow>
    <a:seCell>
      <a:tcTxStyle/>
    </a:seCell>
    <a:swCell>
      <a:tcTxStyle/>
    </a:swCell>
    <a:firstRow>
      <a:tcTxStyle b="on" i="off"/>
      <a:tcStyle>
        <a:fill>
          <a:solidFill>
            <a:srgbClr val="FFF1E8"/>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font" Target="fonts/Anton-regular.fntdata"/><Relationship Id="rId40" Type="http://schemas.openxmlformats.org/officeDocument/2006/relationships/font" Target="fonts/PlusJakartaSansExtraBold-bold.fntdata"/><Relationship Id="rId41" Type="http://schemas.openxmlformats.org/officeDocument/2006/relationships/font" Target="fonts/PlusJakartaSansExtraBold-boldItalic.fntdata"/><Relationship Id="rId42" Type="http://schemas.openxmlformats.org/officeDocument/2006/relationships/font" Target="fonts/Roboto-regular.fntdata"/><Relationship Id="rId43" Type="http://schemas.openxmlformats.org/officeDocument/2006/relationships/font" Target="fonts/Roboto-bold.fntdata"/><Relationship Id="rId44" Type="http://schemas.openxmlformats.org/officeDocument/2006/relationships/font" Target="fonts/Roboto-italic.fntdata"/><Relationship Id="rId45" Type="http://schemas.openxmlformats.org/officeDocument/2006/relationships/font" Target="fonts/Roboto-boldItalic.fntdata"/><Relationship Id="rId46" Type="http://schemas.openxmlformats.org/officeDocument/2006/relationships/font" Target="fonts/PlusJakartaSans-regular.fntdata"/><Relationship Id="rId47" Type="http://schemas.openxmlformats.org/officeDocument/2006/relationships/font" Target="fonts/PlusJakartaSans-bold.fntdata"/><Relationship Id="rId48" Type="http://schemas.openxmlformats.org/officeDocument/2006/relationships/font" Target="fonts/PlusJakartaSans-italic.fntdata"/><Relationship Id="rId49" Type="http://schemas.openxmlformats.org/officeDocument/2006/relationships/font" Target="fonts/PlusJakartaSans-boldItalic.fntdata"/><Relationship Id="rId50" Type="http://schemas.openxmlformats.org/officeDocument/2006/relationships/font" Target="fonts/PlusJakartaSansLight-regular.fntdata"/><Relationship Id="rId51" Type="http://schemas.openxmlformats.org/officeDocument/2006/relationships/font" Target="fonts/PlusJakartaSansLight-bold.fntdata"/><Relationship Id="rId52" Type="http://schemas.openxmlformats.org/officeDocument/2006/relationships/font" Target="fonts/PlusJakartaSansLight-italic.fntdata"/><Relationship Id="rId53" Type="http://schemas.openxmlformats.org/officeDocument/2006/relationships/font" Target="fonts/PlusJakartaSansLight-boldItalic.fntdata"/><Relationship Id="rId54" Type="http://schemas.openxmlformats.org/officeDocument/2006/relationships/font" Target="fonts/Candara-regular.fntdata"/><Relationship Id="rId55" Type="http://schemas.openxmlformats.org/officeDocument/2006/relationships/font" Target="fonts/Candara-bold.fntdata"/><Relationship Id="rId56" Type="http://schemas.openxmlformats.org/officeDocument/2006/relationships/font" Target="fonts/Candara-italic.fntdata"/><Relationship Id="rId57" Type="http://schemas.openxmlformats.org/officeDocument/2006/relationships/font" Target="fonts/Candara-boldItalic.fntdata"/><Relationship Id="rId58" Type="http://schemas.openxmlformats.org/officeDocument/2006/relationships/font" Target="fonts/BookAntiqua-regular.fntdata"/><Relationship Id="rId59" Type="http://schemas.openxmlformats.org/officeDocument/2006/relationships/font" Target="fonts/BookAntiqua-bold.fntdata"/><Relationship Id="rId60" Type="http://schemas.openxmlformats.org/officeDocument/2006/relationships/font" Target="fonts/BookAntiqua-italic.fntdata"/><Relationship Id="rId61" Type="http://schemas.openxmlformats.org/officeDocument/2006/relationships/font" Target="fonts/BookAntiqua-boldItalic.fntdata"/><Relationship Id="rId62" Type="http://schemas.openxmlformats.org/officeDocument/2006/relationships/font" Target="fonts/DMSans-regular.fntdata"/><Relationship Id="rId63" Type="http://schemas.openxmlformats.org/officeDocument/2006/relationships/font" Target="fonts/DMSans-bold.fntdata"/><Relationship Id="rId64" Type="http://schemas.openxmlformats.org/officeDocument/2006/relationships/font" Target="fonts/DMSans-italic.fntdata"/><Relationship Id="rId65" Type="http://schemas.openxmlformats.org/officeDocument/2006/relationships/font" Target="fonts/DMSans-boldItalic.fntdata"/><Relationship Id="rId66" Type="http://customschemas.google.com/relationships/presentationmetadata" Target="metadata"/><Relationship Id="rId67" Type="http://schemas.openxmlformats.org/officeDocument/2006/relationships/slide" Target="slides/slide33.xml"/><Relationship Id="rId68" Type="http://schemas.openxmlformats.org/officeDocument/2006/relationships/slide" Target="slides/slide34.xml"/><Relationship Id="rId69" Type="http://schemas.openxmlformats.org/officeDocument/2006/relationships/slide" Target="slides/slide35.xml"/><Relationship Id="rId70" Type="http://schemas.openxmlformats.org/officeDocument/2006/relationships/slide" Target="slides/slide36.xml"/><Relationship Id="rId71" Type="http://schemas.openxmlformats.org/officeDocument/2006/relationships/slide" Target="slides/slide37.xml"/><Relationship Id="rId72" Type="http://schemas.openxmlformats.org/officeDocument/2006/relationships/slide" Target="slides/slide38.xml"/><Relationship Id="rId73" Type="http://schemas.openxmlformats.org/officeDocument/2006/relationships/slide" Target="slides/slide39.xml"/><Relationship Id="rId74" Type="http://schemas.openxmlformats.org/officeDocument/2006/relationships/slide" Target="slides/slide40.xml"/><Relationship Id="rId75" Type="http://schemas.openxmlformats.org/officeDocument/2006/relationships/slide" Target="slides/slide41.xml"/><Relationship Id="rId76" Type="http://schemas.openxmlformats.org/officeDocument/2006/relationships/slide" Target="slides/slide42.xml"/><Relationship Id="rId77" Type="http://schemas.openxmlformats.org/officeDocument/2006/relationships/slide" Target="slides/slide43.xml"/><Relationship Id="rId78" Type="http://schemas.openxmlformats.org/officeDocument/2006/relationships/slide" Target="slides/slide44.xml"/><Relationship Id="rId79" Type="http://schemas.openxmlformats.org/officeDocument/2006/relationships/slide" Target="slides/slide45.xml"/><Relationship Id="rId80" Type="http://schemas.openxmlformats.org/officeDocument/2006/relationships/slide" Target="slides/slide46.xml"/><Relationship Id="rId81" Type="http://schemas.openxmlformats.org/officeDocument/2006/relationships/slide" Target="slides/slide47.xml"/><Relationship Id="rId82" Type="http://schemas.openxmlformats.org/officeDocument/2006/relationships/slide" Target="slides/slide48.xml"/><Relationship Id="rId83"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MX">
                <a:solidFill>
                  <a:schemeClr val="dk1"/>
                </a:solidFill>
              </a:rPr>
              <a:t>Overview de las herramientas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MX">
                <a:solidFill>
                  <a:schemeClr val="dk1"/>
                </a:solidFill>
              </a:rPr>
              <a:t>Overview de las herramientas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34"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11" name="Shape 11"/>
        <p:cNvGrpSpPr/>
        <p:nvPr/>
      </p:nvGrpSpPr>
      <p:grpSpPr>
        <a:xfrm>
          <a:off x="0" y="0"/>
          <a:ext cx="0" cy="0"/>
          <a:chOff x="0" y="0"/>
          <a:chExt cx="0" cy="0"/>
        </a:xfrm>
      </p:grpSpPr>
      <p:sp>
        <p:nvSpPr>
          <p:cNvPr id="12" name="Google Shape;12;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3" name="Shape 13"/>
        <p:cNvGrpSpPr/>
        <p:nvPr/>
      </p:nvGrpSpPr>
      <p:grpSpPr>
        <a:xfrm>
          <a:off x="0" y="0"/>
          <a:ext cx="0" cy="0"/>
          <a:chOff x="0" y="0"/>
          <a:chExt cx="0" cy="0"/>
        </a:xfrm>
      </p:grpSpPr>
      <p:sp>
        <p:nvSpPr>
          <p:cNvPr id="14" name="Google Shape;1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15" name="Shape 15"/>
        <p:cNvGrpSpPr/>
        <p:nvPr/>
      </p:nvGrpSpPr>
      <p:grpSpPr>
        <a:xfrm>
          <a:off x="0" y="0"/>
          <a:ext cx="0" cy="0"/>
          <a:chOff x="0" y="0"/>
          <a:chExt cx="0" cy="0"/>
        </a:xfrm>
      </p:grpSpPr>
      <p:sp>
        <p:nvSpPr>
          <p:cNvPr id="16" name="Google Shape;1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7" name="Shape 17"/>
        <p:cNvGrpSpPr/>
        <p:nvPr/>
      </p:nvGrpSpPr>
      <p:grpSpPr>
        <a:xfrm>
          <a:off x="0" y="0"/>
          <a:ext cx="0" cy="0"/>
          <a:chOff x="0" y="0"/>
          <a:chExt cx="0" cy="0"/>
        </a:xfrm>
      </p:grpSpPr>
      <p:sp>
        <p:nvSpPr>
          <p:cNvPr id="18" name="Google Shape;1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co 1">
    <p:bg>
      <p:bgPr>
        <a:solidFill>
          <a:schemeClr val="lt1"/>
        </a:solidFill>
      </p:bgPr>
    </p:bg>
    <p:spTree>
      <p:nvGrpSpPr>
        <p:cNvPr id="19" name="Shape 19"/>
        <p:cNvGrpSpPr/>
        <p:nvPr/>
      </p:nvGrpSpPr>
      <p:grpSpPr>
        <a:xfrm>
          <a:off x="0" y="0"/>
          <a:ext cx="0" cy="0"/>
          <a:chOff x="0" y="0"/>
          <a:chExt cx="0" cy="0"/>
        </a:xfrm>
      </p:grpSpPr>
      <p:sp>
        <p:nvSpPr>
          <p:cNvPr id="20" name="Google Shape;2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21" name="Google Shape;21;p3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MX"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22" name="Google Shape;22;p3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MX"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23" name="Google Shape;23;p3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MX"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24" name="Google Shape;24;p3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MX"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7" name="Google Shape;27;p4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8" name="Google Shape;2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4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4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4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 name="Google Shape;46;p4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0" name="Google Shape;5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4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4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4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4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64" name="Shape 64"/>
        <p:cNvGrpSpPr/>
        <p:nvPr/>
      </p:nvGrpSpPr>
      <p:grpSpPr>
        <a:xfrm>
          <a:off x="0" y="0"/>
          <a:ext cx="0" cy="0"/>
          <a:chOff x="0" y="0"/>
          <a:chExt cx="0" cy="0"/>
        </a:xfrm>
      </p:grpSpPr>
      <p:sp>
        <p:nvSpPr>
          <p:cNvPr id="65" name="Google Shape;65;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Fondo blanco">
    <p:spTree>
      <p:nvGrpSpPr>
        <p:cNvPr id="66" name="Shape 66"/>
        <p:cNvGrpSpPr/>
        <p:nvPr/>
      </p:nvGrpSpPr>
      <p:grpSpPr>
        <a:xfrm>
          <a:off x="0" y="0"/>
          <a:ext cx="0" cy="0"/>
          <a:chOff x="0" y="0"/>
          <a:chExt cx="0" cy="0"/>
        </a:xfrm>
      </p:grpSpPr>
      <p:pic>
        <p:nvPicPr>
          <p:cNvPr id="67" name="Google Shape;67;p51" title="logo coderhouse"/>
          <p:cNvPicPr preferRelativeResize="0"/>
          <p:nvPr/>
        </p:nvPicPr>
        <p:blipFill rotWithShape="1">
          <a:blip r:embed="rId2">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hyperlink" Target="https://forms.gle/LpdXCZf5ADg64aka8" TargetMode="External"/><Relationship Id="rId7" Type="http://schemas.openxmlformats.org/officeDocument/2006/relationships/image" Target="../media/image12.png"/><Relationship Id="rId8" Type="http://schemas.openxmlformats.org/officeDocument/2006/relationships/hyperlink" Target="https://forms.gle/e5gvtK1t9pWDndaE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learn.microsoft.com/es-es/sql/sql-server/what-is-sql-server?view=sql-server-ver17" TargetMode="External"/><Relationship Id="rId4" Type="http://schemas.openxmlformats.org/officeDocument/2006/relationships/image" Target="../media/image15.png"/><Relationship Id="rId5" Type="http://schemas.openxmlformats.org/officeDocument/2006/relationships/hyperlink" Target="https://learn.microsoft.com/es-es/power-bi/fundamentals/power-bi-overview" TargetMode="External"/><Relationship Id="rId6" Type="http://schemas.openxmlformats.org/officeDocument/2006/relationships/image" Target="../media/image6.png"/><Relationship Id="rId7" Type="http://schemas.openxmlformats.org/officeDocument/2006/relationships/image" Target="../media/image8.png"/><Relationship Id="rId8"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hyperlink" Target="https://learn.microsoft.com/es-es/ssms/install/install?view=sql-server-ver16" TargetMode="External"/><Relationship Id="rId4" Type="http://schemas.openxmlformats.org/officeDocument/2006/relationships/image" Target="../media/image13.png"/><Relationship Id="rId5" Type="http://schemas.openxmlformats.org/officeDocument/2006/relationships/hyperlink" Target="https://youtu.be/oZskMTjAFYY?si=Xzh_hG31dkayIhy7" TargetMode="External"/><Relationship Id="rId6" Type="http://schemas.openxmlformats.org/officeDocument/2006/relationships/image" Target="../media/image14.png"/><Relationship Id="rId7" Type="http://schemas.openxmlformats.org/officeDocument/2006/relationships/image" Target="../media/image5.png"/><Relationship Id="rId8" Type="http://schemas.openxmlformats.org/officeDocument/2006/relationships/image" Target="../media/image4.png"/><Relationship Id="rId9" Type="http://schemas.openxmlformats.org/officeDocument/2006/relationships/hyperlink" Target="https://www.microsoft.com/es-ar/sql-server/sql-server-downloads" TargetMode="External"/><Relationship Id="rId10" Type="http://schemas.openxmlformats.org/officeDocument/2006/relationships/image" Target="../media/image9.png"/><Relationship Id="rId11" Type="http://schemas.openxmlformats.org/officeDocument/2006/relationships/hyperlink" Target="https://youtu.be/H3EB_NB3FSQ?si=qehnyktzt2XZpnVT" TargetMode="External"/><Relationship Id="rId12"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24.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32.png"/><Relationship Id="rId8"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8.png"/><Relationship Id="rId4" Type="http://schemas.openxmlformats.org/officeDocument/2006/relationships/image" Target="../media/image46.png"/><Relationship Id="rId5"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hyperlink" Target="https://www.microsoft.com/es-es/power-platform/products/power-bi" TargetMode="External"/><Relationship Id="rId5" Type="http://schemas.openxmlformats.org/officeDocument/2006/relationships/image" Target="../media/image40.png"/><Relationship Id="rId6" Type="http://schemas.openxmlformats.org/officeDocument/2006/relationships/hyperlink" Target="https://www.tableau.com/es-es" TargetMode="External"/><Relationship Id="rId7" Type="http://schemas.openxmlformats.org/officeDocument/2006/relationships/image" Target="../media/image51.png"/><Relationship Id="rId8" Type="http://schemas.openxmlformats.org/officeDocument/2006/relationships/hyperlink" Target="https://community.strategy.com/gallery" TargetMode="External"/><Relationship Id="rId9" Type="http://schemas.openxmlformats.org/officeDocument/2006/relationships/image" Target="../media/image35.png"/><Relationship Id="rId10" Type="http://schemas.openxmlformats.org/officeDocument/2006/relationships/hyperlink" Target="https://lookerstudio.google.com/navigation/reporting" TargetMode="External"/><Relationship Id="rId11" Type="http://schemas.openxmlformats.org/officeDocument/2006/relationships/image" Target="../media/image50.png"/><Relationship Id="rId12" Type="http://schemas.openxmlformats.org/officeDocument/2006/relationships/hyperlink" Target="https://www.qlik.com/es-es/products/qlikview" TargetMode="External"/><Relationship Id="rId13" Type="http://schemas.openxmlformats.org/officeDocument/2006/relationships/image" Target="../media/image37.png"/><Relationship Id="rId1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w3schools.com/r/default.asp" TargetMode="External"/><Relationship Id="rId4" Type="http://schemas.openxmlformats.org/officeDocument/2006/relationships/image" Target="../media/image54.png"/><Relationship Id="rId5" Type="http://schemas.openxmlformats.org/officeDocument/2006/relationships/hyperlink" Target="https://julialang.org/learning/" TargetMode="External"/><Relationship Id="rId6" Type="http://schemas.openxmlformats.org/officeDocument/2006/relationships/image" Target="../media/image44.png"/><Relationship Id="rId7" Type="http://schemas.openxmlformats.org/officeDocument/2006/relationships/image" Target="../media/image24.png"/><Relationship Id="rId8" Type="http://schemas.openxmlformats.org/officeDocument/2006/relationships/hyperlink" Target="https://www.w3schools.com/python/default.asp" TargetMode="External"/><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9.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42.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53.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2.gif"/><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
          <p:cNvSpPr txBox="1"/>
          <p:nvPr/>
        </p:nvSpPr>
        <p:spPr>
          <a:xfrm>
            <a:off x="1340550" y="1923950"/>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Les damos la Bienvenida!</a:t>
            </a:r>
            <a:endParaRPr/>
          </a:p>
        </p:txBody>
      </p:sp>
      <p:pic>
        <p:nvPicPr>
          <p:cNvPr id="73" name="Google Shape;73;p1" title="logo gradient 1.png"/>
          <p:cNvPicPr preferRelativeResize="0"/>
          <p:nvPr/>
        </p:nvPicPr>
        <p:blipFill rotWithShape="1">
          <a:blip r:embed="rId3">
            <a:alphaModFix/>
          </a:blip>
          <a:srcRect b="0" l="0" r="0" t="0"/>
          <a:stretch/>
        </p:blipFill>
        <p:spPr>
          <a:xfrm>
            <a:off x="3798025" y="4523150"/>
            <a:ext cx="1547950" cy="452250"/>
          </a:xfrm>
          <a:prstGeom prst="rect">
            <a:avLst/>
          </a:prstGeom>
          <a:noFill/>
          <a:ln>
            <a:noFill/>
          </a:ln>
        </p:spPr>
      </p:pic>
      <p:pic>
        <p:nvPicPr>
          <p:cNvPr id="74" name="Google Shape;74;p1"/>
          <p:cNvPicPr preferRelativeResize="0"/>
          <p:nvPr/>
        </p:nvPicPr>
        <p:blipFill rotWithShape="1">
          <a:blip r:embed="rId4">
            <a:alphaModFix/>
          </a:blip>
          <a:srcRect b="28398" l="0" r="0" t="24984"/>
          <a:stretch/>
        </p:blipFill>
        <p:spPr>
          <a:xfrm>
            <a:off x="6380018" y="189361"/>
            <a:ext cx="1219200" cy="568364"/>
          </a:xfrm>
          <a:prstGeom prst="rect">
            <a:avLst/>
          </a:prstGeom>
          <a:noFill/>
          <a:ln>
            <a:noFill/>
          </a:ln>
        </p:spPr>
      </p:pic>
      <p:sp>
        <p:nvSpPr>
          <p:cNvPr id="75" name="Google Shape;75;p1"/>
          <p:cNvSpPr txBox="1"/>
          <p:nvPr/>
        </p:nvSpPr>
        <p:spPr>
          <a:xfrm>
            <a:off x="7572988" y="189361"/>
            <a:ext cx="145484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s-MX" sz="1600" u="none" cap="none" strike="noStrike">
                <a:solidFill>
                  <a:srgbClr val="F2F2F2"/>
                </a:solidFill>
                <a:latin typeface="Roboto"/>
                <a:ea typeface="Roboto"/>
                <a:cs typeface="Roboto"/>
                <a:sym typeface="Roboto"/>
              </a:rPr>
              <a:t>Esta clase será grabada</a:t>
            </a:r>
            <a:endParaRPr b="0" i="0" sz="1600" u="none" cap="none" strike="noStrike">
              <a:solidFill>
                <a:srgbClr val="F2F2F2"/>
              </a:solidFill>
              <a:latin typeface="Roboto"/>
              <a:ea typeface="Roboto"/>
              <a:cs typeface="Roboto"/>
              <a:sym typeface="Roboto"/>
            </a:endParaRPr>
          </a:p>
        </p:txBody>
      </p:sp>
      <p:sp>
        <p:nvSpPr>
          <p:cNvPr id="76" name="Google Shape;76;p1"/>
          <p:cNvSpPr txBox="1"/>
          <p:nvPr/>
        </p:nvSpPr>
        <p:spPr>
          <a:xfrm>
            <a:off x="850961" y="60565"/>
            <a:ext cx="1148918" cy="767571"/>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2000"/>
              <a:buFont typeface="Arial"/>
              <a:buNone/>
            </a:pPr>
            <a:r>
              <a:rPr b="0" i="0" lang="es-MX" sz="6000" u="none" cap="none" strike="noStrike">
                <a:solidFill>
                  <a:srgbClr val="FFFFFF"/>
                </a:solidFill>
                <a:latin typeface="Plus Jakarta Sans Light"/>
                <a:ea typeface="Plus Jakarta Sans Light"/>
                <a:cs typeface="Plus Jakarta Sans Light"/>
                <a:sym typeface="Plus Jakarta Sans Light"/>
              </a:rPr>
              <a:t>1</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77" name="Google Shape;77;p1"/>
          <p:cNvSpPr txBox="1"/>
          <p:nvPr/>
        </p:nvSpPr>
        <p:spPr>
          <a:xfrm>
            <a:off x="-200444" y="168100"/>
            <a:ext cx="1625864" cy="276251"/>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2000"/>
              <a:buFont typeface="Arial"/>
              <a:buNone/>
            </a:pPr>
            <a:r>
              <a:rPr b="1" i="0" lang="es-MX" sz="2000" u="none" cap="none" strike="noStrike">
                <a:solidFill>
                  <a:srgbClr val="FFFFFF"/>
                </a:solidFill>
                <a:latin typeface="Plus Jakarta Sans Light"/>
                <a:ea typeface="Plus Jakarta Sans Light"/>
                <a:cs typeface="Plus Jakarta Sans Light"/>
                <a:sym typeface="Plus Jakarta Sans Light"/>
              </a:rPr>
              <a:t>Semana </a:t>
            </a:r>
            <a:endParaRPr b="1" i="0" sz="2000" u="none" cap="none" strike="noStrike">
              <a:solidFill>
                <a:srgbClr val="FFFFFF"/>
              </a:solidFill>
              <a:latin typeface="Plus Jakarta Sans Light"/>
              <a:ea typeface="Plus Jakarta Sans Light"/>
              <a:cs typeface="Plus Jakarta Sans Light"/>
              <a:sym typeface="Plus Jakarta Sans Light"/>
            </a:endParaRPr>
          </a:p>
        </p:txBody>
      </p:sp>
      <p:pic>
        <p:nvPicPr>
          <p:cNvPr id="78" name="Google Shape;78;p1"/>
          <p:cNvPicPr preferRelativeResize="0"/>
          <p:nvPr/>
        </p:nvPicPr>
        <p:blipFill rotWithShape="1">
          <a:blip r:embed="rId5">
            <a:alphaModFix/>
          </a:blip>
          <a:srcRect b="0" l="0" r="0" t="0"/>
          <a:stretch/>
        </p:blipFill>
        <p:spPr>
          <a:xfrm>
            <a:off x="497165" y="3736855"/>
            <a:ext cx="928255" cy="9282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2"/>
          <p:cNvPicPr preferRelativeResize="0"/>
          <p:nvPr/>
        </p:nvPicPr>
        <p:blipFill rotWithShape="1">
          <a:blip r:embed="rId3">
            <a:alphaModFix/>
          </a:blip>
          <a:srcRect b="0" l="0" r="0" t="0"/>
          <a:stretch/>
        </p:blipFill>
        <p:spPr>
          <a:xfrm>
            <a:off x="5408499" y="0"/>
            <a:ext cx="3735502" cy="5143500"/>
          </a:xfrm>
          <a:prstGeom prst="rect">
            <a:avLst/>
          </a:prstGeom>
          <a:noFill/>
          <a:ln>
            <a:noFill/>
          </a:ln>
        </p:spPr>
      </p:pic>
      <p:sp>
        <p:nvSpPr>
          <p:cNvPr id="84" name="Google Shape;84;p2"/>
          <p:cNvSpPr/>
          <p:nvPr/>
        </p:nvSpPr>
        <p:spPr>
          <a:xfrm>
            <a:off x="1455626" y="2173172"/>
            <a:ext cx="2104500" cy="2371502"/>
          </a:xfrm>
          <a:prstGeom prst="roundRect">
            <a:avLst>
              <a:gd fmla="val 16667" name="adj"/>
            </a:avLst>
          </a:prstGeom>
          <a:blipFill rotWithShape="1">
            <a:blip r:embed="rId4">
              <a:alphaModFix/>
            </a:blip>
            <a:stretch>
              <a:fillRect b="0" l="0" r="0" t="0"/>
            </a:stretch>
          </a:blip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p2"/>
          <p:cNvSpPr/>
          <p:nvPr/>
        </p:nvSpPr>
        <p:spPr>
          <a:xfrm>
            <a:off x="1455626" y="3935084"/>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rgbClr val="000000"/>
              </a:buClr>
              <a:buSzPts val="1300"/>
              <a:buFont typeface="Arial"/>
              <a:buNone/>
            </a:pPr>
            <a:r>
              <a:rPr b="1" i="0" lang="es-MX" sz="1300" u="none" cap="none" strike="noStrike">
                <a:solidFill>
                  <a:srgbClr val="F8F2E8"/>
                </a:solidFill>
                <a:latin typeface="Plus Jakarta Sans"/>
                <a:ea typeface="Plus Jakarta Sans"/>
                <a:cs typeface="Plus Jakarta Sans"/>
                <a:sym typeface="Plus Jakarta Sans"/>
              </a:rPr>
              <a:t>Formulario Presentación</a:t>
            </a:r>
            <a:endParaRPr b="0" i="0" sz="1400" u="none" cap="none" strike="noStrike">
              <a:solidFill>
                <a:schemeClr val="lt1"/>
              </a:solidFill>
              <a:latin typeface="Arial"/>
              <a:ea typeface="Arial"/>
              <a:cs typeface="Arial"/>
              <a:sym typeface="Arial"/>
            </a:endParaRPr>
          </a:p>
        </p:txBody>
      </p:sp>
      <p:sp>
        <p:nvSpPr>
          <p:cNvPr id="86" name="Google Shape;86;p2"/>
          <p:cNvSpPr txBox="1"/>
          <p:nvPr/>
        </p:nvSpPr>
        <p:spPr>
          <a:xfrm>
            <a:off x="613267" y="182457"/>
            <a:ext cx="3789219" cy="9541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Plus Jakarta Sans ExtraBold"/>
                <a:ea typeface="Plus Jakarta Sans ExtraBold"/>
                <a:cs typeface="Plus Jakarta Sans ExtraBold"/>
                <a:sym typeface="Plus Jakarta Sans ExtraBold"/>
              </a:rPr>
              <a:t>Presentación</a:t>
            </a:r>
            <a:endParaRPr/>
          </a:p>
          <a:p>
            <a:pPr indent="0" lvl="0" marL="0" marR="0" rtl="0" algn="ctr">
              <a:lnSpc>
                <a:spcPct val="100000"/>
              </a:lnSpc>
              <a:spcBef>
                <a:spcPts val="0"/>
              </a:spcBef>
              <a:spcAft>
                <a:spcPts val="0"/>
              </a:spcAft>
              <a:buClr>
                <a:srgbClr val="000000"/>
              </a:buClr>
              <a:buSzPts val="2800"/>
              <a:buFont typeface="Arial"/>
              <a:buNone/>
            </a:pPr>
            <a:r>
              <a:rPr b="0" i="0" lang="es-MX" sz="2800" u="none" cap="none" strike="noStrike">
                <a:solidFill>
                  <a:schemeClr val="lt1"/>
                </a:solidFill>
                <a:latin typeface="Plus Jakarta Sans ExtraBold"/>
                <a:ea typeface="Plus Jakarta Sans ExtraBold"/>
                <a:cs typeface="Plus Jakarta Sans ExtraBold"/>
                <a:sym typeface="Plus Jakarta Sans ExtraBold"/>
              </a:rPr>
              <a:t>de </a:t>
            </a:r>
            <a:r>
              <a:rPr b="0" i="0" lang="es-MX" sz="2800" u="none" cap="none" strike="noStrike">
                <a:solidFill>
                  <a:srgbClr val="260700"/>
                </a:solidFill>
                <a:highlight>
                  <a:srgbClr val="FDAB2E"/>
                </a:highlight>
                <a:latin typeface="Plus Jakarta Sans ExtraBold"/>
                <a:ea typeface="Plus Jakarta Sans ExtraBold"/>
                <a:cs typeface="Plus Jakarta Sans ExtraBold"/>
                <a:sym typeface="Plus Jakarta Sans ExtraBold"/>
              </a:rPr>
              <a:t>estudiantes</a:t>
            </a:r>
            <a:r>
              <a:rPr b="0" i="0" lang="es-MX" sz="2800" u="none" cap="none" strike="noStrike">
                <a:solidFill>
                  <a:schemeClr val="lt1"/>
                </a:solidFill>
                <a:latin typeface="Plus Jakarta Sans ExtraBold"/>
                <a:ea typeface="Plus Jakarta Sans ExtraBold"/>
                <a:cs typeface="Plus Jakarta Sans ExtraBold"/>
                <a:sym typeface="Plus Jakarta Sans ExtraBold"/>
              </a:rPr>
              <a:t>:</a:t>
            </a:r>
            <a:endParaRPr b="0" i="0" sz="2800" u="none" cap="none" strike="noStrike">
              <a:solidFill>
                <a:schemeClr val="lt1"/>
              </a:solidFill>
              <a:latin typeface="Plus Jakarta Sans ExtraBold"/>
              <a:ea typeface="Plus Jakarta Sans ExtraBold"/>
              <a:cs typeface="Plus Jakarta Sans ExtraBold"/>
              <a:sym typeface="Plus Jakarta Sans ExtraBold"/>
            </a:endParaRPr>
          </a:p>
        </p:txBody>
      </p:sp>
      <p:pic>
        <p:nvPicPr>
          <p:cNvPr id="87" name="Google Shape;87;p2" title="Group 1321317428.png"/>
          <p:cNvPicPr preferRelativeResize="0"/>
          <p:nvPr/>
        </p:nvPicPr>
        <p:blipFill rotWithShape="1">
          <a:blip r:embed="rId5">
            <a:alphaModFix/>
          </a:blip>
          <a:srcRect b="0" l="0" r="0" t="0"/>
          <a:stretch/>
        </p:blipFill>
        <p:spPr>
          <a:xfrm>
            <a:off x="8189306" y="57767"/>
            <a:ext cx="861174" cy="857749"/>
          </a:xfrm>
          <a:prstGeom prst="rect">
            <a:avLst/>
          </a:prstGeom>
          <a:noFill/>
          <a:ln>
            <a:noFill/>
          </a:ln>
        </p:spPr>
      </p:pic>
      <p:grpSp>
        <p:nvGrpSpPr>
          <p:cNvPr id="88" name="Google Shape;88;p2"/>
          <p:cNvGrpSpPr/>
          <p:nvPr/>
        </p:nvGrpSpPr>
        <p:grpSpPr>
          <a:xfrm>
            <a:off x="2027337" y="2771278"/>
            <a:ext cx="1088720" cy="1064454"/>
            <a:chOff x="4133671" y="3631617"/>
            <a:chExt cx="1088720" cy="1064454"/>
          </a:xfrm>
        </p:grpSpPr>
        <p:sp>
          <p:nvSpPr>
            <p:cNvPr id="89" name="Google Shape;89;p2"/>
            <p:cNvSpPr/>
            <p:nvPr/>
          </p:nvSpPr>
          <p:spPr>
            <a:xfrm>
              <a:off x="4133671" y="3631619"/>
              <a:ext cx="1088720" cy="1064452"/>
            </a:xfrm>
            <a:prstGeom prst="rect">
              <a:avLst/>
            </a:prstGeom>
            <a:solidFill>
              <a:srgbClr val="FE872D"/>
            </a:solidFill>
            <a:ln cap="flat" cmpd="sng" w="25400">
              <a:solidFill>
                <a:srgbClr val="FE872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90" name="Google Shape;90;p2">
              <a:hlinkClick r:id="rId6"/>
            </p:cNvPr>
            <p:cNvPicPr preferRelativeResize="0"/>
            <p:nvPr/>
          </p:nvPicPr>
          <p:blipFill rotWithShape="1">
            <a:blip r:embed="rId7">
              <a:alphaModFix/>
            </a:blip>
            <a:srcRect b="0" l="0" r="0" t="0"/>
            <a:stretch/>
          </p:blipFill>
          <p:spPr>
            <a:xfrm>
              <a:off x="4133671" y="3631617"/>
              <a:ext cx="1064453" cy="1064453"/>
            </a:xfrm>
            <a:prstGeom prst="rect">
              <a:avLst/>
            </a:prstGeom>
            <a:noFill/>
            <a:ln cap="flat" cmpd="sng" w="9525">
              <a:solidFill>
                <a:srgbClr val="FF632B"/>
              </a:solidFill>
              <a:prstDash val="solid"/>
              <a:round/>
              <a:headEnd len="sm" w="sm" type="none"/>
              <a:tailEnd len="sm" w="sm" type="none"/>
            </a:ln>
          </p:spPr>
        </p:pic>
      </p:grpSp>
      <p:sp>
        <p:nvSpPr>
          <p:cNvPr id="91" name="Google Shape;91;p2"/>
          <p:cNvSpPr/>
          <p:nvPr/>
        </p:nvSpPr>
        <p:spPr>
          <a:xfrm>
            <a:off x="1991330" y="2301582"/>
            <a:ext cx="1145306" cy="370344"/>
          </a:xfrm>
          <a:prstGeom prst="downArrow">
            <a:avLst>
              <a:gd fmla="val 50000" name="adj1"/>
              <a:gd fmla="val 50000" name="adj2"/>
            </a:avLst>
          </a:prstGeom>
          <a:noFill/>
          <a:ln cap="flat" cmpd="sng" w="9525">
            <a:solidFill>
              <a:srgbClr val="FF632B"/>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92" name="Google Shape;92;p2">
            <a:hlinkClick r:id="rId8"/>
          </p:cNvPr>
          <p:cNvSpPr/>
          <p:nvPr/>
        </p:nvSpPr>
        <p:spPr>
          <a:xfrm>
            <a:off x="1455626" y="2173171"/>
            <a:ext cx="2104500" cy="2599719"/>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cxnSp>
        <p:nvCxnSpPr>
          <p:cNvPr id="97" name="Google Shape;97;p3"/>
          <p:cNvCxnSpPr>
            <a:stCxn id="98" idx="2"/>
          </p:cNvCxnSpPr>
          <p:nvPr/>
        </p:nvCxnSpPr>
        <p:spPr>
          <a:xfrm flipH="1" rot="10800000">
            <a:off x="819729" y="2980849"/>
            <a:ext cx="7739700" cy="5100"/>
          </a:xfrm>
          <a:prstGeom prst="straightConnector1">
            <a:avLst/>
          </a:prstGeom>
          <a:noFill/>
          <a:ln cap="flat" cmpd="sng" w="9525">
            <a:solidFill>
              <a:srgbClr val="FDAB2E"/>
            </a:solidFill>
            <a:prstDash val="solid"/>
            <a:round/>
            <a:headEnd len="sm" w="sm" type="none"/>
            <a:tailEnd len="sm" w="sm" type="none"/>
          </a:ln>
        </p:spPr>
      </p:cxnSp>
      <p:sp>
        <p:nvSpPr>
          <p:cNvPr id="99" name="Google Shape;99;p3"/>
          <p:cNvSpPr/>
          <p:nvPr/>
        </p:nvSpPr>
        <p:spPr>
          <a:xfrm>
            <a:off x="1643833" y="2897299"/>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291741" y="2906039"/>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txBox="1"/>
          <p:nvPr/>
        </p:nvSpPr>
        <p:spPr>
          <a:xfrm>
            <a:off x="2823493" y="3113602"/>
            <a:ext cx="1113795" cy="96331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Sintaxis SQL y Manipulación de Datos</a:t>
            </a:r>
            <a:endParaRPr b="0" i="0" sz="1100" u="none" cap="none" strike="noStrike">
              <a:solidFill>
                <a:srgbClr val="260700"/>
              </a:solidFill>
              <a:latin typeface="Plus Jakarta Sans"/>
              <a:ea typeface="Plus Jakarta Sans"/>
              <a:cs typeface="Plus Jakarta Sans"/>
              <a:sym typeface="Plus Jakarta Sans"/>
            </a:endParaRPr>
          </a:p>
        </p:txBody>
      </p:sp>
      <p:sp>
        <p:nvSpPr>
          <p:cNvPr id="102" name="Google Shape;102;p3"/>
          <p:cNvSpPr txBox="1"/>
          <p:nvPr/>
        </p:nvSpPr>
        <p:spPr>
          <a:xfrm>
            <a:off x="1222633" y="3120824"/>
            <a:ext cx="1019700" cy="96331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Modelos y Diseño de Bases de Datos</a:t>
            </a:r>
            <a:endParaRPr b="0" i="0" sz="1100" u="none" cap="none" strike="noStrike">
              <a:solidFill>
                <a:srgbClr val="260700"/>
              </a:solidFill>
              <a:latin typeface="Plus Jakarta Sans"/>
              <a:ea typeface="Plus Jakarta Sans"/>
              <a:cs typeface="Plus Jakarta Sans"/>
              <a:sym typeface="Plus Jakarta Sans"/>
            </a:endParaRPr>
          </a:p>
        </p:txBody>
      </p:sp>
      <p:sp>
        <p:nvSpPr>
          <p:cNvPr id="103" name="Google Shape;103;p3"/>
          <p:cNvSpPr/>
          <p:nvPr/>
        </p:nvSpPr>
        <p:spPr>
          <a:xfrm>
            <a:off x="2467787" y="2897299"/>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txBox="1"/>
          <p:nvPr/>
        </p:nvSpPr>
        <p:spPr>
          <a:xfrm>
            <a:off x="1978010" y="2142252"/>
            <a:ext cx="1154031"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Introducción a SQL y Sublenguajes</a:t>
            </a:r>
            <a:endParaRPr b="0" i="0" sz="1100" u="none" cap="none" strike="noStrike">
              <a:solidFill>
                <a:srgbClr val="260700"/>
              </a:solidFill>
              <a:latin typeface="Plus Jakarta Sans"/>
              <a:ea typeface="Plus Jakarta Sans"/>
              <a:cs typeface="Plus Jakarta Sans"/>
              <a:sym typeface="Plus Jakarta Sans"/>
            </a:endParaRPr>
          </a:p>
        </p:txBody>
      </p:sp>
      <p:sp>
        <p:nvSpPr>
          <p:cNvPr id="105" name="Google Shape;105;p3"/>
          <p:cNvSpPr txBox="1"/>
          <p:nvPr/>
        </p:nvSpPr>
        <p:spPr>
          <a:xfrm>
            <a:off x="379420" y="2120911"/>
            <a:ext cx="1132400"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chemeClr val="lt1"/>
                </a:solidFill>
                <a:highlight>
                  <a:srgbClr val="FF632B"/>
                </a:highlight>
                <a:latin typeface="Plus Jakarta Sans"/>
                <a:ea typeface="Plus Jakarta Sans"/>
                <a:cs typeface="Plus Jakarta Sans"/>
                <a:sym typeface="Plus Jakarta Sans"/>
              </a:rPr>
              <a:t>Introducción </a:t>
            </a:r>
            <a:endParaRPr/>
          </a:p>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chemeClr val="lt1"/>
                </a:solidFill>
                <a:highlight>
                  <a:srgbClr val="FF632B"/>
                </a:highlight>
                <a:latin typeface="Plus Jakarta Sans"/>
                <a:ea typeface="Plus Jakarta Sans"/>
                <a:cs typeface="Plus Jakarta Sans"/>
                <a:sym typeface="Plus Jakarta Sans"/>
              </a:rPr>
              <a:t>al Analisis </a:t>
            </a:r>
            <a:endParaRPr/>
          </a:p>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chemeClr val="lt1"/>
                </a:solidFill>
                <a:highlight>
                  <a:srgbClr val="FF632B"/>
                </a:highlight>
                <a:latin typeface="Plus Jakarta Sans"/>
                <a:ea typeface="Plus Jakarta Sans"/>
                <a:cs typeface="Plus Jakarta Sans"/>
                <a:sym typeface="Plus Jakarta Sans"/>
              </a:rPr>
              <a:t>de Datos</a:t>
            </a:r>
            <a:endParaRPr b="0" i="0" sz="1100" u="none" cap="none" strike="noStrike">
              <a:solidFill>
                <a:schemeClr val="lt1"/>
              </a:solidFill>
              <a:highlight>
                <a:srgbClr val="FF632B"/>
              </a:highlight>
              <a:latin typeface="Plus Jakarta Sans"/>
              <a:ea typeface="Plus Jakarta Sans"/>
              <a:cs typeface="Plus Jakarta Sans"/>
              <a:sym typeface="Plus Jakarta Sans"/>
            </a:endParaRPr>
          </a:p>
        </p:txBody>
      </p:sp>
      <p:sp>
        <p:nvSpPr>
          <p:cNvPr id="106" name="Google Shape;106;p3"/>
          <p:cNvSpPr/>
          <p:nvPr/>
        </p:nvSpPr>
        <p:spPr>
          <a:xfrm>
            <a:off x="4127415" y="2889553"/>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3706215" y="2113908"/>
            <a:ext cx="1019700"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Consultas SQL con Join y Union</a:t>
            </a:r>
            <a:endParaRPr b="0" i="0" sz="1100" u="none" cap="none" strike="noStrike">
              <a:solidFill>
                <a:srgbClr val="260700"/>
              </a:solidFill>
              <a:latin typeface="Plus Jakarta Sans"/>
              <a:ea typeface="Plus Jakarta Sans"/>
              <a:cs typeface="Plus Jakarta Sans"/>
              <a:sym typeface="Plus Jakarta Sans"/>
            </a:endParaRPr>
          </a:p>
        </p:txBody>
      </p:sp>
      <p:sp>
        <p:nvSpPr>
          <p:cNvPr id="108" name="Google Shape;108;p3"/>
          <p:cNvSpPr/>
          <p:nvPr/>
        </p:nvSpPr>
        <p:spPr>
          <a:xfrm>
            <a:off x="4974418" y="2889553"/>
            <a:ext cx="225900" cy="2259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txBox="1"/>
          <p:nvPr/>
        </p:nvSpPr>
        <p:spPr>
          <a:xfrm>
            <a:off x="4575059" y="3064442"/>
            <a:ext cx="1019700"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Historias con Datos y Gráficos</a:t>
            </a:r>
            <a:endParaRPr b="0" i="0" sz="1100" u="none" cap="none" strike="noStrike">
              <a:solidFill>
                <a:srgbClr val="260700"/>
              </a:solidFill>
              <a:latin typeface="Plus Jakarta Sans"/>
              <a:ea typeface="Plus Jakarta Sans"/>
              <a:cs typeface="Plus Jakarta Sans"/>
              <a:sym typeface="Plus Jakarta Sans"/>
            </a:endParaRPr>
          </a:p>
        </p:txBody>
      </p:sp>
      <p:sp>
        <p:nvSpPr>
          <p:cNvPr id="110" name="Google Shape;110;p3"/>
          <p:cNvSpPr/>
          <p:nvPr/>
        </p:nvSpPr>
        <p:spPr>
          <a:xfrm>
            <a:off x="5874713" y="2897299"/>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5199406" y="1893664"/>
            <a:ext cx="1334998" cy="96331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Introducción a Power Bi y Transformación de Datos</a:t>
            </a:r>
            <a:endParaRPr b="0" i="0" sz="1100" u="none" cap="none" strike="noStrike">
              <a:solidFill>
                <a:srgbClr val="260700"/>
              </a:solidFill>
              <a:latin typeface="Plus Jakarta Sans"/>
              <a:ea typeface="Plus Jakarta Sans"/>
              <a:cs typeface="Plus Jakarta Sans"/>
              <a:sym typeface="Plus Jakarta Sans"/>
            </a:endParaRPr>
          </a:p>
        </p:txBody>
      </p:sp>
      <p:sp>
        <p:nvSpPr>
          <p:cNvPr id="112" name="Google Shape;112;p3"/>
          <p:cNvSpPr/>
          <p:nvPr/>
        </p:nvSpPr>
        <p:spPr>
          <a:xfrm>
            <a:off x="6726408" y="2916900"/>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6232530" y="3231925"/>
            <a:ext cx="1113795"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Dimensiónes y Medidas en Power Bi</a:t>
            </a:r>
            <a:endParaRPr b="0" i="0" sz="1100" u="none" cap="none" strike="noStrike">
              <a:solidFill>
                <a:srgbClr val="260700"/>
              </a:solidFill>
              <a:latin typeface="Plus Jakarta Sans"/>
              <a:ea typeface="Plus Jakarta Sans"/>
              <a:cs typeface="Plus Jakarta Sans"/>
              <a:sym typeface="Plus Jakarta Sans"/>
            </a:endParaRPr>
          </a:p>
        </p:txBody>
      </p:sp>
      <p:cxnSp>
        <p:nvCxnSpPr>
          <p:cNvPr id="114" name="Google Shape;114;p3"/>
          <p:cNvCxnSpPr/>
          <p:nvPr/>
        </p:nvCxnSpPr>
        <p:spPr>
          <a:xfrm>
            <a:off x="1239416" y="2976231"/>
            <a:ext cx="0" cy="1678"/>
          </a:xfrm>
          <a:prstGeom prst="straightConnector1">
            <a:avLst/>
          </a:prstGeom>
          <a:noFill/>
          <a:ln cap="flat" cmpd="sng" w="9525">
            <a:solidFill>
              <a:srgbClr val="FDAB2E"/>
            </a:solidFill>
            <a:prstDash val="solid"/>
            <a:round/>
            <a:headEnd len="sm" w="sm" type="none"/>
            <a:tailEnd len="sm" w="sm" type="none"/>
          </a:ln>
        </p:spPr>
      </p:cxnSp>
      <p:sp>
        <p:nvSpPr>
          <p:cNvPr id="115" name="Google Shape;115;p3"/>
          <p:cNvSpPr txBox="1"/>
          <p:nvPr/>
        </p:nvSpPr>
        <p:spPr>
          <a:xfrm>
            <a:off x="1511820" y="210792"/>
            <a:ext cx="6462900" cy="1385735"/>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rgbClr val="171717"/>
                </a:solidFill>
                <a:latin typeface="Plus Jakarta Sans ExtraBold"/>
                <a:ea typeface="Plus Jakarta Sans ExtraBold"/>
                <a:cs typeface="Plus Jakarta Sans ExtraBold"/>
                <a:sym typeface="Plus Jakarta Sans ExtraBold"/>
              </a:rPr>
              <a:t>Completa con </a:t>
            </a:r>
            <a:r>
              <a:rPr b="0" i="0" lang="es-MX" sz="3600" u="none" cap="none" strike="noStrike">
                <a:solidFill>
                  <a:srgbClr val="FF632B"/>
                </a:solidFill>
                <a:latin typeface="Plus Jakarta Sans ExtraBold"/>
                <a:ea typeface="Plus Jakarta Sans ExtraBold"/>
                <a:cs typeface="Plus Jakarta Sans ExtraBold"/>
                <a:sym typeface="Plus Jakarta Sans ExtraBold"/>
              </a:rPr>
              <a:t>éxito</a:t>
            </a:r>
            <a:endParaRPr b="0" i="0" sz="3600" u="none" cap="none" strike="noStrike">
              <a:solidFill>
                <a:srgbClr val="FF632B"/>
              </a:solidFill>
              <a:latin typeface="Plus Jakarta Sans ExtraBold"/>
              <a:ea typeface="Plus Jakarta Sans ExtraBold"/>
              <a:cs typeface="Plus Jakarta Sans ExtraBold"/>
              <a:sym typeface="Plus Jakarta Sans ExtraBold"/>
            </a:endParaRPr>
          </a:p>
          <a:p>
            <a:pPr indent="0" lvl="0" marL="0" marR="0" rtl="0" algn="ctr">
              <a:lnSpc>
                <a:spcPct val="100000"/>
              </a:lnSpc>
              <a:spcBef>
                <a:spcPts val="0"/>
              </a:spcBef>
              <a:spcAft>
                <a:spcPts val="0"/>
              </a:spcAft>
              <a:buClr>
                <a:srgbClr val="000000"/>
              </a:buClr>
              <a:buSzPts val="3600"/>
              <a:buFont typeface="Arial"/>
              <a:buNone/>
            </a:pPr>
            <a:r>
              <a:rPr b="0" i="0" lang="es-MX" sz="3600" u="none" cap="none" strike="noStrike">
                <a:solidFill>
                  <a:srgbClr val="171717"/>
                </a:solidFill>
                <a:latin typeface="Plus Jakarta Sans ExtraBold"/>
                <a:ea typeface="Plus Jakarta Sans ExtraBold"/>
                <a:cs typeface="Plus Jakarta Sans ExtraBold"/>
                <a:sym typeface="Plus Jakarta Sans ExtraBold"/>
              </a:rPr>
              <a:t>el cronograma</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16" name="Google Shape;116;p3"/>
          <p:cNvSpPr txBox="1"/>
          <p:nvPr/>
        </p:nvSpPr>
        <p:spPr>
          <a:xfrm>
            <a:off x="2112415" y="4392851"/>
            <a:ext cx="4255500" cy="32621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1" lang="es-MX" sz="800" u="none" cap="none" strike="noStrike">
                <a:solidFill>
                  <a:srgbClr val="260700"/>
                </a:solidFill>
                <a:latin typeface="Plus Jakarta Sans"/>
                <a:ea typeface="Plus Jakarta Sans"/>
                <a:cs typeface="Plus Jakarta Sans"/>
                <a:sym typeface="Plus Jakarta Sans"/>
              </a:rPr>
              <a:t>(*) Recuerda que el primer requisito para finalizar con éxito es asistir a las clases.</a:t>
            </a:r>
            <a:endParaRPr b="0" i="1" sz="800" u="none" cap="none" strike="noStrike">
              <a:solidFill>
                <a:srgbClr val="260700"/>
              </a:solidFill>
              <a:latin typeface="Plus Jakarta Sans"/>
              <a:ea typeface="Plus Jakarta Sans"/>
              <a:cs typeface="Plus Jakarta Sans"/>
              <a:sym typeface="Plus Jakarta Sans"/>
            </a:endParaRPr>
          </a:p>
        </p:txBody>
      </p:sp>
      <p:grpSp>
        <p:nvGrpSpPr>
          <p:cNvPr id="117" name="Google Shape;117;p3"/>
          <p:cNvGrpSpPr/>
          <p:nvPr/>
        </p:nvGrpSpPr>
        <p:grpSpPr>
          <a:xfrm>
            <a:off x="819729" y="2872999"/>
            <a:ext cx="225900" cy="225900"/>
            <a:chOff x="1547875" y="1967100"/>
            <a:chExt cx="225900" cy="225900"/>
          </a:xfrm>
        </p:grpSpPr>
        <p:sp>
          <p:nvSpPr>
            <p:cNvPr id="98" name="Google Shape;98;p3"/>
            <p:cNvSpPr/>
            <p:nvPr/>
          </p:nvSpPr>
          <p:spPr>
            <a:xfrm>
              <a:off x="1547875" y="1967100"/>
              <a:ext cx="225900" cy="2259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
            <p:cNvSpPr/>
            <p:nvPr/>
          </p:nvSpPr>
          <p:spPr>
            <a:xfrm>
              <a:off x="1596325" y="2015550"/>
              <a:ext cx="129000" cy="129000"/>
            </a:xfrm>
            <a:prstGeom prst="ellipse">
              <a:avLst/>
            </a:prstGeom>
            <a:solidFill>
              <a:srgbClr val="F8F2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3"/>
          <p:cNvSpPr/>
          <p:nvPr/>
        </p:nvSpPr>
        <p:spPr>
          <a:xfrm>
            <a:off x="868179" y="2913409"/>
            <a:ext cx="129000" cy="129000"/>
          </a:xfrm>
          <a:prstGeom prst="ellipse">
            <a:avLst/>
          </a:prstGeom>
          <a:solidFill>
            <a:srgbClr val="2607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7571823" y="2882550"/>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8417238" y="2882550"/>
            <a:ext cx="177300" cy="177300"/>
          </a:xfrm>
          <a:prstGeom prst="ellipse">
            <a:avLst/>
          </a:prstGeom>
          <a:solidFill>
            <a:srgbClr val="FF63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7103575" y="1915092"/>
            <a:ext cx="1334998"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Gráficos  y Segementaciones en Power Bi</a:t>
            </a:r>
            <a:endParaRPr b="0" i="0" sz="1100" u="none" cap="none" strike="noStrike">
              <a:solidFill>
                <a:srgbClr val="260700"/>
              </a:solidFill>
              <a:latin typeface="Plus Jakarta Sans"/>
              <a:ea typeface="Plus Jakarta Sans"/>
              <a:cs typeface="Plus Jakarta Sans"/>
              <a:sym typeface="Plus Jakarta Sans"/>
            </a:endParaRPr>
          </a:p>
        </p:txBody>
      </p:sp>
      <p:sp>
        <p:nvSpPr>
          <p:cNvPr id="123" name="Google Shape;123;p3"/>
          <p:cNvSpPr txBox="1"/>
          <p:nvPr/>
        </p:nvSpPr>
        <p:spPr>
          <a:xfrm>
            <a:off x="7789191" y="3120824"/>
            <a:ext cx="1334998" cy="76864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100"/>
              <a:buFont typeface="Arial"/>
              <a:buNone/>
            </a:pPr>
            <a:r>
              <a:rPr b="0" i="0" lang="es-MX" sz="1100" u="none" cap="none" strike="noStrike">
                <a:solidFill>
                  <a:srgbClr val="260700"/>
                </a:solidFill>
                <a:latin typeface="Plus Jakarta Sans"/>
                <a:ea typeface="Plus Jakarta Sans"/>
                <a:cs typeface="Plus Jakarta Sans"/>
                <a:sym typeface="Plus Jakarta Sans"/>
              </a:rPr>
              <a:t>Medidas de Tendencia Central</a:t>
            </a:r>
            <a:endParaRPr b="0" i="0" sz="1100" u="none" cap="none" strike="noStrike">
              <a:solidFill>
                <a:srgbClr val="260700"/>
              </a:solidFill>
              <a:latin typeface="Plus Jakarta Sans"/>
              <a:ea typeface="Plus Jakarta Sans"/>
              <a:cs typeface="Plus Jakarta Sans"/>
              <a:sym typeface="Plus Jakarta Sans"/>
            </a:endParaRPr>
          </a:p>
        </p:txBody>
      </p:sp>
      <p:pic>
        <p:nvPicPr>
          <p:cNvPr id="124" name="Google Shape;124;p3" title="logo gradient 1.png"/>
          <p:cNvPicPr preferRelativeResize="0"/>
          <p:nvPr/>
        </p:nvPicPr>
        <p:blipFill rotWithShape="1">
          <a:blip r:embed="rId3">
            <a:alphaModFix/>
          </a:blip>
          <a:srcRect b="0" l="0" r="0" t="0"/>
          <a:stretch/>
        </p:blipFill>
        <p:spPr>
          <a:xfrm>
            <a:off x="7346325" y="4691250"/>
            <a:ext cx="1547950" cy="452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
          <p:cNvSpPr txBox="1"/>
          <p:nvPr/>
        </p:nvSpPr>
        <p:spPr>
          <a:xfrm>
            <a:off x="449891" y="762579"/>
            <a:ext cx="5306673" cy="517034"/>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4000"/>
              <a:buFont typeface="Arial"/>
              <a:buNone/>
            </a:pPr>
            <a:r>
              <a:rPr b="0" i="0" lang="es-MX" sz="2400" u="none" cap="none" strike="noStrike">
                <a:solidFill>
                  <a:srgbClr val="260700"/>
                </a:solidFill>
                <a:latin typeface="Plus Jakarta Sans Light"/>
                <a:ea typeface="Plus Jakarta Sans Light"/>
                <a:cs typeface="Plus Jakarta Sans Light"/>
                <a:sym typeface="Plus Jakarta Sans Light"/>
              </a:rPr>
              <a:t>Herramientas que vamos a utilizar:</a:t>
            </a:r>
            <a:endParaRPr b="0" i="0" sz="2400" u="none" cap="none" strike="noStrike">
              <a:solidFill>
                <a:srgbClr val="260700"/>
              </a:solidFill>
              <a:latin typeface="Plus Jakarta Sans Light"/>
              <a:ea typeface="Plus Jakarta Sans Light"/>
              <a:cs typeface="Plus Jakarta Sans Light"/>
              <a:sym typeface="Plus Jakarta Sans Light"/>
            </a:endParaRPr>
          </a:p>
        </p:txBody>
      </p:sp>
      <p:pic>
        <p:nvPicPr>
          <p:cNvPr id="131" name="Google Shape;131;p4">
            <a:hlinkClick r:id="rId3"/>
          </p:cNvPr>
          <p:cNvPicPr preferRelativeResize="0"/>
          <p:nvPr/>
        </p:nvPicPr>
        <p:blipFill rotWithShape="1">
          <a:blip r:embed="rId4">
            <a:alphaModFix/>
          </a:blip>
          <a:srcRect b="0" l="0" r="0" t="0"/>
          <a:stretch/>
        </p:blipFill>
        <p:spPr>
          <a:xfrm>
            <a:off x="1038308" y="2133600"/>
            <a:ext cx="1634771" cy="1718845"/>
          </a:xfrm>
          <a:prstGeom prst="rect">
            <a:avLst/>
          </a:prstGeom>
          <a:noFill/>
          <a:ln>
            <a:noFill/>
          </a:ln>
          <a:effectLst>
            <a:outerShdw blurRad="292100" rotWithShape="0" algn="tl" dir="2700000" dist="139700">
              <a:srgbClr val="333333">
                <a:alpha val="65098"/>
              </a:srgbClr>
            </a:outerShdw>
          </a:effectLst>
        </p:spPr>
      </p:pic>
      <p:sp>
        <p:nvSpPr>
          <p:cNvPr id="132" name="Google Shape;132;p4"/>
          <p:cNvSpPr txBox="1"/>
          <p:nvPr/>
        </p:nvSpPr>
        <p:spPr>
          <a:xfrm>
            <a:off x="1103493" y="3777204"/>
            <a:ext cx="139974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MX" sz="2000" u="none" cap="none" strike="noStrike">
                <a:solidFill>
                  <a:srgbClr val="000000"/>
                </a:solidFill>
                <a:latin typeface="Candara"/>
                <a:ea typeface="Candara"/>
                <a:cs typeface="Candara"/>
                <a:sym typeface="Candara"/>
              </a:rPr>
              <a:t>SQL Server</a:t>
            </a:r>
            <a:endParaRPr/>
          </a:p>
        </p:txBody>
      </p:sp>
      <p:pic>
        <p:nvPicPr>
          <p:cNvPr id="133" name="Google Shape;133;p4">
            <a:hlinkClick r:id="rId5"/>
          </p:cNvPr>
          <p:cNvPicPr preferRelativeResize="0"/>
          <p:nvPr/>
        </p:nvPicPr>
        <p:blipFill rotWithShape="1">
          <a:blip r:embed="rId6">
            <a:alphaModFix/>
          </a:blip>
          <a:srcRect b="0" l="0" r="0" t="0"/>
          <a:stretch/>
        </p:blipFill>
        <p:spPr>
          <a:xfrm>
            <a:off x="3542416" y="2230581"/>
            <a:ext cx="1385576" cy="1369919"/>
          </a:xfrm>
          <a:prstGeom prst="rect">
            <a:avLst/>
          </a:prstGeom>
          <a:noFill/>
          <a:ln>
            <a:noFill/>
          </a:ln>
        </p:spPr>
      </p:pic>
      <p:sp>
        <p:nvSpPr>
          <p:cNvPr id="134" name="Google Shape;134;p4"/>
          <p:cNvSpPr txBox="1"/>
          <p:nvPr/>
        </p:nvSpPr>
        <p:spPr>
          <a:xfrm>
            <a:off x="3761500" y="3777204"/>
            <a:ext cx="112883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MX" sz="2000" u="none" cap="none" strike="noStrike">
                <a:solidFill>
                  <a:srgbClr val="000000"/>
                </a:solidFill>
                <a:latin typeface="Candara"/>
                <a:ea typeface="Candara"/>
                <a:cs typeface="Candara"/>
                <a:sym typeface="Candara"/>
              </a:rPr>
              <a:t>PowerBI</a:t>
            </a:r>
            <a:endParaRPr b="1" i="0" sz="2000" u="none" cap="none" strike="noStrike">
              <a:solidFill>
                <a:srgbClr val="000000"/>
              </a:solidFill>
              <a:latin typeface="Candara"/>
              <a:ea typeface="Candara"/>
              <a:cs typeface="Candara"/>
              <a:sym typeface="Candara"/>
            </a:endParaRPr>
          </a:p>
        </p:txBody>
      </p:sp>
      <p:sp>
        <p:nvSpPr>
          <p:cNvPr id="135" name="Google Shape;135;p4"/>
          <p:cNvSpPr txBox="1"/>
          <p:nvPr/>
        </p:nvSpPr>
        <p:spPr>
          <a:xfrm>
            <a:off x="6730096" y="3777204"/>
            <a:ext cx="121860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MX" sz="2000" u="none" cap="none" strike="noStrike">
                <a:solidFill>
                  <a:srgbClr val="000000"/>
                </a:solidFill>
                <a:latin typeface="Candara"/>
                <a:ea typeface="Candara"/>
                <a:cs typeface="Candara"/>
                <a:sym typeface="Candara"/>
              </a:rPr>
              <a:t>Windows</a:t>
            </a:r>
            <a:endParaRPr/>
          </a:p>
        </p:txBody>
      </p:sp>
      <p:pic>
        <p:nvPicPr>
          <p:cNvPr id="136" name="Google Shape;136;p4"/>
          <p:cNvPicPr preferRelativeResize="0"/>
          <p:nvPr/>
        </p:nvPicPr>
        <p:blipFill rotWithShape="1">
          <a:blip r:embed="rId7">
            <a:alphaModFix/>
          </a:blip>
          <a:srcRect b="0" l="0" r="0" t="0"/>
          <a:stretch/>
        </p:blipFill>
        <p:spPr>
          <a:xfrm>
            <a:off x="6539606" y="2272145"/>
            <a:ext cx="1460055" cy="1441754"/>
          </a:xfrm>
          <a:prstGeom prst="rect">
            <a:avLst/>
          </a:prstGeom>
          <a:noFill/>
          <a:ln>
            <a:noFill/>
          </a:ln>
        </p:spPr>
      </p:pic>
      <p:pic>
        <p:nvPicPr>
          <p:cNvPr id="137" name="Google Shape;137;p4" title="logo gradient 1.png"/>
          <p:cNvPicPr preferRelativeResize="0"/>
          <p:nvPr/>
        </p:nvPicPr>
        <p:blipFill rotWithShape="1">
          <a:blip r:embed="rId8">
            <a:alphaModFix/>
          </a:blip>
          <a:srcRect b="0" l="0" r="0" t="0"/>
          <a:stretch/>
        </p:blipFill>
        <p:spPr>
          <a:xfrm>
            <a:off x="7346325" y="4691250"/>
            <a:ext cx="1547950" cy="452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nvSpPr>
        <p:spPr>
          <a:xfrm>
            <a:off x="7095537" y="438706"/>
            <a:ext cx="921326" cy="523220"/>
          </a:xfrm>
          <a:prstGeom prst="rect">
            <a:avLst/>
          </a:prstGeom>
          <a:solidFill>
            <a:srgbClr val="F8F2E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MX" sz="1400" u="none" cap="none" strike="noStrike">
                <a:solidFill>
                  <a:srgbClr val="FE64A3"/>
                </a:solidFill>
                <a:latin typeface="Arial"/>
                <a:ea typeface="Arial"/>
                <a:cs typeface="Arial"/>
                <a:sym typeface="Arial"/>
              </a:rPr>
              <a:t>SQL </a:t>
            </a:r>
            <a:endParaRPr/>
          </a:p>
          <a:p>
            <a:pPr indent="0" lvl="0" marL="0" marR="0" rtl="0" algn="l">
              <a:lnSpc>
                <a:spcPct val="100000"/>
              </a:lnSpc>
              <a:spcBef>
                <a:spcPts val="0"/>
              </a:spcBef>
              <a:spcAft>
                <a:spcPts val="0"/>
              </a:spcAft>
              <a:buNone/>
            </a:pPr>
            <a:r>
              <a:rPr b="1" i="0" lang="es-MX" sz="1400" u="none" cap="none" strike="noStrike">
                <a:solidFill>
                  <a:srgbClr val="FE64A3"/>
                </a:solidFill>
                <a:latin typeface="Arial"/>
                <a:ea typeface="Arial"/>
                <a:cs typeface="Arial"/>
                <a:sym typeface="Arial"/>
              </a:rPr>
              <a:t>Server</a:t>
            </a:r>
            <a:endParaRPr b="0" i="0" sz="1400" u="none" cap="none" strike="noStrike">
              <a:solidFill>
                <a:srgbClr val="FE64A3"/>
              </a:solidFill>
              <a:latin typeface="Arial"/>
              <a:ea typeface="Arial"/>
              <a:cs typeface="Arial"/>
              <a:sym typeface="Arial"/>
            </a:endParaRPr>
          </a:p>
        </p:txBody>
      </p:sp>
      <p:sp>
        <p:nvSpPr>
          <p:cNvPr id="143" name="Google Shape;143;p5"/>
          <p:cNvSpPr txBox="1"/>
          <p:nvPr/>
        </p:nvSpPr>
        <p:spPr>
          <a:xfrm>
            <a:off x="1962431" y="227088"/>
            <a:ext cx="477579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MX" sz="2000" u="none" cap="none" strike="noStrike">
                <a:solidFill>
                  <a:srgbClr val="F8F2E8"/>
                </a:solidFill>
                <a:latin typeface="Anton"/>
                <a:ea typeface="Anton"/>
                <a:cs typeface="Anton"/>
                <a:sym typeface="Anton"/>
              </a:rPr>
              <a:t>Preparación para la próxima clase</a:t>
            </a:r>
            <a:endParaRPr b="0" i="0" sz="2000" u="none" cap="none" strike="noStrike">
              <a:solidFill>
                <a:srgbClr val="F8F2E8"/>
              </a:solidFill>
              <a:latin typeface="Anton"/>
              <a:ea typeface="Anton"/>
              <a:cs typeface="Anton"/>
              <a:sym typeface="Anton"/>
            </a:endParaRPr>
          </a:p>
        </p:txBody>
      </p:sp>
      <p:sp>
        <p:nvSpPr>
          <p:cNvPr id="144" name="Google Shape;144;p5"/>
          <p:cNvSpPr/>
          <p:nvPr/>
        </p:nvSpPr>
        <p:spPr>
          <a:xfrm>
            <a:off x="404908" y="1181617"/>
            <a:ext cx="5707012" cy="1345048"/>
          </a:xfrm>
          <a:prstGeom prst="rect">
            <a:avLst/>
          </a:prstGeom>
          <a:noFill/>
          <a:ln>
            <a:noFill/>
          </a:ln>
        </p:spPr>
        <p:txBody>
          <a:bodyPr anchorCtr="0" anchor="ctr" bIns="45700" lIns="91425" spcFirstLastPara="1" rIns="91425" wrap="square" tIns="45700">
            <a:spAutoFit/>
          </a:bodyPr>
          <a:lstStyle/>
          <a:p>
            <a:pPr indent="0" lvl="0" marL="0" marR="0" rtl="0" algn="l">
              <a:lnSpc>
                <a:spcPct val="150000"/>
              </a:lnSpc>
              <a:spcBef>
                <a:spcPts val="0"/>
              </a:spcBef>
              <a:spcAft>
                <a:spcPts val="0"/>
              </a:spcAft>
              <a:buClr>
                <a:srgbClr val="F8F2E8"/>
              </a:buClr>
              <a:buSzPts val="1400"/>
              <a:buFont typeface="Arial"/>
              <a:buNone/>
            </a:pPr>
            <a:r>
              <a:rPr b="1" i="0" lang="es-MX" sz="1400" u="none" cap="none" strike="noStrike">
                <a:solidFill>
                  <a:srgbClr val="F8F2E8"/>
                </a:solidFill>
                <a:latin typeface="Arial"/>
                <a:ea typeface="Arial"/>
                <a:cs typeface="Arial"/>
                <a:sym typeface="Arial"/>
              </a:rPr>
              <a:t>Para la próxima clase es necesario tener instalado:</a:t>
            </a:r>
            <a:endParaRPr b="0" i="0" sz="1400" u="none" cap="none" strike="noStrike">
              <a:solidFill>
                <a:srgbClr val="F8F2E8"/>
              </a:solidFill>
              <a:latin typeface="Arial"/>
              <a:ea typeface="Arial"/>
              <a:cs typeface="Arial"/>
              <a:sym typeface="Arial"/>
            </a:endParaRPr>
          </a:p>
          <a:p>
            <a:pPr indent="0" lvl="0" marL="0" marR="0" rtl="0" algn="l">
              <a:lnSpc>
                <a:spcPct val="150000"/>
              </a:lnSpc>
              <a:spcBef>
                <a:spcPts val="0"/>
              </a:spcBef>
              <a:spcAft>
                <a:spcPts val="0"/>
              </a:spcAft>
              <a:buClr>
                <a:srgbClr val="F8F2E8"/>
              </a:buClr>
              <a:buSzPts val="1400"/>
              <a:buFont typeface="Arial"/>
              <a:buNone/>
            </a:pPr>
            <a:r>
              <a:rPr b="0" i="0" lang="es-MX" sz="1400" u="none" cap="none" strike="noStrike">
                <a:solidFill>
                  <a:srgbClr val="F8F2E8"/>
                </a:solidFill>
                <a:latin typeface="Arial"/>
                <a:ea typeface="Arial"/>
                <a:cs typeface="Arial"/>
                <a:sym typeface="Arial"/>
              </a:rPr>
              <a:t>✅ </a:t>
            </a:r>
            <a:r>
              <a:rPr b="1" i="0" lang="es-MX" sz="1400" u="none" cap="none" strike="noStrike">
                <a:solidFill>
                  <a:srgbClr val="F8F2E8"/>
                </a:solidFill>
                <a:latin typeface="Arial"/>
                <a:ea typeface="Arial"/>
                <a:cs typeface="Arial"/>
                <a:sym typeface="Arial"/>
              </a:rPr>
              <a:t>SQL Server</a:t>
            </a:r>
            <a:br>
              <a:rPr b="0" i="0" lang="es-MX" sz="1400" u="none" cap="none" strike="noStrike">
                <a:solidFill>
                  <a:srgbClr val="F8F2E8"/>
                </a:solidFill>
                <a:latin typeface="Arial"/>
                <a:ea typeface="Arial"/>
                <a:cs typeface="Arial"/>
                <a:sym typeface="Arial"/>
              </a:rPr>
            </a:br>
            <a:r>
              <a:rPr b="0" i="0" lang="es-MX" sz="1400" u="none" cap="none" strike="noStrike">
                <a:solidFill>
                  <a:srgbClr val="F8F2E8"/>
                </a:solidFill>
                <a:latin typeface="Arial"/>
                <a:ea typeface="Arial"/>
                <a:cs typeface="Arial"/>
                <a:sym typeface="Arial"/>
              </a:rPr>
              <a:t>✅ </a:t>
            </a:r>
            <a:r>
              <a:rPr b="1" i="0" lang="es-MX" sz="1400" u="none" cap="none" strike="noStrike">
                <a:solidFill>
                  <a:srgbClr val="F8F2E8"/>
                </a:solidFill>
                <a:latin typeface="Arial"/>
                <a:ea typeface="Arial"/>
                <a:cs typeface="Arial"/>
                <a:sym typeface="Arial"/>
              </a:rPr>
              <a:t>SQL Server Management Studio (SSMS)</a:t>
            </a:r>
            <a:endParaRPr b="0" i="0" sz="1400" u="none" cap="none" strike="noStrike">
              <a:solidFill>
                <a:srgbClr val="F8F2E8"/>
              </a:solidFill>
              <a:latin typeface="Arial"/>
              <a:ea typeface="Arial"/>
              <a:cs typeface="Arial"/>
              <a:sym typeface="Arial"/>
            </a:endParaRPr>
          </a:p>
          <a:p>
            <a:pPr indent="0" lvl="0" marL="0" marR="0" rtl="0" algn="l">
              <a:lnSpc>
                <a:spcPct val="150000"/>
              </a:lnSpc>
              <a:spcBef>
                <a:spcPts val="0"/>
              </a:spcBef>
              <a:spcAft>
                <a:spcPts val="0"/>
              </a:spcAft>
              <a:buClr>
                <a:srgbClr val="F8F2E8"/>
              </a:buClr>
              <a:buSzPts val="1400"/>
              <a:buFont typeface="Arial"/>
              <a:buNone/>
            </a:pPr>
            <a:r>
              <a:rPr b="0" i="0" lang="es-MX" sz="1400" u="none" cap="none" strike="noStrike">
                <a:solidFill>
                  <a:srgbClr val="F8F2E8"/>
                </a:solidFill>
                <a:latin typeface="Arial"/>
                <a:ea typeface="Arial"/>
                <a:cs typeface="Arial"/>
                <a:sym typeface="Arial"/>
              </a:rPr>
              <a:t>Vamos a trabajar con bases de datos reales y consultas SQL en vivo.</a:t>
            </a:r>
            <a:endParaRPr/>
          </a:p>
        </p:txBody>
      </p:sp>
      <p:sp>
        <p:nvSpPr>
          <p:cNvPr id="145" name="Google Shape;145;p5"/>
          <p:cNvSpPr txBox="1"/>
          <p:nvPr/>
        </p:nvSpPr>
        <p:spPr>
          <a:xfrm>
            <a:off x="404908" y="2753614"/>
            <a:ext cx="84839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F8F2E8"/>
                </a:solidFill>
                <a:latin typeface="Arial"/>
                <a:ea typeface="Arial"/>
                <a:cs typeface="Arial"/>
                <a:sym typeface="Arial"/>
              </a:rPr>
              <a:t>⚠️ </a:t>
            </a:r>
            <a:r>
              <a:rPr b="1" i="0" lang="es-MX" sz="1800" u="none" cap="none" strike="noStrike">
                <a:solidFill>
                  <a:srgbClr val="F8F2E8"/>
                </a:solidFill>
                <a:latin typeface="Arial"/>
                <a:ea typeface="Arial"/>
                <a:cs typeface="Arial"/>
                <a:sym typeface="Arial"/>
              </a:rPr>
              <a:t>Sin estas herramientas instaladas no podrás seguir la práctica en clase.</a:t>
            </a:r>
            <a:endParaRPr b="0" i="0" sz="1800" u="none" cap="none" strike="noStrike">
              <a:solidFill>
                <a:srgbClr val="F8F2E8"/>
              </a:solidFill>
              <a:latin typeface="Arial"/>
              <a:ea typeface="Arial"/>
              <a:cs typeface="Arial"/>
              <a:sym typeface="Arial"/>
            </a:endParaRPr>
          </a:p>
        </p:txBody>
      </p:sp>
      <p:sp>
        <p:nvSpPr>
          <p:cNvPr id="146" name="Google Shape;146;p5"/>
          <p:cNvSpPr txBox="1"/>
          <p:nvPr/>
        </p:nvSpPr>
        <p:spPr>
          <a:xfrm>
            <a:off x="395492" y="3138656"/>
            <a:ext cx="84839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F8F2E8"/>
                </a:solidFill>
                <a:latin typeface="Arial"/>
                <a:ea typeface="Arial"/>
                <a:cs typeface="Arial"/>
                <a:sym typeface="Arial"/>
              </a:rPr>
              <a:t>⚠️ </a:t>
            </a:r>
            <a:r>
              <a:rPr b="1" i="0" lang="es-MX" sz="1800" u="none" cap="none" strike="noStrike">
                <a:solidFill>
                  <a:srgbClr val="F8F2E8"/>
                </a:solidFill>
                <a:latin typeface="Arial"/>
                <a:ea typeface="Arial"/>
                <a:cs typeface="Arial"/>
                <a:sym typeface="Arial"/>
              </a:rPr>
              <a:t>Y recuerda ver antes el contenido ON DEMAND.</a:t>
            </a:r>
            <a:endParaRPr b="0" i="0" sz="1800" u="none" cap="none" strike="noStrike">
              <a:solidFill>
                <a:srgbClr val="F8F2E8"/>
              </a:solidFill>
              <a:latin typeface="Arial"/>
              <a:ea typeface="Arial"/>
              <a:cs typeface="Arial"/>
              <a:sym typeface="Arial"/>
            </a:endParaRPr>
          </a:p>
        </p:txBody>
      </p:sp>
      <p:sp>
        <p:nvSpPr>
          <p:cNvPr id="147" name="Google Shape;147;p5"/>
          <p:cNvSpPr txBox="1"/>
          <p:nvPr/>
        </p:nvSpPr>
        <p:spPr>
          <a:xfrm>
            <a:off x="879764" y="3701766"/>
            <a:ext cx="39624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MX" sz="1400" u="none" cap="none" strike="noStrike">
                <a:solidFill>
                  <a:srgbClr val="F8F2E8"/>
                </a:solidFill>
                <a:latin typeface="Arial"/>
                <a:ea typeface="Arial"/>
                <a:cs typeface="Arial"/>
                <a:sym typeface="Arial"/>
              </a:rPr>
              <a:t>💡 </a:t>
            </a:r>
            <a:r>
              <a:rPr b="0" i="1" lang="es-MX" sz="1400" u="none" cap="none" strike="noStrike">
                <a:solidFill>
                  <a:srgbClr val="F8F2E8"/>
                </a:solidFill>
                <a:latin typeface="Arial"/>
                <a:ea typeface="Arial"/>
                <a:cs typeface="Arial"/>
                <a:sym typeface="Arial"/>
              </a:rPr>
              <a:t>Te recomendamos instalarlo con anticipación.</a:t>
            </a:r>
            <a:endParaRPr b="0" i="0" sz="1400" u="none" cap="none" strike="noStrike">
              <a:solidFill>
                <a:srgbClr val="F8F2E8"/>
              </a:solidFill>
              <a:latin typeface="Arial"/>
              <a:ea typeface="Arial"/>
              <a:cs typeface="Arial"/>
              <a:sym typeface="Arial"/>
            </a:endParaRPr>
          </a:p>
        </p:txBody>
      </p:sp>
      <p:sp>
        <p:nvSpPr>
          <p:cNvPr id="148" name="Google Shape;148;p5"/>
          <p:cNvSpPr txBox="1"/>
          <p:nvPr/>
        </p:nvSpPr>
        <p:spPr>
          <a:xfrm>
            <a:off x="249725" y="4190347"/>
            <a:ext cx="362755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F8F2E8"/>
                </a:solidFill>
                <a:latin typeface="Arial"/>
                <a:ea typeface="Arial"/>
                <a:cs typeface="Arial"/>
                <a:sym typeface="Arial"/>
              </a:rPr>
              <a:t>La próxima clase es 100% práctica!!!!!</a:t>
            </a:r>
            <a:endParaRPr/>
          </a:p>
          <a:p>
            <a:pPr indent="0" lvl="0" marL="0" marR="0" rtl="0" algn="l">
              <a:lnSpc>
                <a:spcPct val="100000"/>
              </a:lnSpc>
              <a:spcBef>
                <a:spcPts val="0"/>
              </a:spcBef>
              <a:spcAft>
                <a:spcPts val="0"/>
              </a:spcAft>
              <a:buNone/>
            </a:pPr>
            <a:r>
              <a:rPr b="0" i="0" lang="es-MX" sz="1400" u="none" cap="none" strike="noStrike">
                <a:solidFill>
                  <a:srgbClr val="F8F2E8"/>
                </a:solidFill>
                <a:latin typeface="Arial"/>
                <a:ea typeface="Arial"/>
                <a:cs typeface="Arial"/>
                <a:sym typeface="Arial"/>
              </a:rPr>
              <a:t>Vení listo/a para trabajar!!!!!</a:t>
            </a:r>
            <a:endParaRPr b="0" i="0" sz="1400" u="none" cap="none" strike="noStrike">
              <a:solidFill>
                <a:srgbClr val="F8F2E8"/>
              </a:solidFill>
              <a:latin typeface="Arial"/>
              <a:ea typeface="Arial"/>
              <a:cs typeface="Arial"/>
              <a:sym typeface="Arial"/>
            </a:endParaRPr>
          </a:p>
        </p:txBody>
      </p:sp>
      <p:sp>
        <p:nvSpPr>
          <p:cNvPr id="149" name="Google Shape;149;p5"/>
          <p:cNvSpPr/>
          <p:nvPr/>
        </p:nvSpPr>
        <p:spPr>
          <a:xfrm>
            <a:off x="5216235" y="755603"/>
            <a:ext cx="588819" cy="1025237"/>
          </a:xfrm>
          <a:prstGeom prst="rightArrow">
            <a:avLst>
              <a:gd fmla="val 50000" name="adj1"/>
              <a:gd fmla="val 50000" name="adj2"/>
            </a:avLst>
          </a:prstGeom>
          <a:solidFill>
            <a:srgbClr val="F8F2E8"/>
          </a:solidFill>
          <a:ln cap="flat" cmpd="sng" w="25400">
            <a:solidFill>
              <a:srgbClr val="F8F2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MX" sz="1400" u="none" cap="none" strike="noStrike">
                <a:solidFill>
                  <a:srgbClr val="FE64A3"/>
                </a:solidFill>
                <a:latin typeface="Arial"/>
                <a:ea typeface="Arial"/>
                <a:cs typeface="Arial"/>
                <a:sym typeface="Arial"/>
              </a:rPr>
              <a:t>1ro</a:t>
            </a:r>
            <a:endParaRPr/>
          </a:p>
        </p:txBody>
      </p:sp>
      <p:pic>
        <p:nvPicPr>
          <p:cNvPr id="150" name="Google Shape;150;p5">
            <a:hlinkClick r:id="rId3"/>
          </p:cNvPr>
          <p:cNvPicPr preferRelativeResize="0"/>
          <p:nvPr/>
        </p:nvPicPr>
        <p:blipFill rotWithShape="1">
          <a:blip r:embed="rId4">
            <a:alphaModFix/>
          </a:blip>
          <a:srcRect b="0" l="0" r="0" t="0"/>
          <a:stretch/>
        </p:blipFill>
        <p:spPr>
          <a:xfrm>
            <a:off x="5884122" y="3591497"/>
            <a:ext cx="2636588" cy="916154"/>
          </a:xfrm>
          <a:prstGeom prst="roundRect">
            <a:avLst>
              <a:gd fmla="val 8594" name="adj"/>
            </a:avLst>
          </a:prstGeom>
          <a:solidFill>
            <a:srgbClr val="ECECEC"/>
          </a:solidFill>
          <a:ln cap="flat" cmpd="sng" w="38100">
            <a:solidFill>
              <a:srgbClr val="F8F2E8"/>
            </a:solidFill>
            <a:prstDash val="solid"/>
            <a:round/>
            <a:headEnd len="sm" w="sm" type="none"/>
            <a:tailEnd len="sm" w="sm" type="none"/>
          </a:ln>
          <a:effectLst>
            <a:reflection blurRad="0" dir="5400000" dist="5000" endA="0" endPos="28000" kx="0" rotWithShape="0" algn="bl" stA="38000" stPos="0" sy="-100000" ky="0"/>
          </a:effectLst>
        </p:spPr>
      </p:pic>
      <p:sp>
        <p:nvSpPr>
          <p:cNvPr id="151" name="Google Shape;151;p5"/>
          <p:cNvSpPr/>
          <p:nvPr/>
        </p:nvSpPr>
        <p:spPr>
          <a:xfrm>
            <a:off x="5146961" y="3607360"/>
            <a:ext cx="662887" cy="1025237"/>
          </a:xfrm>
          <a:prstGeom prst="rightArrow">
            <a:avLst>
              <a:gd fmla="val 50000" name="adj1"/>
              <a:gd fmla="val 50000" name="adj2"/>
            </a:avLst>
          </a:prstGeom>
          <a:solidFill>
            <a:srgbClr val="F8F2E8"/>
          </a:solidFill>
          <a:ln cap="flat" cmpd="sng" w="25400">
            <a:solidFill>
              <a:srgbClr val="FE64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MX" sz="1400" u="none" cap="none" strike="noStrike">
                <a:solidFill>
                  <a:srgbClr val="FE872D"/>
                </a:solidFill>
                <a:latin typeface="Arial"/>
                <a:ea typeface="Arial"/>
                <a:cs typeface="Arial"/>
                <a:sym typeface="Arial"/>
              </a:rPr>
              <a:t>2do</a:t>
            </a:r>
            <a:endParaRPr/>
          </a:p>
        </p:txBody>
      </p:sp>
      <p:sp>
        <p:nvSpPr>
          <p:cNvPr id="152" name="Google Shape;152;p5"/>
          <p:cNvSpPr txBox="1"/>
          <p:nvPr/>
        </p:nvSpPr>
        <p:spPr>
          <a:xfrm>
            <a:off x="7706587" y="3228026"/>
            <a:ext cx="713509" cy="307777"/>
          </a:xfrm>
          <a:prstGeom prst="rect">
            <a:avLst/>
          </a:prstGeom>
          <a:solidFill>
            <a:srgbClr val="F8F2E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MX" sz="1400" u="none" cap="none" strike="noStrike">
                <a:solidFill>
                  <a:srgbClr val="FF632B"/>
                </a:solidFill>
                <a:latin typeface="Arial"/>
                <a:ea typeface="Arial"/>
                <a:cs typeface="Arial"/>
                <a:sym typeface="Arial"/>
              </a:rPr>
              <a:t>SSMS</a:t>
            </a:r>
            <a:endParaRPr b="0" i="0" sz="1400" u="none" cap="none" strike="noStrike">
              <a:solidFill>
                <a:srgbClr val="FF632B"/>
              </a:solidFill>
              <a:latin typeface="Arial"/>
              <a:ea typeface="Arial"/>
              <a:cs typeface="Arial"/>
              <a:sym typeface="Arial"/>
            </a:endParaRPr>
          </a:p>
        </p:txBody>
      </p:sp>
      <p:pic>
        <p:nvPicPr>
          <p:cNvPr descr="youtube " id="153" name="Google Shape;153;p5">
            <a:hlinkClick r:id="rId5"/>
          </p:cNvPr>
          <p:cNvPicPr preferRelativeResize="0"/>
          <p:nvPr/>
        </p:nvPicPr>
        <p:blipFill rotWithShape="1">
          <a:blip r:embed="rId6">
            <a:alphaModFix/>
          </a:blip>
          <a:srcRect b="0" l="0" r="0" t="0"/>
          <a:stretch/>
        </p:blipFill>
        <p:spPr>
          <a:xfrm>
            <a:off x="8259100" y="618368"/>
            <a:ext cx="523220" cy="523220"/>
          </a:xfrm>
          <a:prstGeom prst="rect">
            <a:avLst/>
          </a:prstGeom>
          <a:solidFill>
            <a:schemeClr val="lt1"/>
          </a:solidFill>
          <a:ln>
            <a:noFill/>
          </a:ln>
          <a:effectLst>
            <a:outerShdw blurRad="292100" rotWithShape="0" algn="tl" dir="2700000" dist="139700">
              <a:srgbClr val="333333">
                <a:alpha val="65098"/>
              </a:srgbClr>
            </a:outerShdw>
          </a:effectLst>
        </p:spPr>
      </p:pic>
      <p:pic>
        <p:nvPicPr>
          <p:cNvPr id="154" name="Google Shape;154;p5" title="logo gradient 1.png"/>
          <p:cNvPicPr preferRelativeResize="0"/>
          <p:nvPr/>
        </p:nvPicPr>
        <p:blipFill rotWithShape="1">
          <a:blip r:embed="rId7">
            <a:alphaModFix/>
          </a:blip>
          <a:srcRect b="0" l="0" r="0" t="0"/>
          <a:stretch/>
        </p:blipFill>
        <p:spPr>
          <a:xfrm>
            <a:off x="7347603" y="4632597"/>
            <a:ext cx="1547950" cy="452250"/>
          </a:xfrm>
          <a:prstGeom prst="rect">
            <a:avLst/>
          </a:prstGeom>
          <a:noFill/>
          <a:ln>
            <a:noFill/>
          </a:ln>
        </p:spPr>
      </p:pic>
      <p:pic>
        <p:nvPicPr>
          <p:cNvPr descr="advertencia" id="155" name="Google Shape;155;p5"/>
          <p:cNvPicPr preferRelativeResize="0"/>
          <p:nvPr/>
        </p:nvPicPr>
        <p:blipFill rotWithShape="1">
          <a:blip r:embed="rId8">
            <a:alphaModFix/>
          </a:blip>
          <a:srcRect b="0" l="0" r="0" t="0"/>
          <a:stretch/>
        </p:blipFill>
        <p:spPr>
          <a:xfrm>
            <a:off x="2142540" y="187623"/>
            <a:ext cx="400110" cy="400110"/>
          </a:xfrm>
          <a:prstGeom prst="rect">
            <a:avLst/>
          </a:prstGeom>
          <a:noFill/>
          <a:ln>
            <a:noFill/>
          </a:ln>
        </p:spPr>
      </p:pic>
      <p:sp>
        <p:nvSpPr>
          <p:cNvPr id="156" name="Google Shape;156;p5"/>
          <p:cNvSpPr txBox="1"/>
          <p:nvPr/>
        </p:nvSpPr>
        <p:spPr>
          <a:xfrm>
            <a:off x="1022422" y="4833944"/>
            <a:ext cx="4589380"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800" u="none" cap="none" strike="noStrike">
                <a:solidFill>
                  <a:srgbClr val="F8F2E8"/>
                </a:solidFill>
                <a:latin typeface="Arial"/>
                <a:ea typeface="Arial"/>
                <a:cs typeface="Arial"/>
                <a:sym typeface="Arial"/>
              </a:rPr>
              <a:t>* Ctrol + clic del mouse sobre las imágenes para acceder a los enlaces a las páginas</a:t>
            </a:r>
            <a:endParaRPr b="0" i="0" sz="800" u="none" cap="none" strike="noStrike">
              <a:solidFill>
                <a:srgbClr val="F8F2E8"/>
              </a:solidFill>
              <a:latin typeface="Arial"/>
              <a:ea typeface="Arial"/>
              <a:cs typeface="Arial"/>
              <a:sym typeface="Arial"/>
            </a:endParaRPr>
          </a:p>
        </p:txBody>
      </p:sp>
      <p:pic>
        <p:nvPicPr>
          <p:cNvPr id="157" name="Google Shape;157;p5">
            <a:hlinkClick r:id="rId9"/>
          </p:cNvPr>
          <p:cNvPicPr preferRelativeResize="0"/>
          <p:nvPr/>
        </p:nvPicPr>
        <p:blipFill rotWithShape="1">
          <a:blip r:embed="rId10">
            <a:alphaModFix/>
          </a:blip>
          <a:srcRect b="0" l="0" r="0" t="0"/>
          <a:stretch/>
        </p:blipFill>
        <p:spPr>
          <a:xfrm>
            <a:off x="5879121" y="745001"/>
            <a:ext cx="1262895" cy="1367813"/>
          </a:xfrm>
          <a:prstGeom prst="roundRect">
            <a:avLst>
              <a:gd fmla="val 8594" name="adj"/>
            </a:avLst>
          </a:prstGeom>
          <a:solidFill>
            <a:srgbClr val="ECECEC"/>
          </a:solidFill>
          <a:ln cap="flat" cmpd="sng" w="38100">
            <a:solidFill>
              <a:srgbClr val="F8F2E8"/>
            </a:solidFill>
            <a:prstDash val="solid"/>
            <a:round/>
            <a:headEnd len="sm" w="sm" type="none"/>
            <a:tailEnd len="sm" w="sm" type="none"/>
          </a:ln>
          <a:effectLst>
            <a:reflection blurRad="0" dir="5400000" dist="5000" endA="0" endPos="28000" kx="0" rotWithShape="0" algn="bl" stA="38000" stPos="0" sy="-100000" ky="0"/>
          </a:effectLst>
        </p:spPr>
      </p:pic>
      <p:pic>
        <p:nvPicPr>
          <p:cNvPr id="158" name="Google Shape;158;p5">
            <a:hlinkClick r:id="rId11"/>
          </p:cNvPr>
          <p:cNvPicPr preferRelativeResize="0"/>
          <p:nvPr/>
        </p:nvPicPr>
        <p:blipFill rotWithShape="1">
          <a:blip r:embed="rId12">
            <a:alphaModFix/>
          </a:blip>
          <a:srcRect b="0" l="0" r="0" t="0"/>
          <a:stretch/>
        </p:blipFill>
        <p:spPr>
          <a:xfrm>
            <a:off x="8345398" y="1801630"/>
            <a:ext cx="627972" cy="642244"/>
          </a:xfrm>
          <a:prstGeom prst="rect">
            <a:avLst/>
          </a:prstGeom>
          <a:noFill/>
          <a:ln>
            <a:noFill/>
          </a:ln>
          <a:effectLst>
            <a:outerShdw blurRad="292100" rotWithShape="0" algn="tl" dir="2700000" dist="139700">
              <a:srgbClr val="333333">
                <a:alpha val="65098"/>
              </a:srgbClr>
            </a:outerShdw>
          </a:effectLst>
        </p:spPr>
      </p:pic>
      <p:sp>
        <p:nvSpPr>
          <p:cNvPr id="159" name="Google Shape;159;p5"/>
          <p:cNvSpPr/>
          <p:nvPr/>
        </p:nvSpPr>
        <p:spPr>
          <a:xfrm>
            <a:off x="7551281" y="1707485"/>
            <a:ext cx="698838" cy="1025237"/>
          </a:xfrm>
          <a:prstGeom prst="rightArrow">
            <a:avLst>
              <a:gd fmla="val 50000" name="adj1"/>
              <a:gd fmla="val 50000" name="adj2"/>
            </a:avLst>
          </a:prstGeom>
          <a:solidFill>
            <a:srgbClr val="F8F2E8"/>
          </a:solidFill>
          <a:ln cap="flat" cmpd="sng" w="25400">
            <a:solidFill>
              <a:srgbClr val="F8F2E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MX" sz="1000" u="none" cap="none" strike="noStrike">
                <a:solidFill>
                  <a:srgbClr val="FE64A3"/>
                </a:solidFill>
                <a:latin typeface="Arial"/>
                <a:ea typeface="Arial"/>
                <a:cs typeface="Arial"/>
                <a:sym typeface="Arial"/>
              </a:rPr>
              <a:t>Mac /</a:t>
            </a:r>
            <a:endParaRPr/>
          </a:p>
          <a:p>
            <a:pPr indent="0" lvl="0" marL="0" marR="0" rtl="0" algn="ctr">
              <a:lnSpc>
                <a:spcPct val="100000"/>
              </a:lnSpc>
              <a:spcBef>
                <a:spcPts val="0"/>
              </a:spcBef>
              <a:spcAft>
                <a:spcPts val="0"/>
              </a:spcAft>
              <a:buNone/>
            </a:pPr>
            <a:r>
              <a:rPr b="1" i="0" lang="es-MX" sz="1000" u="none" cap="none" strike="noStrike">
                <a:solidFill>
                  <a:srgbClr val="FE64A3"/>
                </a:solidFill>
                <a:latin typeface="Arial"/>
                <a:ea typeface="Arial"/>
                <a:cs typeface="Arial"/>
                <a:sym typeface="Arial"/>
              </a:rPr>
              <a:t>Linux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MX"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5" name="Google Shape;165;p6"/>
          <p:cNvSpPr txBox="1"/>
          <p:nvPr/>
        </p:nvSpPr>
        <p:spPr>
          <a:xfrm>
            <a:off x="488282" y="3551553"/>
            <a:ext cx="6462900" cy="17199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800"/>
              <a:buFont typeface="Arial"/>
              <a:buNone/>
            </a:pPr>
            <a:r>
              <a:rPr b="0" i="0" lang="es-MX" sz="4800" u="none" cap="none" strike="noStrike">
                <a:solidFill>
                  <a:srgbClr val="F8F2E8"/>
                </a:solidFill>
                <a:latin typeface="Plus Jakarta Sans ExtraBold"/>
                <a:ea typeface="Plus Jakarta Sans ExtraBold"/>
                <a:cs typeface="Plus Jakarta Sans ExtraBold"/>
                <a:sym typeface="Plus Jakarta Sans ExtraBold"/>
              </a:rPr>
              <a:t>El mundo de Data Analytics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7"/>
          <p:cNvSpPr txBox="1"/>
          <p:nvPr/>
        </p:nvSpPr>
        <p:spPr>
          <a:xfrm>
            <a:off x="468468" y="3067212"/>
            <a:ext cx="6327187" cy="169875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MX" sz="4800" u="none" cap="none" strike="noStrike">
                <a:solidFill>
                  <a:srgbClr val="F8F2E8"/>
                </a:solidFill>
                <a:latin typeface="Plus Jakarta Sans ExtraBold"/>
                <a:ea typeface="Plus Jakarta Sans ExtraBold"/>
                <a:cs typeface="Plus Jakarta Sans ExtraBold"/>
                <a:sym typeface="Plus Jakarta Sans ExtraBold"/>
              </a:rPr>
              <a:t>Más que números: decisiones</a:t>
            </a:r>
            <a:endParaRPr/>
          </a:p>
        </p:txBody>
      </p:sp>
      <p:pic>
        <p:nvPicPr>
          <p:cNvPr id="171" name="Google Shape;171;p7" title="Group 1321317428.png"/>
          <p:cNvPicPr preferRelativeResize="0"/>
          <p:nvPr/>
        </p:nvPicPr>
        <p:blipFill rotWithShape="1">
          <a:blip r:embed="rId3">
            <a:alphaModFix/>
          </a:blip>
          <a:srcRect b="0" l="0" r="0" t="0"/>
          <a:stretch/>
        </p:blipFill>
        <p:spPr>
          <a:xfrm>
            <a:off x="8189306" y="57767"/>
            <a:ext cx="861174" cy="857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8"/>
          <p:cNvSpPr txBox="1"/>
          <p:nvPr/>
        </p:nvSpPr>
        <p:spPr>
          <a:xfrm>
            <a:off x="794562" y="1466680"/>
            <a:ext cx="2635318" cy="215440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1" lang="es-MX" sz="3200" u="none" cap="none" strike="noStrike">
                <a:solidFill>
                  <a:srgbClr val="FF632B"/>
                </a:solidFill>
                <a:latin typeface="Plus Jakarta Sans ExtraBold"/>
                <a:ea typeface="Plus Jakarta Sans ExtraBold"/>
                <a:cs typeface="Plus Jakarta Sans ExtraBold"/>
                <a:sym typeface="Plus Jakarta Sans ExtraBold"/>
              </a:rPr>
              <a:t>“</a:t>
            </a:r>
            <a:r>
              <a:rPr b="0" i="1" lang="es-MX" sz="3200" u="none" cap="none" strike="noStrike">
                <a:solidFill>
                  <a:srgbClr val="260700"/>
                </a:solidFill>
                <a:latin typeface="Plus Jakarta Sans ExtraBold"/>
                <a:ea typeface="Plus Jakarta Sans ExtraBold"/>
                <a:cs typeface="Plus Jakarta Sans ExtraBold"/>
                <a:sym typeface="Plus Jakarta Sans ExtraBold"/>
              </a:rPr>
              <a:t>Los datos  </a:t>
            </a:r>
            <a:endParaRPr/>
          </a:p>
          <a:p>
            <a:pPr indent="0" lvl="0" marL="0" marR="0" rtl="0" algn="ctr">
              <a:lnSpc>
                <a:spcPct val="100000"/>
              </a:lnSpc>
              <a:spcBef>
                <a:spcPts val="0"/>
              </a:spcBef>
              <a:spcAft>
                <a:spcPts val="0"/>
              </a:spcAft>
              <a:buClr>
                <a:srgbClr val="000000"/>
              </a:buClr>
              <a:buSzPts val="2500"/>
              <a:buFont typeface="Arial"/>
              <a:buNone/>
            </a:pPr>
            <a:r>
              <a:rPr b="0" i="1" lang="es-MX" sz="3200" u="none" cap="none" strike="noStrike">
                <a:solidFill>
                  <a:srgbClr val="260700"/>
                </a:solidFill>
                <a:latin typeface="Plus Jakarta Sans ExtraBold"/>
                <a:ea typeface="Plus Jakarta Sans ExtraBold"/>
                <a:cs typeface="Plus Jakarta Sans ExtraBold"/>
                <a:sym typeface="Plus Jakarta Sans ExtraBold"/>
              </a:rPr>
              <a:t>son el nuevo </a:t>
            </a:r>
            <a:endParaRPr/>
          </a:p>
          <a:p>
            <a:pPr indent="0" lvl="0" marL="0" marR="0" rtl="0" algn="ctr">
              <a:lnSpc>
                <a:spcPct val="100000"/>
              </a:lnSpc>
              <a:spcBef>
                <a:spcPts val="0"/>
              </a:spcBef>
              <a:spcAft>
                <a:spcPts val="0"/>
              </a:spcAft>
              <a:buClr>
                <a:srgbClr val="000000"/>
              </a:buClr>
              <a:buSzPts val="2500"/>
              <a:buFont typeface="Arial"/>
              <a:buNone/>
            </a:pPr>
            <a:r>
              <a:rPr b="0" i="1" lang="es-MX" sz="3200" u="none" cap="none" strike="noStrike">
                <a:solidFill>
                  <a:srgbClr val="260700"/>
                </a:solidFill>
                <a:latin typeface="Plus Jakarta Sans ExtraBold"/>
                <a:ea typeface="Plus Jakarta Sans ExtraBold"/>
                <a:cs typeface="Plus Jakarta Sans ExtraBold"/>
                <a:sym typeface="Plus Jakarta Sans ExtraBold"/>
              </a:rPr>
              <a:t>petróleo</a:t>
            </a:r>
            <a:r>
              <a:rPr b="0" i="0" lang="es-MX" sz="3200" u="none" cap="none" strike="noStrike">
                <a:solidFill>
                  <a:srgbClr val="260700"/>
                </a:solidFill>
                <a:latin typeface="Plus Jakarta Sans ExtraBold"/>
                <a:ea typeface="Plus Jakarta Sans ExtraBold"/>
                <a:cs typeface="Plus Jakarta Sans ExtraBold"/>
                <a:sym typeface="Plus Jakarta Sans ExtraBold"/>
              </a:rPr>
              <a:t>.</a:t>
            </a:r>
            <a:r>
              <a:rPr b="0" i="0" lang="es-MX" sz="3200" u="none" cap="none" strike="noStrike">
                <a:solidFill>
                  <a:srgbClr val="FF632B"/>
                </a:solidFill>
                <a:latin typeface="Plus Jakarta Sans ExtraBold"/>
                <a:ea typeface="Plus Jakarta Sans ExtraBold"/>
                <a:cs typeface="Plus Jakarta Sans ExtraBold"/>
                <a:sym typeface="Plus Jakarta Sans ExtraBold"/>
              </a:rPr>
              <a:t>”</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pic>
        <p:nvPicPr>
          <p:cNvPr id="177" name="Google Shape;177;p8"/>
          <p:cNvPicPr preferRelativeResize="0"/>
          <p:nvPr/>
        </p:nvPicPr>
        <p:blipFill rotWithShape="1">
          <a:blip r:embed="rId3">
            <a:alphaModFix/>
          </a:blip>
          <a:srcRect b="1212" l="20012" r="21986" t="-1212"/>
          <a:stretch/>
        </p:blipFill>
        <p:spPr>
          <a:xfrm>
            <a:off x="4620491" y="-55733"/>
            <a:ext cx="4523509" cy="5199233"/>
          </a:xfrm>
          <a:prstGeom prst="rect">
            <a:avLst/>
          </a:prstGeom>
          <a:noFill/>
          <a:ln>
            <a:noFill/>
          </a:ln>
        </p:spPr>
      </p:pic>
      <p:pic>
        <p:nvPicPr>
          <p:cNvPr id="178" name="Google Shape;178;p8" title="logo gradient 1.png"/>
          <p:cNvPicPr preferRelativeResize="0"/>
          <p:nvPr/>
        </p:nvPicPr>
        <p:blipFill rotWithShape="1">
          <a:blip r:embed="rId4">
            <a:alphaModFix/>
          </a:blip>
          <a:srcRect b="0" l="0" r="0" t="0"/>
          <a:stretch/>
        </p:blipFill>
        <p:spPr>
          <a:xfrm>
            <a:off x="133498" y="4691250"/>
            <a:ext cx="1547950" cy="452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nvSpPr>
        <p:spPr>
          <a:xfrm>
            <a:off x="547115" y="295180"/>
            <a:ext cx="4731467" cy="975494"/>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rgbClr val="FF632B"/>
                </a:solidFill>
                <a:latin typeface="Plus Jakarta Sans ExtraBold"/>
                <a:ea typeface="Plus Jakarta Sans ExtraBold"/>
                <a:cs typeface="Plus Jakarta Sans ExtraBold"/>
                <a:sym typeface="Plus Jakarta Sans ExtraBold"/>
              </a:rPr>
              <a:t>Cómo trabaja un Data Analyst</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84" name="Google Shape;184;p9"/>
          <p:cNvSpPr txBox="1"/>
          <p:nvPr/>
        </p:nvSpPr>
        <p:spPr>
          <a:xfrm>
            <a:off x="711682" y="1533754"/>
            <a:ext cx="3576300" cy="2339072"/>
          </a:xfrm>
          <a:prstGeom prst="rect">
            <a:avLst/>
          </a:prstGeom>
          <a:noFill/>
          <a:ln>
            <a:noFill/>
          </a:ln>
        </p:spPr>
        <p:txBody>
          <a:bodyPr anchorCtr="0" anchor="t" bIns="91425" lIns="91425" spcFirstLastPara="1" rIns="91425" wrap="square" tIns="91425">
            <a:spAutoFit/>
          </a:bodyPr>
          <a:lstStyle/>
          <a:p>
            <a:pPr indent="-301625" lvl="0" marL="457200" marR="0" rtl="0" algn="l">
              <a:lnSpc>
                <a:spcPct val="200000"/>
              </a:lnSpc>
              <a:spcBef>
                <a:spcPts val="0"/>
              </a:spcBef>
              <a:spcAft>
                <a:spcPts val="0"/>
              </a:spcAft>
              <a:buClr>
                <a:srgbClr val="222224"/>
              </a:buClr>
              <a:buSzPts val="1150"/>
              <a:buFont typeface="Plus Jakarta Sans"/>
              <a:buChar char="➔"/>
            </a:pPr>
            <a:r>
              <a:rPr b="0" i="0" lang="es-MX" sz="1400" u="none" cap="none" strike="noStrike">
                <a:solidFill>
                  <a:srgbClr val="222224"/>
                </a:solidFill>
                <a:latin typeface="Plus Jakarta Sans"/>
                <a:ea typeface="Plus Jakarta Sans"/>
                <a:cs typeface="Plus Jakarta Sans"/>
                <a:sym typeface="Plus Jakarta Sans"/>
              </a:rPr>
              <a:t>Los datos no solo se almacenan.</a:t>
            </a:r>
            <a:endParaRPr/>
          </a:p>
          <a:p>
            <a:pPr indent="-301625" lvl="0" marL="457200" marR="0" rtl="0" algn="l">
              <a:lnSpc>
                <a:spcPct val="200000"/>
              </a:lnSpc>
              <a:spcBef>
                <a:spcPts val="0"/>
              </a:spcBef>
              <a:spcAft>
                <a:spcPts val="0"/>
              </a:spcAft>
              <a:buClr>
                <a:srgbClr val="222224"/>
              </a:buClr>
              <a:buSzPts val="1150"/>
              <a:buFont typeface="Plus Jakarta Sans"/>
              <a:buChar char="➔"/>
            </a:pPr>
            <a:r>
              <a:rPr b="0" i="0" lang="es-MX" sz="1400" u="none" cap="none" strike="noStrike">
                <a:solidFill>
                  <a:srgbClr val="222224"/>
                </a:solidFill>
                <a:latin typeface="Plus Jakarta Sans"/>
                <a:ea typeface="Plus Jakarta Sans"/>
                <a:cs typeface="Plus Jakarta Sans"/>
                <a:sym typeface="Plus Jakarta Sans"/>
              </a:rPr>
              <a:t>Se procesan, aprenden y se transforman en conocimiento accionable que guía decisiones estratégicas.</a:t>
            </a:r>
            <a:endParaRPr/>
          </a:p>
        </p:txBody>
      </p:sp>
      <p:pic>
        <p:nvPicPr>
          <p:cNvPr id="185" name="Google Shape;185;p9"/>
          <p:cNvPicPr preferRelativeResize="0"/>
          <p:nvPr/>
        </p:nvPicPr>
        <p:blipFill rotWithShape="1">
          <a:blip r:embed="rId3">
            <a:alphaModFix/>
          </a:blip>
          <a:srcRect b="0" l="56288" r="0" t="0"/>
          <a:stretch/>
        </p:blipFill>
        <p:spPr>
          <a:xfrm>
            <a:off x="5146964" y="0"/>
            <a:ext cx="3997036" cy="5143500"/>
          </a:xfrm>
          <a:prstGeom prst="rect">
            <a:avLst/>
          </a:prstGeom>
          <a:noFill/>
          <a:ln>
            <a:noFill/>
          </a:ln>
        </p:spPr>
      </p:pic>
      <p:pic>
        <p:nvPicPr>
          <p:cNvPr id="186" name="Google Shape;186;p9" title="logo gradient 1.png"/>
          <p:cNvPicPr preferRelativeResize="0"/>
          <p:nvPr/>
        </p:nvPicPr>
        <p:blipFill rotWithShape="1">
          <a:blip r:embed="rId4">
            <a:alphaModFix/>
          </a:blip>
          <a:srcRect b="0" l="0" r="0" t="0"/>
          <a:stretch/>
        </p:blipFill>
        <p:spPr>
          <a:xfrm>
            <a:off x="85007" y="4691250"/>
            <a:ext cx="1547950" cy="45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txBox="1"/>
          <p:nvPr/>
        </p:nvSpPr>
        <p:spPr>
          <a:xfrm>
            <a:off x="514914" y="334904"/>
            <a:ext cx="6821068" cy="73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0" i="0" lang="es-MX" sz="3500" u="none" cap="none" strike="noStrike">
                <a:solidFill>
                  <a:srgbClr val="FF632B"/>
                </a:solidFill>
                <a:latin typeface="Plus Jakarta Sans ExtraBold"/>
                <a:ea typeface="Plus Jakarta Sans ExtraBold"/>
                <a:cs typeface="Plus Jakarta Sans ExtraBold"/>
                <a:sym typeface="Plus Jakarta Sans ExtraBold"/>
              </a:rPr>
              <a:t>Las etapas de Data Analytics</a:t>
            </a:r>
            <a:endParaRPr b="0" i="0" sz="35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92" name="Google Shape;192;p10"/>
          <p:cNvSpPr txBox="1"/>
          <p:nvPr/>
        </p:nvSpPr>
        <p:spPr>
          <a:xfrm>
            <a:off x="369441" y="1534713"/>
            <a:ext cx="4306469" cy="1908184"/>
          </a:xfrm>
          <a:prstGeom prst="rect">
            <a:avLst/>
          </a:prstGeom>
          <a:noFill/>
          <a:ln>
            <a:noFill/>
          </a:ln>
        </p:spPr>
        <p:txBody>
          <a:bodyPr anchorCtr="0" anchor="t" bIns="91425" lIns="91425" spcFirstLastPara="1" rIns="91425" wrap="square" tIns="91425">
            <a:spAutoFit/>
          </a:bodyPr>
          <a:lstStyle/>
          <a:p>
            <a:pPr indent="0" lvl="0" marL="155575" marR="0" rtl="0" algn="l">
              <a:lnSpc>
                <a:spcPct val="200000"/>
              </a:lnSpc>
              <a:spcBef>
                <a:spcPts val="0"/>
              </a:spcBef>
              <a:spcAft>
                <a:spcPts val="0"/>
              </a:spcAft>
              <a:buClr>
                <a:srgbClr val="222224"/>
              </a:buClr>
              <a:buSzPts val="1150"/>
              <a:buFont typeface="Plus Jakarta Sans"/>
              <a:buNone/>
            </a:pPr>
            <a:r>
              <a:rPr b="0" i="0" lang="es-MX" sz="1400" u="none" cap="none" strike="noStrike">
                <a:solidFill>
                  <a:srgbClr val="222224"/>
                </a:solidFill>
                <a:latin typeface="Plus Jakarta Sans"/>
                <a:ea typeface="Plus Jakarta Sans"/>
                <a:cs typeface="Plus Jakarta Sans"/>
                <a:sym typeface="Plus Jakarta Sans"/>
              </a:rPr>
              <a:t>Conjunto de métodos y técnicas de medición, que permiten gestionar la información en tres grandes etapas: </a:t>
            </a:r>
            <a:r>
              <a:rPr b="0" i="0" lang="es-MX" sz="1400" u="none" cap="none" strike="noStrike">
                <a:solidFill>
                  <a:srgbClr val="FE872D"/>
                </a:solidFill>
                <a:latin typeface="Plus Jakarta Sans"/>
                <a:ea typeface="Plus Jakarta Sans"/>
                <a:cs typeface="Plus Jakarta Sans"/>
                <a:sym typeface="Plus Jakarta Sans"/>
              </a:rPr>
              <a:t>recolección</a:t>
            </a:r>
            <a:r>
              <a:rPr b="0" i="0" lang="es-MX" sz="1400" u="none" cap="none" strike="noStrike">
                <a:solidFill>
                  <a:srgbClr val="222224"/>
                </a:solidFill>
                <a:latin typeface="Plus Jakarta Sans"/>
                <a:ea typeface="Plus Jakarta Sans"/>
                <a:cs typeface="Plus Jakarta Sans"/>
                <a:sym typeface="Plus Jakarta Sans"/>
              </a:rPr>
              <a:t>, </a:t>
            </a:r>
            <a:r>
              <a:rPr b="0" i="0" lang="es-MX" sz="1400" u="none" cap="none" strike="noStrike">
                <a:solidFill>
                  <a:srgbClr val="FE872D"/>
                </a:solidFill>
                <a:latin typeface="Plus Jakarta Sans"/>
                <a:ea typeface="Plus Jakarta Sans"/>
                <a:cs typeface="Plus Jakarta Sans"/>
                <a:sym typeface="Plus Jakarta Sans"/>
              </a:rPr>
              <a:t>transformación</a:t>
            </a:r>
            <a:r>
              <a:rPr b="0" i="0" lang="es-MX" sz="1400" u="none" cap="none" strike="noStrike">
                <a:solidFill>
                  <a:srgbClr val="222224"/>
                </a:solidFill>
                <a:latin typeface="Plus Jakarta Sans"/>
                <a:ea typeface="Plus Jakarta Sans"/>
                <a:cs typeface="Plus Jakarta Sans"/>
                <a:sym typeface="Plus Jakarta Sans"/>
              </a:rPr>
              <a:t> y </a:t>
            </a:r>
            <a:r>
              <a:rPr b="0" i="0" lang="es-MX" sz="1400" u="none" cap="none" strike="noStrike">
                <a:solidFill>
                  <a:srgbClr val="FE872D"/>
                </a:solidFill>
                <a:latin typeface="Plus Jakarta Sans"/>
                <a:ea typeface="Plus Jakarta Sans"/>
                <a:cs typeface="Plus Jakarta Sans"/>
                <a:sym typeface="Plus Jakarta Sans"/>
              </a:rPr>
              <a:t>visualización</a:t>
            </a:r>
            <a:r>
              <a:rPr b="0" i="0" lang="es-MX" sz="1400" u="none" cap="none" strike="noStrike">
                <a:solidFill>
                  <a:srgbClr val="222224"/>
                </a:solidFill>
                <a:latin typeface="Plus Jakarta Sans"/>
                <a:ea typeface="Plus Jakarta Sans"/>
                <a:cs typeface="Plus Jakarta Sans"/>
                <a:sym typeface="Plus Jakarta Sans"/>
              </a:rPr>
              <a:t>. </a:t>
            </a:r>
            <a:endParaRPr b="0" i="0" sz="1400" u="none" cap="none" strike="noStrike">
              <a:solidFill>
                <a:srgbClr val="222224"/>
              </a:solidFill>
              <a:latin typeface="Plus Jakarta Sans"/>
              <a:ea typeface="Plus Jakarta Sans"/>
              <a:cs typeface="Plus Jakarta Sans"/>
              <a:sym typeface="Plus Jakarta Sans"/>
            </a:endParaRPr>
          </a:p>
        </p:txBody>
      </p:sp>
      <p:pic>
        <p:nvPicPr>
          <p:cNvPr id="193" name="Google Shape;193;p10"/>
          <p:cNvPicPr preferRelativeResize="0"/>
          <p:nvPr/>
        </p:nvPicPr>
        <p:blipFill rotWithShape="1">
          <a:blip r:embed="rId3">
            <a:alphaModFix/>
          </a:blip>
          <a:srcRect b="0" l="0" r="0" t="0"/>
          <a:stretch/>
        </p:blipFill>
        <p:spPr>
          <a:xfrm>
            <a:off x="4954036" y="2405196"/>
            <a:ext cx="4023709" cy="2188654"/>
          </a:xfrm>
          <a:prstGeom prst="rect">
            <a:avLst/>
          </a:prstGeom>
          <a:noFill/>
          <a:ln>
            <a:noFill/>
          </a:ln>
        </p:spPr>
      </p:pic>
      <p:pic>
        <p:nvPicPr>
          <p:cNvPr id="194" name="Google Shape;194;p10" title="logo gradient 1.png"/>
          <p:cNvPicPr preferRelativeResize="0"/>
          <p:nvPr/>
        </p:nvPicPr>
        <p:blipFill rotWithShape="1">
          <a:blip r:embed="rId4">
            <a:alphaModFix/>
          </a:blip>
          <a:srcRect b="0" l="0" r="0" t="0"/>
          <a:stretch/>
        </p:blipFill>
        <p:spPr>
          <a:xfrm>
            <a:off x="7429795" y="4691250"/>
            <a:ext cx="1547950" cy="452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nvSpPr>
        <p:spPr>
          <a:xfrm>
            <a:off x="1236053" y="192605"/>
            <a:ext cx="6671892" cy="72822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500"/>
              <a:buFont typeface="Arial"/>
              <a:buNone/>
            </a:pPr>
            <a:r>
              <a:rPr b="0" i="0" lang="es-MX" sz="3500" u="none" cap="none" strike="noStrike">
                <a:solidFill>
                  <a:srgbClr val="FF632B"/>
                </a:solidFill>
                <a:latin typeface="Plus Jakarta Sans ExtraBold"/>
                <a:ea typeface="Plus Jakarta Sans ExtraBold"/>
                <a:cs typeface="Plus Jakarta Sans ExtraBold"/>
                <a:sym typeface="Plus Jakarta Sans ExtraBold"/>
              </a:rPr>
              <a:t>De los datos a la información</a:t>
            </a:r>
            <a:endParaRPr b="0" i="0" sz="35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0" name="Google Shape;200;p11"/>
          <p:cNvSpPr txBox="1"/>
          <p:nvPr/>
        </p:nvSpPr>
        <p:spPr>
          <a:xfrm>
            <a:off x="477982" y="920832"/>
            <a:ext cx="5430981"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Plus Jakarta Sans Light"/>
                <a:ea typeface="Plus Jakarta Sans Light"/>
                <a:cs typeface="Plus Jakarta Sans Light"/>
                <a:sym typeface="Plus Jakarta Sans Light"/>
              </a:rPr>
              <a:t>¿Alguna vez te has preguntado por qué una simple lista de números no siempre nos dice lo que necesitamos saber?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a:p>
            <a:pPr indent="0" lvl="0" marL="0" marR="0" rtl="0" algn="l">
              <a:lnSpc>
                <a:spcPct val="100000"/>
              </a:lnSpc>
              <a:spcBef>
                <a:spcPts val="0"/>
              </a:spcBef>
              <a:spcAft>
                <a:spcPts val="0"/>
              </a:spcAft>
              <a:buNone/>
            </a:pPr>
            <a:r>
              <a:rPr b="0" i="0" lang="es-MX" sz="1400" u="none" cap="none" strike="noStrike">
                <a:solidFill>
                  <a:srgbClr val="000000"/>
                </a:solidFill>
                <a:latin typeface="Plus Jakarta Sans Light"/>
                <a:ea typeface="Plus Jakarta Sans Light"/>
                <a:cs typeface="Plus Jakarta Sans Light"/>
                <a:sym typeface="Plus Jakarta Sans Light"/>
              </a:rPr>
              <a:t>En el mundo del análisis de datos, entender la diferencia entre datos e información es crucial para tomar decisiones acertadas.</a:t>
            </a:r>
            <a:endParaRPr/>
          </a:p>
        </p:txBody>
      </p:sp>
      <p:sp>
        <p:nvSpPr>
          <p:cNvPr id="201" name="Google Shape;201;p11"/>
          <p:cNvSpPr txBox="1"/>
          <p:nvPr/>
        </p:nvSpPr>
        <p:spPr>
          <a:xfrm>
            <a:off x="1726560" y="2305827"/>
            <a:ext cx="76892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FE872D"/>
                </a:solidFill>
                <a:latin typeface="Plus Jakarta Sans Light"/>
                <a:ea typeface="Plus Jakarta Sans Light"/>
                <a:cs typeface="Plus Jakarta Sans Light"/>
                <a:sym typeface="Plus Jakarta Sans Light"/>
              </a:rPr>
              <a:t>Datos</a:t>
            </a:r>
            <a:endParaRPr/>
          </a:p>
        </p:txBody>
      </p:sp>
      <p:sp>
        <p:nvSpPr>
          <p:cNvPr id="202" name="Google Shape;202;p11"/>
          <p:cNvSpPr txBox="1"/>
          <p:nvPr/>
        </p:nvSpPr>
        <p:spPr>
          <a:xfrm>
            <a:off x="5908963" y="2305827"/>
            <a:ext cx="14339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FE872D"/>
                </a:solidFill>
                <a:latin typeface="Plus Jakarta Sans Light"/>
                <a:ea typeface="Plus Jakarta Sans Light"/>
                <a:cs typeface="Plus Jakarta Sans Light"/>
                <a:sym typeface="Plus Jakarta Sans Light"/>
              </a:rPr>
              <a:t>Información</a:t>
            </a:r>
            <a:endParaRPr/>
          </a:p>
        </p:txBody>
      </p:sp>
      <p:sp>
        <p:nvSpPr>
          <p:cNvPr id="203" name="Google Shape;203;p11"/>
          <p:cNvSpPr txBox="1"/>
          <p:nvPr/>
        </p:nvSpPr>
        <p:spPr>
          <a:xfrm>
            <a:off x="473218" y="2567755"/>
            <a:ext cx="4098781"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Los datos son hechos, cifras o registros en bruto que, por sí solos, carecen de significado específico. </a:t>
            </a:r>
            <a:endParaRPr/>
          </a:p>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Son la materia prima que se recopila a través de diversas fuentes, como sensores, encuestas o sistemas transaccionales.</a:t>
            </a:r>
            <a:endParaRPr/>
          </a:p>
        </p:txBody>
      </p:sp>
      <p:sp>
        <p:nvSpPr>
          <p:cNvPr id="204" name="Google Shape;204;p11"/>
          <p:cNvSpPr txBox="1"/>
          <p:nvPr/>
        </p:nvSpPr>
        <p:spPr>
          <a:xfrm>
            <a:off x="5248273" y="2567755"/>
            <a:ext cx="3150178"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Arial"/>
                <a:ea typeface="Arial"/>
                <a:cs typeface="Arial"/>
                <a:sym typeface="Arial"/>
              </a:rPr>
              <a:t>La información es el resultado de procesar, organizar y contextualizar los datos para que tengan significado y sean útiles para la toma de decisiones.</a:t>
            </a:r>
            <a:endParaRPr/>
          </a:p>
        </p:txBody>
      </p:sp>
      <p:pic>
        <p:nvPicPr>
          <p:cNvPr descr="centro de datos " id="205" name="Google Shape;205;p11"/>
          <p:cNvPicPr preferRelativeResize="0"/>
          <p:nvPr/>
        </p:nvPicPr>
        <p:blipFill rotWithShape="1">
          <a:blip r:embed="rId3">
            <a:alphaModFix/>
          </a:blip>
          <a:srcRect b="0" l="0" r="0" t="0"/>
          <a:stretch/>
        </p:blipFill>
        <p:spPr>
          <a:xfrm>
            <a:off x="1495541" y="3952750"/>
            <a:ext cx="749633" cy="749633"/>
          </a:xfrm>
          <a:prstGeom prst="rect">
            <a:avLst/>
          </a:prstGeom>
          <a:noFill/>
          <a:ln>
            <a:noFill/>
          </a:ln>
        </p:spPr>
      </p:pic>
      <p:pic>
        <p:nvPicPr>
          <p:cNvPr descr="monitor " id="206" name="Google Shape;206;p11"/>
          <p:cNvPicPr preferRelativeResize="0"/>
          <p:nvPr/>
        </p:nvPicPr>
        <p:blipFill rotWithShape="1">
          <a:blip r:embed="rId4">
            <a:alphaModFix/>
          </a:blip>
          <a:srcRect b="0" l="0" r="0" t="0"/>
          <a:stretch/>
        </p:blipFill>
        <p:spPr>
          <a:xfrm>
            <a:off x="5929743" y="3880758"/>
            <a:ext cx="893619" cy="893619"/>
          </a:xfrm>
          <a:prstGeom prst="rect">
            <a:avLst/>
          </a:prstGeom>
          <a:noFill/>
          <a:ln>
            <a:noFill/>
          </a:ln>
        </p:spPr>
      </p:pic>
      <p:sp>
        <p:nvSpPr>
          <p:cNvPr id="207" name="Google Shape;207;p11"/>
          <p:cNvSpPr/>
          <p:nvPr/>
        </p:nvSpPr>
        <p:spPr>
          <a:xfrm>
            <a:off x="3623695" y="4084369"/>
            <a:ext cx="749633" cy="486395"/>
          </a:xfrm>
          <a:prstGeom prst="rightArrow">
            <a:avLst>
              <a:gd fmla="val 50000" name="adj1"/>
              <a:gd fmla="val 50000" name="adj2"/>
            </a:avLst>
          </a:prstGeom>
          <a:noFill/>
          <a:ln cap="flat" cmpd="sng" w="25400">
            <a:solidFill>
              <a:srgbClr val="FF63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08" name="Google Shape;208;p11" title="logo gradient 1.png"/>
          <p:cNvPicPr preferRelativeResize="0"/>
          <p:nvPr/>
        </p:nvPicPr>
        <p:blipFill rotWithShape="1">
          <a:blip r:embed="rId5">
            <a:alphaModFix/>
          </a:blip>
          <a:srcRect b="0" l="0" r="0" t="0"/>
          <a:stretch/>
        </p:blipFill>
        <p:spPr>
          <a:xfrm>
            <a:off x="7386352" y="4656614"/>
            <a:ext cx="1547950" cy="452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nvSpPr>
        <p:spPr>
          <a:xfrm>
            <a:off x="2008908" y="302006"/>
            <a:ext cx="4572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¿POR QUÉ ANÁLISIS DE DATOS?</a:t>
            </a:r>
            <a:endParaRPr/>
          </a:p>
        </p:txBody>
      </p:sp>
      <p:sp>
        <p:nvSpPr>
          <p:cNvPr id="214" name="Google Shape;214;p12"/>
          <p:cNvSpPr txBox="1"/>
          <p:nvPr/>
        </p:nvSpPr>
        <p:spPr>
          <a:xfrm>
            <a:off x="243536" y="2495241"/>
            <a:ext cx="2900100" cy="2346253"/>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400"/>
              </a:spcBef>
              <a:spcAft>
                <a:spcPts val="0"/>
              </a:spcAft>
              <a:buClr>
                <a:srgbClr val="3C4043"/>
              </a:buClr>
              <a:buSzPts val="1600"/>
              <a:buFont typeface="Helvetica Neue"/>
              <a:buChar char="●"/>
            </a:pPr>
            <a:r>
              <a:rPr b="0" i="0" lang="es-MX" sz="1600" u="none" cap="none" strike="noStrike">
                <a:solidFill>
                  <a:srgbClr val="3C4043"/>
                </a:solidFill>
                <a:latin typeface="Plus Jakarta Sans Light"/>
                <a:ea typeface="Plus Jakarta Sans Light"/>
                <a:cs typeface="Plus Jakarta Sans Light"/>
                <a:sym typeface="Plus Jakarta Sans Light"/>
              </a:rPr>
              <a:t>Los datos nos ayudan tomar </a:t>
            </a:r>
            <a:r>
              <a:rPr b="1" i="0" lang="es-MX" sz="1600" u="sng" cap="none" strike="noStrike">
                <a:solidFill>
                  <a:schemeClr val="lt1"/>
                </a:solidFill>
                <a:highlight>
                  <a:srgbClr val="FF632B"/>
                </a:highlight>
                <a:latin typeface="Plus Jakarta Sans Light"/>
                <a:ea typeface="Plus Jakarta Sans Light"/>
                <a:cs typeface="Plus Jakarta Sans Light"/>
                <a:sym typeface="Plus Jakarta Sans Light"/>
              </a:rPr>
              <a:t>decisiones más inteligentes</a:t>
            </a:r>
            <a:r>
              <a:rPr b="0" i="0" lang="es-MX" sz="1600" u="none" cap="none" strike="noStrike">
                <a:solidFill>
                  <a:schemeClr val="lt1"/>
                </a:solidFill>
                <a:highlight>
                  <a:srgbClr val="FF632B"/>
                </a:highlight>
                <a:latin typeface="Plus Jakarta Sans Light"/>
                <a:ea typeface="Plus Jakarta Sans Light"/>
                <a:cs typeface="Plus Jakarta Sans Light"/>
                <a:sym typeface="Plus Jakarta Sans Light"/>
              </a:rPr>
              <a:t> </a:t>
            </a:r>
            <a:r>
              <a:rPr b="0" i="0" lang="es-MX" sz="1600" u="none" cap="none" strike="noStrike">
                <a:solidFill>
                  <a:srgbClr val="3C4043"/>
                </a:solidFill>
                <a:latin typeface="Plus Jakarta Sans Light"/>
                <a:ea typeface="Plus Jakarta Sans Light"/>
                <a:cs typeface="Plus Jakarta Sans Light"/>
                <a:sym typeface="Plus Jakarta Sans Light"/>
              </a:rPr>
              <a:t>ya que representan oportunidades para hacernos más preguntas.</a:t>
            </a:r>
            <a:endParaRPr b="0" i="0" sz="1600" u="none" cap="none" strike="noStrike">
              <a:solidFill>
                <a:srgbClr val="3C4043"/>
              </a:solidFill>
              <a:latin typeface="Plus Jakarta Sans Light"/>
              <a:ea typeface="Plus Jakarta Sans Light"/>
              <a:cs typeface="Plus Jakarta Sans Light"/>
              <a:sym typeface="Plus Jakarta Sans Light"/>
            </a:endParaRPr>
          </a:p>
        </p:txBody>
      </p:sp>
      <p:sp>
        <p:nvSpPr>
          <p:cNvPr id="215" name="Google Shape;215;p12"/>
          <p:cNvSpPr txBox="1"/>
          <p:nvPr/>
        </p:nvSpPr>
        <p:spPr>
          <a:xfrm>
            <a:off x="6202264" y="2495240"/>
            <a:ext cx="2698200" cy="2346253"/>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400"/>
              </a:spcBef>
              <a:spcAft>
                <a:spcPts val="0"/>
              </a:spcAft>
              <a:buClr>
                <a:srgbClr val="3C4043"/>
              </a:buClr>
              <a:buSzPts val="1600"/>
              <a:buFont typeface="Helvetica Neue"/>
              <a:buChar char="●"/>
            </a:pPr>
            <a:r>
              <a:rPr b="0" i="0" lang="es-MX" sz="1600" u="none" cap="none" strike="noStrike">
                <a:solidFill>
                  <a:srgbClr val="3C4043"/>
                </a:solidFill>
                <a:highlight>
                  <a:srgbClr val="FFFFFF"/>
                </a:highlight>
                <a:latin typeface="Plus Jakarta Sans Light"/>
                <a:ea typeface="Plus Jakarta Sans Light"/>
                <a:cs typeface="Plus Jakarta Sans Light"/>
                <a:sym typeface="Plus Jakarta Sans Light"/>
              </a:rPr>
              <a:t>Nos ayudan a </a:t>
            </a:r>
            <a:r>
              <a:rPr b="1" i="0" lang="es-MX" sz="1600" u="sng" cap="none" strike="noStrike">
                <a:solidFill>
                  <a:schemeClr val="lt1"/>
                </a:solidFill>
                <a:highlight>
                  <a:srgbClr val="FF632B"/>
                </a:highlight>
                <a:latin typeface="Plus Jakarta Sans Light"/>
                <a:ea typeface="Plus Jakarta Sans Light"/>
                <a:cs typeface="Plus Jakarta Sans Light"/>
                <a:sym typeface="Plus Jakarta Sans Light"/>
              </a:rPr>
              <a:t>anticiparnos </a:t>
            </a:r>
            <a:r>
              <a:rPr b="0" i="0" lang="es-MX" sz="1600" u="none" cap="none" strike="noStrike">
                <a:solidFill>
                  <a:srgbClr val="3C4043"/>
                </a:solidFill>
                <a:highlight>
                  <a:srgbClr val="FFFFFF"/>
                </a:highlight>
                <a:latin typeface="Plus Jakarta Sans Light"/>
                <a:ea typeface="Plus Jakarta Sans Light"/>
                <a:cs typeface="Plus Jakarta Sans Light"/>
                <a:sym typeface="Plus Jakarta Sans Light"/>
              </a:rPr>
              <a:t>ante posibles contingencias y a ser ágiles adaptandonos sobre la marcha. </a:t>
            </a:r>
            <a:endParaRPr b="0" i="0" sz="1600" u="none" cap="none" strike="noStrike">
              <a:solidFill>
                <a:srgbClr val="3C4043"/>
              </a:solidFill>
              <a:highlight>
                <a:srgbClr val="FFFFFF"/>
              </a:highlight>
              <a:latin typeface="Plus Jakarta Sans Light"/>
              <a:ea typeface="Plus Jakarta Sans Light"/>
              <a:cs typeface="Plus Jakarta Sans Light"/>
              <a:sym typeface="Plus Jakarta Sans Light"/>
            </a:endParaRPr>
          </a:p>
        </p:txBody>
      </p:sp>
      <p:sp>
        <p:nvSpPr>
          <p:cNvPr id="216" name="Google Shape;216;p12"/>
          <p:cNvSpPr txBox="1"/>
          <p:nvPr/>
        </p:nvSpPr>
        <p:spPr>
          <a:xfrm>
            <a:off x="3323850" y="2495240"/>
            <a:ext cx="2698200" cy="2063099"/>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1400"/>
              </a:spcBef>
              <a:spcAft>
                <a:spcPts val="0"/>
              </a:spcAft>
              <a:buClr>
                <a:srgbClr val="3C4043"/>
              </a:buClr>
              <a:buSzPts val="1600"/>
              <a:buFont typeface="Helvetica Neue"/>
              <a:buChar char="●"/>
            </a:pPr>
            <a:r>
              <a:rPr b="0" i="0" lang="es-MX" sz="1600" u="none" cap="none" strike="noStrike">
                <a:solidFill>
                  <a:srgbClr val="3C4043"/>
                </a:solidFill>
                <a:highlight>
                  <a:srgbClr val="FFFFFF"/>
                </a:highlight>
                <a:latin typeface="Plus Jakarta Sans Light"/>
                <a:ea typeface="Plus Jakarta Sans Light"/>
                <a:cs typeface="Plus Jakarta Sans Light"/>
                <a:sym typeface="Plus Jakarta Sans Light"/>
              </a:rPr>
              <a:t>Nos permiten </a:t>
            </a:r>
            <a:r>
              <a:rPr b="1" i="0" lang="es-MX" sz="1600" u="sng" cap="none" strike="noStrike">
                <a:solidFill>
                  <a:schemeClr val="lt1"/>
                </a:solidFill>
                <a:highlight>
                  <a:srgbClr val="FF632B"/>
                </a:highlight>
                <a:latin typeface="Plus Jakarta Sans Light"/>
                <a:ea typeface="Plus Jakarta Sans Light"/>
                <a:cs typeface="Plus Jakarta Sans Light"/>
                <a:sym typeface="Plus Jakarta Sans Light"/>
              </a:rPr>
              <a:t>aprender de los errores</a:t>
            </a:r>
            <a:r>
              <a:rPr b="0" i="0" lang="es-MX" sz="1600" u="none" cap="none" strike="noStrike">
                <a:solidFill>
                  <a:schemeClr val="lt1"/>
                </a:solidFill>
                <a:highlight>
                  <a:srgbClr val="FF632B"/>
                </a:highlight>
                <a:latin typeface="Plus Jakarta Sans Light"/>
                <a:ea typeface="Plus Jakarta Sans Light"/>
                <a:cs typeface="Plus Jakarta Sans Light"/>
                <a:sym typeface="Plus Jakarta Sans Light"/>
              </a:rPr>
              <a:t> </a:t>
            </a:r>
            <a:r>
              <a:rPr b="0" i="0" lang="es-MX" sz="1600" u="none" cap="none" strike="noStrike">
                <a:solidFill>
                  <a:srgbClr val="3C4043"/>
                </a:solidFill>
                <a:highlight>
                  <a:srgbClr val="FFFFFF"/>
                </a:highlight>
                <a:latin typeface="Plus Jakarta Sans Light"/>
                <a:ea typeface="Plus Jakarta Sans Light"/>
                <a:cs typeface="Plus Jakarta Sans Light"/>
                <a:sym typeface="Plus Jakarta Sans Light"/>
              </a:rPr>
              <a:t>para reformular preguntas para cumplir un objetivo </a:t>
            </a:r>
            <a:endParaRPr b="0" i="0" sz="1600" u="none" cap="none" strike="noStrike">
              <a:solidFill>
                <a:srgbClr val="3C4043"/>
              </a:solidFill>
              <a:highlight>
                <a:srgbClr val="FFFFFF"/>
              </a:highlight>
              <a:latin typeface="Plus Jakarta Sans Light"/>
              <a:ea typeface="Plus Jakarta Sans Light"/>
              <a:cs typeface="Plus Jakarta Sans Light"/>
              <a:sym typeface="Plus Jakarta Sans Light"/>
            </a:endParaRPr>
          </a:p>
        </p:txBody>
      </p:sp>
      <p:pic>
        <p:nvPicPr>
          <p:cNvPr id="217" name="Google Shape;217;p12"/>
          <p:cNvPicPr preferRelativeResize="0"/>
          <p:nvPr/>
        </p:nvPicPr>
        <p:blipFill rotWithShape="1">
          <a:blip r:embed="rId3">
            <a:alphaModFix/>
          </a:blip>
          <a:srcRect b="0" l="0" r="0" t="0"/>
          <a:stretch/>
        </p:blipFill>
        <p:spPr>
          <a:xfrm>
            <a:off x="7039914" y="1442604"/>
            <a:ext cx="1219200" cy="1219200"/>
          </a:xfrm>
          <a:prstGeom prst="rect">
            <a:avLst/>
          </a:prstGeom>
          <a:noFill/>
          <a:ln>
            <a:noFill/>
          </a:ln>
        </p:spPr>
      </p:pic>
      <p:pic>
        <p:nvPicPr>
          <p:cNvPr id="218" name="Google Shape;218;p12"/>
          <p:cNvPicPr preferRelativeResize="0"/>
          <p:nvPr/>
        </p:nvPicPr>
        <p:blipFill rotWithShape="1">
          <a:blip r:embed="rId4">
            <a:alphaModFix/>
          </a:blip>
          <a:srcRect b="0" l="0" r="0" t="0"/>
          <a:stretch/>
        </p:blipFill>
        <p:spPr>
          <a:xfrm>
            <a:off x="3981286" y="1442604"/>
            <a:ext cx="1219200" cy="1219200"/>
          </a:xfrm>
          <a:prstGeom prst="rect">
            <a:avLst/>
          </a:prstGeom>
          <a:noFill/>
          <a:ln>
            <a:noFill/>
          </a:ln>
        </p:spPr>
      </p:pic>
      <p:pic>
        <p:nvPicPr>
          <p:cNvPr id="219" name="Google Shape;219;p12"/>
          <p:cNvPicPr preferRelativeResize="0"/>
          <p:nvPr/>
        </p:nvPicPr>
        <p:blipFill rotWithShape="1">
          <a:blip r:embed="rId5">
            <a:alphaModFix/>
          </a:blip>
          <a:srcRect b="0" l="0" r="0" t="0"/>
          <a:stretch/>
        </p:blipFill>
        <p:spPr>
          <a:xfrm>
            <a:off x="1083986" y="1352550"/>
            <a:ext cx="1219200" cy="1219200"/>
          </a:xfrm>
          <a:prstGeom prst="rect">
            <a:avLst/>
          </a:prstGeom>
          <a:noFill/>
          <a:ln>
            <a:noFill/>
          </a:ln>
        </p:spPr>
      </p:pic>
      <p:pic>
        <p:nvPicPr>
          <p:cNvPr id="220" name="Google Shape;220;p12" title="logo gradient 1.png"/>
          <p:cNvPicPr preferRelativeResize="0"/>
          <p:nvPr/>
        </p:nvPicPr>
        <p:blipFill rotWithShape="1">
          <a:blip r:embed="rId6">
            <a:alphaModFix/>
          </a:blip>
          <a:srcRect b="0" l="0" r="0" t="0"/>
          <a:stretch/>
        </p:blipFill>
        <p:spPr>
          <a:xfrm>
            <a:off x="7352514" y="4691250"/>
            <a:ext cx="1547950" cy="452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nvSpPr>
        <p:spPr>
          <a:xfrm>
            <a:off x="357631" y="3531338"/>
            <a:ext cx="6327187" cy="1518643"/>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¿Entonces qué hace un analista de datos?</a:t>
            </a:r>
            <a:endParaRPr/>
          </a:p>
        </p:txBody>
      </p:sp>
      <p:pic>
        <p:nvPicPr>
          <p:cNvPr id="226" name="Google Shape;226;p13" title="Group 1321317428.png"/>
          <p:cNvPicPr preferRelativeResize="0"/>
          <p:nvPr/>
        </p:nvPicPr>
        <p:blipFill rotWithShape="1">
          <a:blip r:embed="rId3">
            <a:alphaModFix/>
          </a:blip>
          <a:srcRect b="0" l="0" r="0" t="0"/>
          <a:stretch/>
        </p:blipFill>
        <p:spPr>
          <a:xfrm>
            <a:off x="8189306" y="57767"/>
            <a:ext cx="861174" cy="8577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txBox="1"/>
          <p:nvPr/>
        </p:nvSpPr>
        <p:spPr>
          <a:xfrm>
            <a:off x="852055" y="299067"/>
            <a:ext cx="4572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Rol del Analista de Datos</a:t>
            </a:r>
            <a:endParaRPr/>
          </a:p>
        </p:txBody>
      </p:sp>
      <p:sp>
        <p:nvSpPr>
          <p:cNvPr id="232" name="Google Shape;232;p14"/>
          <p:cNvSpPr txBox="1"/>
          <p:nvPr/>
        </p:nvSpPr>
        <p:spPr>
          <a:xfrm>
            <a:off x="561109" y="2956920"/>
            <a:ext cx="4156364" cy="144065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s-MX" sz="1200" u="none" cap="none" strike="noStrike">
                <a:solidFill>
                  <a:srgbClr val="000000"/>
                </a:solidFill>
                <a:latin typeface="Plus Jakarta Sans Light"/>
                <a:ea typeface="Plus Jakarta Sans Light"/>
                <a:cs typeface="Plus Jakarta Sans Light"/>
                <a:sym typeface="Plus Jakarta Sans Light"/>
              </a:rPr>
              <a:t>El analista de datos es el profesional encargado de recolectar, procesar y analizar datos para extraer información que apoye la toma de decisiones en una organización. Su trabajo es fundamental para convertir datos en conocimiento útil.</a:t>
            </a:r>
            <a:endParaRPr b="0" i="0" sz="1200" u="none" cap="none" strike="noStrike">
              <a:solidFill>
                <a:srgbClr val="000000"/>
              </a:solidFill>
              <a:latin typeface="Plus Jakarta Sans Light"/>
              <a:ea typeface="Plus Jakarta Sans Light"/>
              <a:cs typeface="Plus Jakarta Sans Light"/>
              <a:sym typeface="Plus Jakarta Sans Light"/>
            </a:endParaRPr>
          </a:p>
        </p:txBody>
      </p:sp>
      <p:pic>
        <p:nvPicPr>
          <p:cNvPr id="233" name="Google Shape;233;p14"/>
          <p:cNvPicPr preferRelativeResize="0"/>
          <p:nvPr/>
        </p:nvPicPr>
        <p:blipFill rotWithShape="1">
          <a:blip r:embed="rId3">
            <a:alphaModFix/>
          </a:blip>
          <a:srcRect b="0" l="0" r="0" t="0"/>
          <a:stretch/>
        </p:blipFill>
        <p:spPr>
          <a:xfrm>
            <a:off x="5928878" y="1647825"/>
            <a:ext cx="2466975" cy="1847850"/>
          </a:xfrm>
          <a:prstGeom prst="rect">
            <a:avLst/>
          </a:prstGeom>
          <a:noFill/>
          <a:ln>
            <a:noFill/>
          </a:ln>
        </p:spPr>
      </p:pic>
      <p:sp>
        <p:nvSpPr>
          <p:cNvPr id="234" name="Google Shape;234;p14"/>
          <p:cNvSpPr txBox="1"/>
          <p:nvPr/>
        </p:nvSpPr>
        <p:spPr>
          <a:xfrm>
            <a:off x="588818" y="1127165"/>
            <a:ext cx="4572000" cy="60965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s-MX" sz="1200" u="none" cap="none" strike="noStrike">
                <a:solidFill>
                  <a:srgbClr val="000000"/>
                </a:solidFill>
                <a:latin typeface="Plus Jakarta Sans Light"/>
                <a:ea typeface="Plus Jakarta Sans Light"/>
                <a:cs typeface="Plus Jakarta Sans Light"/>
                <a:sym typeface="Plus Jakarta Sans Light"/>
              </a:rPr>
              <a:t>¿Alguna vez te has preguntado quién está detrás de las decisiones basadas en datos dentro de una empresa?</a:t>
            </a:r>
            <a:endParaRPr b="0" i="0" sz="1200" u="none" cap="none" strike="noStrike">
              <a:solidFill>
                <a:srgbClr val="000000"/>
              </a:solidFill>
              <a:latin typeface="Plus Jakarta Sans Light"/>
              <a:ea typeface="Plus Jakarta Sans Light"/>
              <a:cs typeface="Plus Jakarta Sans Light"/>
              <a:sym typeface="Plus Jakarta Sans Light"/>
            </a:endParaRPr>
          </a:p>
        </p:txBody>
      </p:sp>
      <p:sp>
        <p:nvSpPr>
          <p:cNvPr id="235" name="Google Shape;235;p14"/>
          <p:cNvSpPr txBox="1"/>
          <p:nvPr/>
        </p:nvSpPr>
        <p:spPr>
          <a:xfrm>
            <a:off x="561109" y="1903543"/>
            <a:ext cx="4572000" cy="88665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s-MX" sz="1200" u="none" cap="none" strike="noStrike">
                <a:solidFill>
                  <a:srgbClr val="000000"/>
                </a:solidFill>
                <a:latin typeface="Plus Jakarta Sans Light"/>
                <a:ea typeface="Plus Jakarta Sans Light"/>
                <a:cs typeface="Plus Jakarta Sans Light"/>
                <a:sym typeface="Plus Jakarta Sans Light"/>
              </a:rPr>
              <a:t>El analista de datos es el profesional clave que transforma datos crudos en información útil para impulsar estrategias y operaciones.</a:t>
            </a:r>
            <a:endParaRPr b="0" i="0" sz="1200" u="none" cap="none" strike="noStrike">
              <a:solidFill>
                <a:srgbClr val="000000"/>
              </a:solidFill>
              <a:latin typeface="Plus Jakarta Sans Light"/>
              <a:ea typeface="Plus Jakarta Sans Light"/>
              <a:cs typeface="Plus Jakarta Sans Light"/>
              <a:sym typeface="Plus Jakarta Sans Light"/>
            </a:endParaRPr>
          </a:p>
        </p:txBody>
      </p:sp>
      <p:pic>
        <p:nvPicPr>
          <p:cNvPr id="236" name="Google Shape;236;p14"/>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p15"/>
          <p:cNvPicPr preferRelativeResize="0"/>
          <p:nvPr/>
        </p:nvPicPr>
        <p:blipFill rotWithShape="1">
          <a:blip r:embed="rId3">
            <a:alphaModFix/>
          </a:blip>
          <a:srcRect b="0" l="24242" r="14545" t="0"/>
          <a:stretch/>
        </p:blipFill>
        <p:spPr>
          <a:xfrm>
            <a:off x="0" y="0"/>
            <a:ext cx="4197929" cy="5143500"/>
          </a:xfrm>
          <a:prstGeom prst="rect">
            <a:avLst/>
          </a:prstGeom>
          <a:noFill/>
          <a:ln>
            <a:noFill/>
          </a:ln>
        </p:spPr>
      </p:pic>
      <p:pic>
        <p:nvPicPr>
          <p:cNvPr id="242" name="Google Shape;242;p15"/>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
        <p:nvSpPr>
          <p:cNvPr id="243" name="Google Shape;243;p15"/>
          <p:cNvSpPr txBox="1"/>
          <p:nvPr/>
        </p:nvSpPr>
        <p:spPr>
          <a:xfrm>
            <a:off x="4301836" y="348339"/>
            <a:ext cx="339436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Herramientas Principales</a:t>
            </a:r>
            <a:endParaRPr/>
          </a:p>
        </p:txBody>
      </p:sp>
      <p:sp>
        <p:nvSpPr>
          <p:cNvPr id="244" name="Google Shape;244;p15"/>
          <p:cNvSpPr txBox="1"/>
          <p:nvPr/>
        </p:nvSpPr>
        <p:spPr>
          <a:xfrm>
            <a:off x="4729499" y="1414923"/>
            <a:ext cx="3943445" cy="2839208"/>
          </a:xfrm>
          <a:prstGeom prst="rect">
            <a:avLst/>
          </a:prstGeom>
          <a:noFill/>
          <a:ln>
            <a:noFill/>
          </a:ln>
        </p:spPr>
        <p:txBody>
          <a:bodyPr anchorCtr="0" anchor="t" bIns="91425" lIns="91425" spcFirstLastPara="1" rIns="91425" wrap="square" tIns="91425">
            <a:spAutoFit/>
          </a:bodyPr>
          <a:lstStyle/>
          <a:p>
            <a:pPr indent="-301625" lvl="0" marL="457200" marR="0" rtl="0" algn="l">
              <a:lnSpc>
                <a:spcPct val="150000"/>
              </a:lnSpc>
              <a:spcBef>
                <a:spcPts val="0"/>
              </a:spcBef>
              <a:spcAft>
                <a:spcPts val="0"/>
              </a:spcAft>
              <a:buClr>
                <a:srgbClr val="222224"/>
              </a:buClr>
              <a:buSzPts val="1150"/>
              <a:buFont typeface="Plus Jakarta Sans"/>
              <a:buChar char="➔"/>
            </a:pPr>
            <a:r>
              <a:rPr b="0" i="0" lang="es-MX" sz="1150" u="none" cap="none" strike="noStrike">
                <a:solidFill>
                  <a:srgbClr val="FE872D"/>
                </a:solidFill>
                <a:latin typeface="Plus Jakarta Sans"/>
                <a:ea typeface="Plus Jakarta Sans"/>
                <a:cs typeface="Plus Jakarta Sans"/>
                <a:sym typeface="Plus Jakarta Sans"/>
              </a:rPr>
              <a:t>SQL: </a:t>
            </a:r>
            <a:r>
              <a:rPr b="0" i="0" lang="es-MX" sz="1150" u="none" cap="none" strike="noStrike">
                <a:solidFill>
                  <a:srgbClr val="222224"/>
                </a:solidFill>
                <a:latin typeface="Plus Jakarta Sans"/>
                <a:ea typeface="Plus Jakarta Sans"/>
                <a:cs typeface="Plus Jakarta Sans"/>
                <a:sym typeface="Plus Jakarta Sans"/>
              </a:rPr>
              <a:t>Lenguaje estándar para consultar y manipular bases de datos relacionales. Esencial para extraer datos específicos.</a:t>
            </a:r>
            <a:endParaRPr b="0" i="0" sz="1150" u="none" cap="none" strike="noStrike">
              <a:solidFill>
                <a:srgbClr val="222224"/>
              </a:solidFill>
              <a:latin typeface="Plus Jakarta Sans"/>
              <a:ea typeface="Plus Jakarta Sans"/>
              <a:cs typeface="Plus Jakarta Sans"/>
              <a:sym typeface="Plus Jakarta Sans"/>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150" u="none" cap="none" strike="noStrike">
                <a:solidFill>
                  <a:srgbClr val="FE872D"/>
                </a:solidFill>
                <a:latin typeface="Plus Jakarta Sans"/>
                <a:ea typeface="Plus Jakarta Sans"/>
                <a:cs typeface="Plus Jakarta Sans"/>
                <a:sym typeface="Plus Jakarta Sans"/>
              </a:rPr>
              <a:t>Python y R: </a:t>
            </a:r>
            <a:r>
              <a:rPr b="0" i="0" lang="es-MX" sz="1150" u="none" cap="none" strike="noStrike">
                <a:solidFill>
                  <a:srgbClr val="222224"/>
                </a:solidFill>
                <a:latin typeface="Plus Jakarta Sans"/>
                <a:ea typeface="Plus Jakarta Sans"/>
                <a:cs typeface="Plus Jakarta Sans"/>
                <a:sym typeface="Plus Jakarta Sans"/>
              </a:rPr>
              <a:t>Lenguajes de programación usados para análisis estadístico, modelado y visualización avanzada. </a:t>
            </a:r>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150" u="none" cap="none" strike="noStrike">
                <a:solidFill>
                  <a:srgbClr val="FE872D"/>
                </a:solidFill>
                <a:latin typeface="Plus Jakarta Sans"/>
                <a:ea typeface="Plus Jakarta Sans"/>
                <a:cs typeface="Plus Jakarta Sans"/>
                <a:sym typeface="Plus Jakarta Sans"/>
              </a:rPr>
              <a:t>Plataformas de Business Intelligence (BI): </a:t>
            </a:r>
            <a:r>
              <a:rPr b="0" i="0" lang="es-MX" sz="1150" u="none" cap="none" strike="noStrike">
                <a:solidFill>
                  <a:srgbClr val="222224"/>
                </a:solidFill>
                <a:latin typeface="Plus Jakarta Sans"/>
                <a:ea typeface="Plus Jakarta Sans"/>
                <a:cs typeface="Plus Jakarta Sans"/>
                <a:sym typeface="Plus Jakarta Sans"/>
              </a:rPr>
              <a:t>Herramientas como Power BI, Tableau o Looker Studio que permiten crear dashboards interactivos y reportes visuales.</a:t>
            </a:r>
            <a:endParaRPr b="0" i="0" sz="115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16"/>
          <p:cNvPicPr preferRelativeResize="0"/>
          <p:nvPr/>
        </p:nvPicPr>
        <p:blipFill rotWithShape="1">
          <a:blip r:embed="rId3">
            <a:alphaModFix/>
          </a:blip>
          <a:srcRect b="0" l="0" r="0" t="0"/>
          <a:stretch/>
        </p:blipFill>
        <p:spPr>
          <a:xfrm>
            <a:off x="1274482" y="3157905"/>
            <a:ext cx="6257059" cy="1651283"/>
          </a:xfrm>
          <a:prstGeom prst="rect">
            <a:avLst/>
          </a:prstGeom>
          <a:noFill/>
          <a:ln>
            <a:noFill/>
          </a:ln>
        </p:spPr>
      </p:pic>
      <p:sp>
        <p:nvSpPr>
          <p:cNvPr id="250" name="Google Shape;250;p16"/>
          <p:cNvSpPr txBox="1"/>
          <p:nvPr/>
        </p:nvSpPr>
        <p:spPr>
          <a:xfrm>
            <a:off x="477981" y="4825257"/>
            <a:ext cx="7426037"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800" u="none" cap="none" strike="noStrike">
                <a:solidFill>
                  <a:srgbClr val="260700"/>
                </a:solidFill>
                <a:latin typeface="Arial"/>
                <a:ea typeface="Arial"/>
                <a:cs typeface="Arial"/>
                <a:sym typeface="Arial"/>
              </a:rPr>
              <a:t>Nota: El analista debe entender el contexto del negocio para interpretar correctamente los datos y generar insights accionables.</a:t>
            </a:r>
            <a:endParaRPr b="0" i="0" sz="800" u="none" cap="none" strike="noStrike">
              <a:solidFill>
                <a:srgbClr val="260700"/>
              </a:solidFill>
              <a:latin typeface="Arial"/>
              <a:ea typeface="Arial"/>
              <a:cs typeface="Arial"/>
              <a:sym typeface="Arial"/>
            </a:endParaRPr>
          </a:p>
        </p:txBody>
      </p:sp>
      <p:pic>
        <p:nvPicPr>
          <p:cNvPr id="251" name="Google Shape;251;p16"/>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
        <p:nvSpPr>
          <p:cNvPr id="252" name="Google Shape;252;p16"/>
          <p:cNvSpPr txBox="1"/>
          <p:nvPr/>
        </p:nvSpPr>
        <p:spPr>
          <a:xfrm>
            <a:off x="1087581" y="189012"/>
            <a:ext cx="243840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Funciones Clave</a:t>
            </a:r>
            <a:endParaRPr/>
          </a:p>
        </p:txBody>
      </p:sp>
      <p:sp>
        <p:nvSpPr>
          <p:cNvPr id="253" name="Google Shape;253;p16"/>
          <p:cNvSpPr txBox="1"/>
          <p:nvPr/>
        </p:nvSpPr>
        <p:spPr>
          <a:xfrm>
            <a:off x="214747" y="1046423"/>
            <a:ext cx="2202871" cy="1440651"/>
          </a:xfrm>
          <a:prstGeom prst="rect">
            <a:avLst/>
          </a:prstGeom>
          <a:noFill/>
          <a:ln>
            <a:noFill/>
          </a:ln>
        </p:spPr>
        <p:txBody>
          <a:bodyPr anchorCtr="0" anchor="t" bIns="45700" lIns="91425" spcFirstLastPara="1" rIns="91425" wrap="square" tIns="45700">
            <a:spAutoFit/>
          </a:bodyPr>
          <a:lstStyle/>
          <a:p>
            <a:pPr indent="-76200" lvl="0" marL="0" marR="0" rtl="0" algn="l">
              <a:lnSpc>
                <a:spcPct val="150000"/>
              </a:lnSpc>
              <a:spcBef>
                <a:spcPts val="0"/>
              </a:spcBef>
              <a:spcAft>
                <a:spcPts val="0"/>
              </a:spcAft>
              <a:buClr>
                <a:srgbClr val="FF632B"/>
              </a:buClr>
              <a:buSzPts val="1200"/>
              <a:buFont typeface="Arial"/>
              <a:buAutoNum type="arabicPeriod"/>
            </a:pPr>
            <a:r>
              <a:rPr b="1" i="0" lang="es-MX" sz="1200" u="none" cap="none" strike="noStrike">
                <a:solidFill>
                  <a:srgbClr val="FE872D"/>
                </a:solidFill>
                <a:latin typeface="Plus Jakarta Sans Light"/>
                <a:ea typeface="Plus Jakarta Sans Light"/>
                <a:cs typeface="Plus Jakarta Sans Light"/>
                <a:sym typeface="Plus Jakarta Sans Light"/>
              </a:rPr>
              <a:t> Recolección de Datos</a:t>
            </a:r>
            <a:r>
              <a:rPr b="0" i="0" lang="es-MX" sz="1200" u="none" cap="none" strike="noStrike">
                <a:solidFill>
                  <a:srgbClr val="FE872D"/>
                </a:solidFill>
                <a:latin typeface="Plus Jakarta Sans Light"/>
                <a:ea typeface="Plus Jakarta Sans Light"/>
                <a:cs typeface="Plus Jakarta Sans Light"/>
                <a:sym typeface="Plus Jakarta Sans Light"/>
              </a:rPr>
              <a:t>:</a:t>
            </a:r>
            <a:r>
              <a:rPr b="0" i="0" lang="es-MX" sz="1200" u="none" cap="none" strike="noStrike">
                <a:solidFill>
                  <a:srgbClr val="0A0A0A"/>
                </a:solidFill>
                <a:latin typeface="Plus Jakarta Sans Light"/>
                <a:ea typeface="Plus Jakarta Sans Light"/>
                <a:cs typeface="Plus Jakarta Sans Light"/>
                <a:sym typeface="Plus Jakarta Sans Light"/>
              </a:rPr>
              <a:t> Obtiene datos de diversas fuentes, como bases de datos, archivos, APIs o plataformas digitales.</a:t>
            </a:r>
            <a:endParaRPr/>
          </a:p>
        </p:txBody>
      </p:sp>
      <p:sp>
        <p:nvSpPr>
          <p:cNvPr id="254" name="Google Shape;254;p16"/>
          <p:cNvSpPr txBox="1"/>
          <p:nvPr/>
        </p:nvSpPr>
        <p:spPr>
          <a:xfrm>
            <a:off x="2372592" y="1046423"/>
            <a:ext cx="2199408" cy="199464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rgbClr val="FF632B"/>
              </a:buClr>
              <a:buSzPts val="1200"/>
              <a:buFont typeface="Arial"/>
              <a:buAutoNum type="arabicPeriod" startAt="2"/>
            </a:pPr>
            <a:r>
              <a:rPr b="1" i="0" lang="es-MX" sz="1200" u="none" cap="none" strike="noStrike">
                <a:solidFill>
                  <a:srgbClr val="FE872D"/>
                </a:solidFill>
                <a:latin typeface="Plus Jakarta Sans Light"/>
                <a:ea typeface="Plus Jakarta Sans Light"/>
                <a:cs typeface="Plus Jakarta Sans Light"/>
                <a:sym typeface="Plus Jakarta Sans Light"/>
              </a:rPr>
              <a:t>Limpieza y Preparación</a:t>
            </a:r>
            <a:r>
              <a:rPr b="0" i="0" lang="es-MX" sz="1200" u="none" cap="none" strike="noStrike">
                <a:solidFill>
                  <a:srgbClr val="FE872D"/>
                </a:solidFill>
                <a:latin typeface="Plus Jakarta Sans Light"/>
                <a:ea typeface="Plus Jakarta Sans Light"/>
                <a:cs typeface="Plus Jakarta Sans Light"/>
                <a:sym typeface="Plus Jakarta Sans Light"/>
              </a:rPr>
              <a:t>: </a:t>
            </a:r>
            <a:r>
              <a:rPr b="0" i="0" lang="es-MX" sz="1200" u="none" cap="none" strike="noStrike">
                <a:solidFill>
                  <a:srgbClr val="0A0A0A"/>
                </a:solidFill>
                <a:latin typeface="Plus Jakarta Sans Light"/>
                <a:ea typeface="Plus Jakarta Sans Light"/>
                <a:cs typeface="Plus Jakarta Sans Light"/>
                <a:sym typeface="Plus Jakarta Sans Light"/>
              </a:rPr>
              <a:t>Depura y transforma los datos para asegurar su calidad y consistencia, eliminando errores o valores atípicos.</a:t>
            </a:r>
            <a:endParaRPr/>
          </a:p>
        </p:txBody>
      </p:sp>
      <p:sp>
        <p:nvSpPr>
          <p:cNvPr id="255" name="Google Shape;255;p16"/>
          <p:cNvSpPr txBox="1"/>
          <p:nvPr/>
        </p:nvSpPr>
        <p:spPr>
          <a:xfrm>
            <a:off x="4572000" y="1039465"/>
            <a:ext cx="1939638" cy="1994649"/>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startAt="3"/>
            </a:pPr>
            <a:r>
              <a:rPr b="1" i="0" lang="es-MX" sz="1200" u="none" cap="none" strike="noStrike">
                <a:solidFill>
                  <a:srgbClr val="FE872D"/>
                </a:solidFill>
                <a:latin typeface="Plus Jakarta Sans Light"/>
                <a:ea typeface="Plus Jakarta Sans Light"/>
                <a:cs typeface="Plus Jakarta Sans Light"/>
                <a:sym typeface="Plus Jakarta Sans Light"/>
              </a:rPr>
              <a:t>Análisis Exploratorio</a:t>
            </a:r>
            <a:r>
              <a:rPr b="0" i="0" lang="es-MX" sz="1200" u="none" cap="none" strike="noStrike">
                <a:solidFill>
                  <a:srgbClr val="0A0A0A"/>
                </a:solidFill>
                <a:latin typeface="Plus Jakarta Sans Light"/>
                <a:ea typeface="Plus Jakarta Sans Light"/>
                <a:cs typeface="Plus Jakarta Sans Light"/>
                <a:sym typeface="Plus Jakarta Sans Light"/>
              </a:rPr>
              <a:t>: Examina los datos para identificar patrones, tendencias y relaciones relevantes.</a:t>
            </a:r>
            <a:endParaRPr/>
          </a:p>
        </p:txBody>
      </p:sp>
      <p:sp>
        <p:nvSpPr>
          <p:cNvPr id="256" name="Google Shape;256;p16"/>
          <p:cNvSpPr txBox="1"/>
          <p:nvPr/>
        </p:nvSpPr>
        <p:spPr>
          <a:xfrm>
            <a:off x="6624073" y="1053694"/>
            <a:ext cx="2305179" cy="2271648"/>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startAt="4"/>
            </a:pPr>
            <a:r>
              <a:rPr b="1" i="0" lang="es-MX" sz="1200" u="none" cap="none" strike="noStrike">
                <a:solidFill>
                  <a:srgbClr val="FE872D"/>
                </a:solidFill>
                <a:latin typeface="Plus Jakarta Sans Light"/>
                <a:ea typeface="Plus Jakarta Sans Light"/>
                <a:cs typeface="Plus Jakarta Sans Light"/>
                <a:sym typeface="Plus Jakarta Sans Light"/>
              </a:rPr>
              <a:t>Visualización y Comunicación</a:t>
            </a:r>
            <a:r>
              <a:rPr b="0" i="0" lang="es-MX" sz="1200" u="none" cap="none" strike="noStrike">
                <a:solidFill>
                  <a:srgbClr val="FE872D"/>
                </a:solidFill>
                <a:latin typeface="Plus Jakarta Sans Light"/>
                <a:ea typeface="Plus Jakarta Sans Light"/>
                <a:cs typeface="Plus Jakarta Sans Light"/>
                <a:sym typeface="Plus Jakarta Sans Light"/>
              </a:rPr>
              <a:t>: </a:t>
            </a:r>
            <a:r>
              <a:rPr b="0" i="0" lang="es-MX" sz="1200" u="none" cap="none" strike="noStrike">
                <a:solidFill>
                  <a:srgbClr val="0A0A0A"/>
                </a:solidFill>
                <a:latin typeface="Plus Jakarta Sans Light"/>
                <a:ea typeface="Plus Jakarta Sans Light"/>
                <a:cs typeface="Plus Jakarta Sans Light"/>
                <a:sym typeface="Plus Jakarta Sans Light"/>
              </a:rPr>
              <a:t>Presenta los hallazgos mediante gráficos, reportes o dashboards para facilitar la comprensión por parte de los tomadores de decisiones.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17"/>
          <p:cNvSpPr txBox="1"/>
          <p:nvPr/>
        </p:nvSpPr>
        <p:spPr>
          <a:xfrm>
            <a:off x="1226127" y="171692"/>
            <a:ext cx="462741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chemeClr val="lt1"/>
                </a:solidFill>
                <a:latin typeface="Plus Jakarta Sans ExtraBold"/>
                <a:ea typeface="Plus Jakarta Sans ExtraBold"/>
                <a:cs typeface="Plus Jakarta Sans ExtraBold"/>
                <a:sym typeface="Plus Jakarta Sans ExtraBold"/>
              </a:rPr>
              <a:t>El Espectro del Análisis de Datos</a:t>
            </a:r>
            <a:endParaRPr b="0" i="0" sz="2000" u="none" cap="none" strike="noStrike">
              <a:solidFill>
                <a:schemeClr val="lt1"/>
              </a:solidFill>
              <a:latin typeface="Plus Jakarta Sans ExtraBold"/>
              <a:ea typeface="Plus Jakarta Sans ExtraBold"/>
              <a:cs typeface="Plus Jakarta Sans ExtraBold"/>
              <a:sym typeface="Plus Jakarta Sans ExtraBold"/>
            </a:endParaRPr>
          </a:p>
        </p:txBody>
      </p:sp>
      <p:sp>
        <p:nvSpPr>
          <p:cNvPr id="262" name="Google Shape;262;p17"/>
          <p:cNvSpPr txBox="1"/>
          <p:nvPr/>
        </p:nvSpPr>
        <p:spPr>
          <a:xfrm>
            <a:off x="443345" y="584445"/>
            <a:ext cx="4627418" cy="422842"/>
          </a:xfrm>
          <a:prstGeom prst="rect">
            <a:avLst/>
          </a:prstGeom>
          <a:noFill/>
          <a:ln>
            <a:noFill/>
          </a:ln>
        </p:spPr>
        <p:txBody>
          <a:bodyPr anchorCtr="0" anchor="t" bIns="91425" lIns="91425" spcFirstLastPara="1" rIns="91425" wrap="square" tIns="91425">
            <a:spAutoFit/>
          </a:bodyPr>
          <a:lstStyle/>
          <a:p>
            <a:pPr indent="0" lvl="0" marL="0" marR="38100" rtl="0" algn="just">
              <a:lnSpc>
                <a:spcPct val="128571"/>
              </a:lnSpc>
              <a:spcBef>
                <a:spcPts val="0"/>
              </a:spcBef>
              <a:spcAft>
                <a:spcPts val="0"/>
              </a:spcAft>
              <a:buClr>
                <a:schemeClr val="dk1"/>
              </a:buClr>
              <a:buSzPts val="1100"/>
              <a:buFont typeface="Arial"/>
              <a:buNone/>
            </a:pPr>
            <a:r>
              <a:rPr b="0" i="0" lang="es-MX" sz="1200" u="none" cap="none" strike="noStrike">
                <a:solidFill>
                  <a:srgbClr val="222222"/>
                </a:solidFill>
                <a:latin typeface="Plus Jakarta Sans Light"/>
                <a:ea typeface="Plus Jakarta Sans Light"/>
                <a:cs typeface="Plus Jakarta Sans Light"/>
                <a:sym typeface="Plus Jakarta Sans Light"/>
              </a:rPr>
              <a:t>De la descripción del pasado a la predicción del futuro.</a:t>
            </a:r>
            <a:endParaRPr b="0" i="0" sz="1200" u="none" cap="none" strike="noStrike">
              <a:solidFill>
                <a:srgbClr val="222222"/>
              </a:solidFill>
              <a:latin typeface="Plus Jakarta Sans Light"/>
              <a:ea typeface="Plus Jakarta Sans Light"/>
              <a:cs typeface="Plus Jakarta Sans Light"/>
              <a:sym typeface="Plus Jakarta Sans Light"/>
            </a:endParaRPr>
          </a:p>
        </p:txBody>
      </p:sp>
      <p:graphicFrame>
        <p:nvGraphicFramePr>
          <p:cNvPr id="263" name="Google Shape;263;p17"/>
          <p:cNvGraphicFramePr/>
          <p:nvPr/>
        </p:nvGraphicFramePr>
        <p:xfrm>
          <a:off x="131617" y="1019930"/>
          <a:ext cx="3000000" cy="3000000"/>
        </p:xfrm>
        <a:graphic>
          <a:graphicData uri="http://schemas.openxmlformats.org/drawingml/2006/table">
            <a:tbl>
              <a:tblPr bandRow="1" firstRow="1">
                <a:noFill/>
                <a:tableStyleId>{FD8D60F0-E939-4DE0-92F3-595DE114B0EE}</a:tableStyleId>
              </a:tblPr>
              <a:tblGrid>
                <a:gridCol w="2960250"/>
                <a:gridCol w="2960250"/>
                <a:gridCol w="2960250"/>
              </a:tblGrid>
              <a:tr h="361025">
                <a:tc>
                  <a:txBody>
                    <a:bodyPr/>
                    <a:lstStyle/>
                    <a:p>
                      <a:pPr indent="0" lvl="0" marL="0" marR="0" rtl="0" algn="ctr">
                        <a:lnSpc>
                          <a:spcPct val="100000"/>
                        </a:lnSpc>
                        <a:spcBef>
                          <a:spcPts val="0"/>
                        </a:spcBef>
                        <a:spcAft>
                          <a:spcPts val="0"/>
                        </a:spcAft>
                        <a:buClr>
                          <a:srgbClr val="000000"/>
                        </a:buClr>
                        <a:buSzPts val="1000"/>
                        <a:buFont typeface="Arial"/>
                        <a:buNone/>
                      </a:pPr>
                      <a:r>
                        <a:rPr b="1" lang="es-MX" sz="1000" u="none" cap="none" strike="noStrike">
                          <a:solidFill>
                            <a:srgbClr val="FE872D"/>
                          </a:solidFill>
                          <a:latin typeface="Plus Jakarta Sans Light"/>
                          <a:ea typeface="Plus Jakarta Sans Light"/>
                          <a:cs typeface="Plus Jakarta Sans Light"/>
                          <a:sym typeface="Plus Jakarta Sans Light"/>
                        </a:rPr>
                        <a:t>Business Intelligence (BI):</a:t>
                      </a:r>
                      <a:endParaRPr/>
                    </a:p>
                  </a:txBody>
                  <a:tcPr marT="45725" marB="45725" marR="91450" marL="91450"/>
                </a:tc>
                <a:tc>
                  <a:txBody>
                    <a:bodyPr/>
                    <a:lstStyle/>
                    <a:p>
                      <a:pPr indent="0" lvl="0" marL="0" marR="0" rtl="0" algn="ctr">
                        <a:lnSpc>
                          <a:spcPct val="100000"/>
                        </a:lnSpc>
                        <a:spcBef>
                          <a:spcPts val="0"/>
                        </a:spcBef>
                        <a:spcAft>
                          <a:spcPts val="0"/>
                        </a:spcAft>
                        <a:buNone/>
                      </a:pPr>
                      <a:r>
                        <a:rPr b="1" lang="es-MX" sz="1000" u="none" cap="none" strike="noStrike">
                          <a:solidFill>
                            <a:srgbClr val="FE872D"/>
                          </a:solidFill>
                          <a:latin typeface="Plus Jakarta Sans Light"/>
                          <a:ea typeface="Plus Jakarta Sans Light"/>
                          <a:cs typeface="Plus Jakarta Sans Light"/>
                          <a:sym typeface="Plus Jakarta Sans Light"/>
                        </a:rPr>
                        <a:t>Data Analytics:</a:t>
                      </a:r>
                      <a:endParaRPr/>
                    </a:p>
                  </a:txBody>
                  <a:tcPr marT="45725" marB="45725" marR="91450" marL="91450"/>
                </a:tc>
                <a:tc>
                  <a:txBody>
                    <a:bodyPr/>
                    <a:lstStyle/>
                    <a:p>
                      <a:pPr indent="0" lvl="0" marL="0" marR="0" rtl="0" algn="ctr">
                        <a:lnSpc>
                          <a:spcPct val="100000"/>
                        </a:lnSpc>
                        <a:spcBef>
                          <a:spcPts val="0"/>
                        </a:spcBef>
                        <a:spcAft>
                          <a:spcPts val="0"/>
                        </a:spcAft>
                        <a:buNone/>
                      </a:pPr>
                      <a:r>
                        <a:rPr b="1" lang="es-MX" sz="1000" u="none" cap="none" strike="noStrike">
                          <a:solidFill>
                            <a:srgbClr val="FE872D"/>
                          </a:solidFill>
                          <a:latin typeface="Plus Jakarta Sans Light"/>
                          <a:ea typeface="Plus Jakarta Sans Light"/>
                          <a:cs typeface="Plus Jakarta Sans Light"/>
                          <a:sym typeface="Plus Jakarta Sans Light"/>
                        </a:rPr>
                        <a:t>Data Science:</a:t>
                      </a:r>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000"/>
                        <a:buFont typeface="Arial"/>
                        <a:buNone/>
                      </a:pPr>
                      <a:r>
                        <a:rPr b="0" lang="es-MX" sz="1000" u="none" cap="none" strike="noStrike">
                          <a:solidFill>
                            <a:schemeClr val="dk1"/>
                          </a:solidFill>
                          <a:latin typeface="Plus Jakarta Sans Light"/>
                          <a:ea typeface="Plus Jakarta Sans Light"/>
                          <a:cs typeface="Plus Jakarta Sans Light"/>
                          <a:sym typeface="Plus Jakarta Sans Light"/>
                        </a:rPr>
                        <a:t>Se enfoca en el uso de datos históricos para mejorar la toma de decisiones, utilizando dashboards y reportes que resumen el estado actual del negocio.</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Examina grandes volúmenes de datos para descubrir patrones y tendencias.</a:t>
                      </a:r>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Incorpora modelado predictivo y Machine Learning para anticipar eventos y automatizar decisiones.</a:t>
                      </a:r>
                      <a:endParaRPr/>
                    </a:p>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A diferencia del análisis tradicional, utiliza algoritmos complejos y datos no estructurados para crear sistemas que "aprenden".</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000"/>
                        <a:buFont typeface="Arial"/>
                        <a:buNone/>
                      </a:pPr>
                      <a:r>
                        <a:rPr b="0" lang="es-MX" sz="1000" u="none" cap="none" strike="noStrike">
                          <a:latin typeface="Plus Jakarta Sans Light"/>
                          <a:ea typeface="Plus Jakarta Sans Light"/>
                          <a:cs typeface="Plus Jakarta Sans Light"/>
                          <a:sym typeface="Plus Jakarta Sans Light"/>
                        </a:rPr>
                        <a:t>Pregunta clave: "¿qué está pasando en la empresa?" y "¿cómo estamos progresando hacia nuestros objetivos?".</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Pregunta clave: "¿por qué ocurrió esto?" o "¿qué pasará si cambiamos esto?"</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Pregunta clave: “¿Qué pasará?” y “¿Qué deberíamos hacer?”</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000"/>
                        <a:buFont typeface="Arial"/>
                        <a:buNone/>
                      </a:pPr>
                      <a:r>
                        <a:rPr b="0" lang="es-MX" sz="1000" u="none" cap="none" strike="noStrike">
                          <a:latin typeface="Plus Jakarta Sans Light"/>
                          <a:ea typeface="Plus Jakarta Sans Light"/>
                          <a:cs typeface="Plus Jakarta Sans Light"/>
                          <a:sym typeface="Plus Jakarta Sans Light"/>
                        </a:rPr>
                        <a:t>Resultado: Dashboards interactivos, KPIs y reportes de desempeño (Power BI, Tableau, etc).</a:t>
                      </a:r>
                      <a:endParaRPr b="0" sz="1000" u="none" cap="none" strike="noStrike">
                        <a:latin typeface="Plus Jakarta Sans Light"/>
                        <a:ea typeface="Plus Jakarta Sans Light"/>
                        <a:cs typeface="Plus Jakarta Sans Light"/>
                        <a:sym typeface="Plus Jakarta Sans Light"/>
                      </a:endParaRPr>
                    </a:p>
                    <a:p>
                      <a:pPr indent="0" lvl="0" marL="0" marR="0" rtl="0" algn="l">
                        <a:lnSpc>
                          <a:spcPct val="100000"/>
                        </a:lnSpc>
                        <a:spcBef>
                          <a:spcPts val="0"/>
                        </a:spcBef>
                        <a:spcAft>
                          <a:spcPts val="0"/>
                        </a:spcAft>
                        <a:buNone/>
                      </a:pPr>
                      <a:r>
                        <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Resultado: Segmentación de clientes, análisis de correlación y perfiles de comportamiento.</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c>
                  <a:txBody>
                    <a:bodyPr/>
                    <a:lstStyle/>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Resultado: Modelos predictivos de fuga, motores de recomendación y optimización logística.</a:t>
                      </a:r>
                      <a:endParaRPr/>
                    </a:p>
                    <a:p>
                      <a:pPr indent="0" lvl="0" marL="0" marR="0" rtl="0" algn="l">
                        <a:lnSpc>
                          <a:spcPct val="100000"/>
                        </a:lnSpc>
                        <a:spcBef>
                          <a:spcPts val="0"/>
                        </a:spcBef>
                        <a:spcAft>
                          <a:spcPts val="0"/>
                        </a:spcAft>
                        <a:buNone/>
                      </a:pPr>
                      <a:r>
                        <a:rPr b="0" lang="es-MX" sz="1000" u="none" cap="none" strike="noStrike">
                          <a:latin typeface="Plus Jakarta Sans Light"/>
                          <a:ea typeface="Plus Jakarta Sans Light"/>
                          <a:cs typeface="Plus Jakarta Sans Light"/>
                          <a:sym typeface="Plus Jakarta Sans Light"/>
                        </a:rPr>
                        <a:t>Potencia con IA: La Inteligencia Artificial optimiza estas tareas automatizando la generación de reportes en BI, facilitando segmentaciones dinámicas en Analytics y construyendo los modelos de aprendizaje en Data Science.</a:t>
                      </a:r>
                      <a:endParaRPr b="0" sz="1000" u="none" cap="none" strike="noStrike">
                        <a:latin typeface="Plus Jakarta Sans Light"/>
                        <a:ea typeface="Plus Jakarta Sans Light"/>
                        <a:cs typeface="Plus Jakarta Sans Light"/>
                        <a:sym typeface="Plus Jakarta Sans Light"/>
                      </a:endParaRPr>
                    </a:p>
                  </a:txBody>
                  <a:tcPr marT="45725" marB="45725" marR="91450" marL="91450"/>
                </a:tc>
              </a:tr>
            </a:tbl>
          </a:graphicData>
        </a:graphic>
      </p:graphicFrame>
      <p:pic>
        <p:nvPicPr>
          <p:cNvPr id="264" name="Google Shape;264;p17"/>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8"/>
          <p:cNvSpPr txBox="1"/>
          <p:nvPr/>
        </p:nvSpPr>
        <p:spPr>
          <a:xfrm>
            <a:off x="976746" y="251357"/>
            <a:ext cx="4572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Los 4 Pilares del Análisis de Datos</a:t>
            </a:r>
            <a:endParaRPr b="0" i="0" sz="2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0" name="Google Shape;270;p18"/>
          <p:cNvSpPr txBox="1"/>
          <p:nvPr/>
        </p:nvSpPr>
        <p:spPr>
          <a:xfrm>
            <a:off x="394854" y="915358"/>
            <a:ext cx="2944091" cy="33265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a:pPr>
            <a:r>
              <a:rPr b="1" i="0" lang="es-MX" sz="1200" u="none" cap="none" strike="noStrike">
                <a:solidFill>
                  <a:srgbClr val="FE872D"/>
                </a:solidFill>
                <a:latin typeface="Plus Jakarta Sans Light"/>
                <a:ea typeface="Plus Jakarta Sans Light"/>
                <a:cs typeface="Plus Jakarta Sans Light"/>
                <a:sym typeface="Plus Jakarta Sans Light"/>
              </a:rPr>
              <a:t>Análisis Descriptivo: "¿Qué pasó?"</a:t>
            </a:r>
            <a:endParaRPr b="1" i="0" sz="1200" u="none" cap="none" strike="noStrike">
              <a:solidFill>
                <a:srgbClr val="FE872D"/>
              </a:solidFill>
              <a:latin typeface="Plus Jakarta Sans Light"/>
              <a:ea typeface="Plus Jakarta Sans Light"/>
              <a:cs typeface="Plus Jakarta Sans Light"/>
              <a:sym typeface="Plus Jakarta Sans Light"/>
            </a:endParaRPr>
          </a:p>
        </p:txBody>
      </p:sp>
      <p:sp>
        <p:nvSpPr>
          <p:cNvPr id="271" name="Google Shape;271;p18"/>
          <p:cNvSpPr txBox="1"/>
          <p:nvPr/>
        </p:nvSpPr>
        <p:spPr>
          <a:xfrm>
            <a:off x="4925291" y="915358"/>
            <a:ext cx="3823855" cy="33265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startAt="2"/>
            </a:pPr>
            <a:r>
              <a:rPr b="1" i="0" lang="es-MX" sz="1200" u="none" cap="none" strike="noStrike">
                <a:solidFill>
                  <a:srgbClr val="FE872D"/>
                </a:solidFill>
                <a:latin typeface="Plus Jakarta Sans Light"/>
                <a:ea typeface="Plus Jakarta Sans Light"/>
                <a:cs typeface="Plus Jakarta Sans Light"/>
                <a:sym typeface="Plus Jakarta Sans Light"/>
              </a:rPr>
              <a:t> Análisis de Diagnóstico: "¿Por qué pasó?"</a:t>
            </a:r>
            <a:endParaRPr b="1" i="0" sz="1200" u="none" cap="none" strike="noStrike">
              <a:solidFill>
                <a:srgbClr val="FE872D"/>
              </a:solidFill>
              <a:latin typeface="Plus Jakarta Sans Light"/>
              <a:ea typeface="Plus Jakarta Sans Light"/>
              <a:cs typeface="Plus Jakarta Sans Light"/>
              <a:sym typeface="Plus Jakarta Sans Light"/>
            </a:endParaRPr>
          </a:p>
        </p:txBody>
      </p:sp>
      <p:sp>
        <p:nvSpPr>
          <p:cNvPr id="272" name="Google Shape;272;p18"/>
          <p:cNvSpPr txBox="1"/>
          <p:nvPr/>
        </p:nvSpPr>
        <p:spPr>
          <a:xfrm>
            <a:off x="275262" y="1400576"/>
            <a:ext cx="3770265" cy="1338798"/>
          </a:xfrm>
          <a:prstGeom prst="rect">
            <a:avLst/>
          </a:prstGeom>
          <a:noFill/>
          <a:ln>
            <a:noFill/>
          </a:ln>
        </p:spPr>
        <p:txBody>
          <a:bodyPr anchorCtr="0" anchor="t" bIns="91425" lIns="91425" spcFirstLastPara="1" rIns="91425" wrap="square" tIns="91425">
            <a:spAutoFit/>
          </a:bodyPr>
          <a:lstStyle/>
          <a:p>
            <a:pPr indent="-301625" lvl="0" marL="457200" marR="0" rtl="0" algn="l">
              <a:lnSpc>
                <a:spcPct val="150000"/>
              </a:lnSpc>
              <a:spcBef>
                <a:spcPts val="0"/>
              </a:spcBef>
              <a:spcAft>
                <a:spcPts val="0"/>
              </a:spcAft>
              <a:buClr>
                <a:srgbClr val="222224"/>
              </a:buClr>
              <a:buSzPts val="1150"/>
              <a:buFont typeface="Plus Jakarta Sans"/>
              <a:buChar char="➔"/>
            </a:pPr>
            <a:r>
              <a:rPr b="0" i="0" lang="es-MX" sz="1000" u="none" cap="none" strike="noStrike">
                <a:solidFill>
                  <a:srgbClr val="260700"/>
                </a:solidFill>
                <a:latin typeface="Plus Jakarta Sans"/>
                <a:ea typeface="Plus Jakarta Sans"/>
                <a:cs typeface="Plus Jakarta Sans"/>
                <a:sym typeface="Plus Jakarta Sans"/>
              </a:rPr>
              <a:t>Se centra en resumir datos históricos para identificar qué ha sucedido en un período determinado.</a:t>
            </a:r>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000" u="sng" cap="none" strike="noStrike">
                <a:solidFill>
                  <a:srgbClr val="260700"/>
                </a:solidFill>
                <a:latin typeface="Plus Jakarta Sans"/>
                <a:ea typeface="Plus Jakarta Sans"/>
                <a:cs typeface="Plus Jakarta Sans"/>
                <a:sym typeface="Plus Jakarta Sans"/>
              </a:rPr>
              <a:t>Quién lo aplica</a:t>
            </a:r>
            <a:r>
              <a:rPr b="0" i="0" lang="es-MX" sz="1000" u="none" cap="none" strike="noStrike">
                <a:solidFill>
                  <a:srgbClr val="260700"/>
                </a:solidFill>
                <a:latin typeface="Plus Jakarta Sans"/>
                <a:ea typeface="Plus Jakarta Sans"/>
                <a:cs typeface="Plus Jakarta Sans"/>
                <a:sym typeface="Plus Jakarta Sans"/>
              </a:rPr>
              <a:t>: Principalmente el perfil de Business Intelligence (BI).</a:t>
            </a:r>
            <a:endParaRPr b="0" i="0" sz="1000" u="none" cap="none" strike="noStrike">
              <a:solidFill>
                <a:srgbClr val="260700"/>
              </a:solidFill>
              <a:latin typeface="Plus Jakarta Sans"/>
              <a:ea typeface="Plus Jakarta Sans"/>
              <a:cs typeface="Plus Jakarta Sans"/>
              <a:sym typeface="Plus Jakarta Sans"/>
            </a:endParaRPr>
          </a:p>
        </p:txBody>
      </p:sp>
      <p:sp>
        <p:nvSpPr>
          <p:cNvPr id="273" name="Google Shape;273;p18"/>
          <p:cNvSpPr txBox="1"/>
          <p:nvPr/>
        </p:nvSpPr>
        <p:spPr>
          <a:xfrm>
            <a:off x="4771062" y="1360771"/>
            <a:ext cx="3770265" cy="1107965"/>
          </a:xfrm>
          <a:prstGeom prst="rect">
            <a:avLst/>
          </a:prstGeom>
          <a:noFill/>
          <a:ln>
            <a:noFill/>
          </a:ln>
        </p:spPr>
        <p:txBody>
          <a:bodyPr anchorCtr="0" anchor="t" bIns="91425" lIns="91425" spcFirstLastPara="1" rIns="91425" wrap="square" tIns="91425">
            <a:spAutoFit/>
          </a:bodyPr>
          <a:lstStyle/>
          <a:p>
            <a:pPr indent="-301625" lvl="0" marL="457200" marR="0" rtl="0" algn="l">
              <a:lnSpc>
                <a:spcPct val="150000"/>
              </a:lnSpc>
              <a:spcBef>
                <a:spcPts val="0"/>
              </a:spcBef>
              <a:spcAft>
                <a:spcPts val="0"/>
              </a:spcAft>
              <a:buClr>
                <a:srgbClr val="222224"/>
              </a:buClr>
              <a:buSzPts val="1150"/>
              <a:buFont typeface="Plus Jakarta Sans"/>
              <a:buChar char="➔"/>
            </a:pPr>
            <a:r>
              <a:rPr b="0" i="0" lang="es-MX" sz="1000" u="none" cap="none" strike="noStrike">
                <a:solidFill>
                  <a:srgbClr val="260700"/>
                </a:solidFill>
                <a:latin typeface="Plus Jakarta Sans"/>
                <a:ea typeface="Plus Jakarta Sans"/>
                <a:cs typeface="Plus Jakarta Sans"/>
                <a:sym typeface="Plus Jakarta Sans"/>
              </a:rPr>
              <a:t>Toma los hallazgos del análisis descriptivo para descubrir las causas de esos resultados, buscando correlaciones y patrones.</a:t>
            </a:r>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000" u="sng" cap="none" strike="noStrike">
                <a:solidFill>
                  <a:srgbClr val="260700"/>
                </a:solidFill>
                <a:latin typeface="Plus Jakarta Sans"/>
                <a:ea typeface="Plus Jakarta Sans"/>
                <a:cs typeface="Plus Jakarta Sans"/>
                <a:sym typeface="Plus Jakarta Sans"/>
              </a:rPr>
              <a:t>Quién lo aplica: </a:t>
            </a:r>
            <a:r>
              <a:rPr b="0" i="0" lang="es-MX" sz="1000" u="none" cap="none" strike="noStrike">
                <a:solidFill>
                  <a:srgbClr val="260700"/>
                </a:solidFill>
                <a:latin typeface="Plus Jakarta Sans"/>
                <a:ea typeface="Plus Jakarta Sans"/>
                <a:cs typeface="Plus Jakarta Sans"/>
                <a:sym typeface="Plus Jakarta Sans"/>
              </a:rPr>
              <a:t>El Data Analyst.</a:t>
            </a:r>
            <a:endParaRPr b="0" i="0" sz="1000" u="none" cap="none" strike="noStrike">
              <a:solidFill>
                <a:srgbClr val="260700"/>
              </a:solidFill>
              <a:latin typeface="Plus Jakarta Sans"/>
              <a:ea typeface="Plus Jakarta Sans"/>
              <a:cs typeface="Plus Jakarta Sans"/>
              <a:sym typeface="Plus Jakarta Sans"/>
            </a:endParaRPr>
          </a:p>
        </p:txBody>
      </p:sp>
      <p:sp>
        <p:nvSpPr>
          <p:cNvPr id="274" name="Google Shape;274;p18"/>
          <p:cNvSpPr txBox="1"/>
          <p:nvPr/>
        </p:nvSpPr>
        <p:spPr>
          <a:xfrm>
            <a:off x="394854" y="2739374"/>
            <a:ext cx="3290455" cy="33265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startAt="3"/>
            </a:pPr>
            <a:r>
              <a:rPr b="1" i="0" lang="es-MX" sz="1200" u="none" cap="none" strike="noStrike">
                <a:solidFill>
                  <a:srgbClr val="FE872D"/>
                </a:solidFill>
                <a:latin typeface="Plus Jakarta Sans Light"/>
                <a:ea typeface="Plus Jakarta Sans Light"/>
                <a:cs typeface="Plus Jakarta Sans Light"/>
                <a:sym typeface="Plus Jakarta Sans Light"/>
              </a:rPr>
              <a:t> Análisis Predictivo: "¿Qué pasará?"</a:t>
            </a:r>
            <a:endParaRPr b="1" i="0" sz="1200" u="none" cap="none" strike="noStrike">
              <a:solidFill>
                <a:srgbClr val="FE872D"/>
              </a:solidFill>
              <a:latin typeface="Plus Jakarta Sans Light"/>
              <a:ea typeface="Plus Jakarta Sans Light"/>
              <a:cs typeface="Plus Jakarta Sans Light"/>
              <a:sym typeface="Plus Jakarta Sans Light"/>
            </a:endParaRPr>
          </a:p>
        </p:txBody>
      </p:sp>
      <p:sp>
        <p:nvSpPr>
          <p:cNvPr id="275" name="Google Shape;275;p18"/>
          <p:cNvSpPr txBox="1"/>
          <p:nvPr/>
        </p:nvSpPr>
        <p:spPr>
          <a:xfrm>
            <a:off x="275261" y="3203425"/>
            <a:ext cx="3770265" cy="1338798"/>
          </a:xfrm>
          <a:prstGeom prst="rect">
            <a:avLst/>
          </a:prstGeom>
          <a:noFill/>
          <a:ln>
            <a:noFill/>
          </a:ln>
        </p:spPr>
        <p:txBody>
          <a:bodyPr anchorCtr="0" anchor="t" bIns="91425" lIns="91425" spcFirstLastPara="1" rIns="91425" wrap="square" tIns="91425">
            <a:spAutoFit/>
          </a:bodyPr>
          <a:lstStyle/>
          <a:p>
            <a:pPr indent="-301625" lvl="0" marL="457200" marR="0" rtl="0" algn="l">
              <a:lnSpc>
                <a:spcPct val="150000"/>
              </a:lnSpc>
              <a:spcBef>
                <a:spcPts val="0"/>
              </a:spcBef>
              <a:spcAft>
                <a:spcPts val="0"/>
              </a:spcAft>
              <a:buClr>
                <a:srgbClr val="222224"/>
              </a:buClr>
              <a:buSzPts val="1150"/>
              <a:buFont typeface="Plus Jakarta Sans"/>
              <a:buChar char="➔"/>
            </a:pPr>
            <a:r>
              <a:rPr b="0" i="0" lang="es-MX" sz="1000" u="none" cap="none" strike="noStrike">
                <a:solidFill>
                  <a:srgbClr val="260700"/>
                </a:solidFill>
                <a:latin typeface="Plus Jakarta Sans"/>
                <a:ea typeface="Plus Jakarta Sans"/>
                <a:cs typeface="Plus Jakarta Sans"/>
                <a:sym typeface="Plus Jakarta Sans"/>
              </a:rPr>
              <a:t>Utiliza modelos estadísticos y algoritmos de tendencia para identificar la probabilidad de resultados futuros basándose en datos históricos.</a:t>
            </a:r>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000" u="sng" cap="none" strike="noStrike">
                <a:solidFill>
                  <a:srgbClr val="260700"/>
                </a:solidFill>
                <a:latin typeface="Plus Jakarta Sans"/>
                <a:ea typeface="Plus Jakarta Sans"/>
                <a:cs typeface="Plus Jakarta Sans"/>
                <a:sym typeface="Plus Jakarta Sans"/>
              </a:rPr>
              <a:t>Quién lo aplica: </a:t>
            </a:r>
            <a:r>
              <a:rPr b="0" i="0" lang="es-MX" sz="1000" u="none" cap="none" strike="noStrike">
                <a:solidFill>
                  <a:srgbClr val="260700"/>
                </a:solidFill>
                <a:latin typeface="Plus Jakarta Sans"/>
                <a:ea typeface="Plus Jakarta Sans"/>
                <a:cs typeface="Plus Jakarta Sans"/>
                <a:sym typeface="Plus Jakarta Sans"/>
              </a:rPr>
              <a:t>Data Scientist y analistas avanzados.</a:t>
            </a:r>
            <a:endParaRPr b="0" i="0" sz="1000" u="none" cap="none" strike="noStrike">
              <a:solidFill>
                <a:srgbClr val="260700"/>
              </a:solidFill>
              <a:latin typeface="Plus Jakarta Sans"/>
              <a:ea typeface="Plus Jakarta Sans"/>
              <a:cs typeface="Plus Jakarta Sans"/>
              <a:sym typeface="Plus Jakarta Sans"/>
            </a:endParaRPr>
          </a:p>
        </p:txBody>
      </p:sp>
      <p:sp>
        <p:nvSpPr>
          <p:cNvPr id="276" name="Google Shape;276;p18"/>
          <p:cNvSpPr txBox="1"/>
          <p:nvPr/>
        </p:nvSpPr>
        <p:spPr>
          <a:xfrm>
            <a:off x="4925291" y="2739374"/>
            <a:ext cx="3976255" cy="332655"/>
          </a:xfrm>
          <a:prstGeom prst="rect">
            <a:avLst/>
          </a:prstGeom>
          <a:noFill/>
          <a:ln>
            <a:noFill/>
          </a:ln>
        </p:spPr>
        <p:txBody>
          <a:bodyPr anchorCtr="0" anchor="t" bIns="45700" lIns="91425" spcFirstLastPara="1" rIns="91425" wrap="square" tIns="45700">
            <a:spAutoFit/>
          </a:bodyPr>
          <a:lstStyle/>
          <a:p>
            <a:pPr indent="-228600" lvl="0" marL="228600" marR="0" rtl="0" algn="l">
              <a:lnSpc>
                <a:spcPct val="150000"/>
              </a:lnSpc>
              <a:spcBef>
                <a:spcPts val="0"/>
              </a:spcBef>
              <a:spcAft>
                <a:spcPts val="0"/>
              </a:spcAft>
              <a:buClr>
                <a:srgbClr val="FF632B"/>
              </a:buClr>
              <a:buSzPts val="1200"/>
              <a:buFont typeface="Arial"/>
              <a:buAutoNum type="arabicPeriod" startAt="4"/>
            </a:pPr>
            <a:r>
              <a:rPr b="1" i="0" lang="es-MX" sz="1200" u="none" cap="none" strike="noStrike">
                <a:solidFill>
                  <a:srgbClr val="FE872D"/>
                </a:solidFill>
                <a:latin typeface="Plus Jakarta Sans Light"/>
                <a:ea typeface="Plus Jakarta Sans Light"/>
                <a:cs typeface="Plus Jakarta Sans Light"/>
                <a:sym typeface="Plus Jakarta Sans Light"/>
              </a:rPr>
              <a:t>Análisis Prescriptivo: "¿Qué deberíamos hacer?"</a:t>
            </a:r>
            <a:endParaRPr b="1" i="0" sz="1200" u="none" cap="none" strike="noStrike">
              <a:solidFill>
                <a:srgbClr val="FE872D"/>
              </a:solidFill>
              <a:latin typeface="Plus Jakarta Sans Light"/>
              <a:ea typeface="Plus Jakarta Sans Light"/>
              <a:cs typeface="Plus Jakarta Sans Light"/>
              <a:sym typeface="Plus Jakarta Sans Light"/>
            </a:endParaRPr>
          </a:p>
        </p:txBody>
      </p:sp>
      <p:sp>
        <p:nvSpPr>
          <p:cNvPr id="277" name="Google Shape;277;p18"/>
          <p:cNvSpPr txBox="1"/>
          <p:nvPr/>
        </p:nvSpPr>
        <p:spPr>
          <a:xfrm>
            <a:off x="4771061" y="3224592"/>
            <a:ext cx="3770265" cy="1338798"/>
          </a:xfrm>
          <a:prstGeom prst="rect">
            <a:avLst/>
          </a:prstGeom>
          <a:noFill/>
          <a:ln>
            <a:noFill/>
          </a:ln>
        </p:spPr>
        <p:txBody>
          <a:bodyPr anchorCtr="0" anchor="t" bIns="91425" lIns="91425" spcFirstLastPara="1" rIns="91425" wrap="square" tIns="91425">
            <a:spAutoFit/>
          </a:bodyPr>
          <a:lstStyle/>
          <a:p>
            <a:pPr indent="-301625" lvl="0" marL="457200" marR="0" rtl="0" algn="l">
              <a:lnSpc>
                <a:spcPct val="150000"/>
              </a:lnSpc>
              <a:spcBef>
                <a:spcPts val="0"/>
              </a:spcBef>
              <a:spcAft>
                <a:spcPts val="0"/>
              </a:spcAft>
              <a:buClr>
                <a:srgbClr val="222224"/>
              </a:buClr>
              <a:buSzPts val="1150"/>
              <a:buFont typeface="Plus Jakarta Sans"/>
              <a:buChar char="➔"/>
            </a:pPr>
            <a:r>
              <a:rPr b="0" i="0" lang="es-MX" sz="1000" u="none" cap="none" strike="noStrike">
                <a:solidFill>
                  <a:srgbClr val="260700"/>
                </a:solidFill>
                <a:latin typeface="Plus Jakarta Sans"/>
                <a:ea typeface="Plus Jakarta Sans"/>
                <a:cs typeface="Plus Jakarta Sans"/>
                <a:sym typeface="Plus Jakarta Sans"/>
              </a:rPr>
              <a:t>Es el nivel más avanzado; no solo predice el futuro, sino que sugiere el mejor camino a seguir y las consecuencias de cada decisión.</a:t>
            </a:r>
            <a:endParaRPr/>
          </a:p>
          <a:p>
            <a:pPr indent="-301625" lvl="0" marL="457200" marR="0" rtl="0" algn="l">
              <a:lnSpc>
                <a:spcPct val="150000"/>
              </a:lnSpc>
              <a:spcBef>
                <a:spcPts val="0"/>
              </a:spcBef>
              <a:spcAft>
                <a:spcPts val="0"/>
              </a:spcAft>
              <a:buClr>
                <a:srgbClr val="222224"/>
              </a:buClr>
              <a:buSzPts val="1150"/>
              <a:buFont typeface="Plus Jakarta Sans"/>
              <a:buChar char="➔"/>
            </a:pPr>
            <a:r>
              <a:rPr b="0" i="0" lang="es-MX" sz="1000" u="sng" cap="none" strike="noStrike">
                <a:solidFill>
                  <a:srgbClr val="260700"/>
                </a:solidFill>
                <a:latin typeface="Plus Jakarta Sans"/>
                <a:ea typeface="Plus Jakarta Sans"/>
                <a:cs typeface="Plus Jakarta Sans"/>
                <a:sym typeface="Plus Jakarta Sans"/>
              </a:rPr>
              <a:t>Quién lo aplica: </a:t>
            </a:r>
            <a:r>
              <a:rPr b="0" i="0" lang="es-MX" sz="1000" u="none" cap="none" strike="noStrike">
                <a:solidFill>
                  <a:srgbClr val="260700"/>
                </a:solidFill>
                <a:latin typeface="Plus Jakarta Sans"/>
                <a:ea typeface="Plus Jakarta Sans"/>
                <a:cs typeface="Plus Jakarta Sans"/>
                <a:sym typeface="Plus Jakarta Sans"/>
              </a:rPr>
              <a:t>Data Scientist e ingenieros de Inteligencia Artificial.</a:t>
            </a:r>
            <a:endParaRPr b="0" i="0" sz="1000" u="none" cap="none" strike="noStrike">
              <a:solidFill>
                <a:srgbClr val="260700"/>
              </a:solidFill>
              <a:latin typeface="Plus Jakarta Sans"/>
              <a:ea typeface="Plus Jakarta Sans"/>
              <a:cs typeface="Plus Jakarta Sans"/>
              <a:sym typeface="Plus Jakarta Sans"/>
            </a:endParaRPr>
          </a:p>
        </p:txBody>
      </p:sp>
      <p:pic>
        <p:nvPicPr>
          <p:cNvPr id="278" name="Google Shape;278;p18"/>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id="283" name="Google Shape;283;p19" title="logo gradient 1.png"/>
          <p:cNvPicPr preferRelativeResize="0"/>
          <p:nvPr/>
        </p:nvPicPr>
        <p:blipFill rotWithShape="1">
          <a:blip r:embed="rId3">
            <a:alphaModFix/>
          </a:blip>
          <a:srcRect b="0" l="0" r="0" t="0"/>
          <a:stretch/>
        </p:blipFill>
        <p:spPr>
          <a:xfrm>
            <a:off x="7346325" y="4691250"/>
            <a:ext cx="1547950" cy="452250"/>
          </a:xfrm>
          <a:prstGeom prst="rect">
            <a:avLst/>
          </a:prstGeom>
          <a:noFill/>
          <a:ln>
            <a:noFill/>
          </a:ln>
        </p:spPr>
      </p:pic>
      <p:sp>
        <p:nvSpPr>
          <p:cNvPr id="284" name="Google Shape;284;p19"/>
          <p:cNvSpPr txBox="1"/>
          <p:nvPr/>
        </p:nvSpPr>
        <p:spPr>
          <a:xfrm>
            <a:off x="872837" y="89540"/>
            <a:ext cx="462741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Technical Skills + Soft Skills: </a:t>
            </a:r>
            <a:endParaRPr/>
          </a:p>
        </p:txBody>
      </p:sp>
      <p:sp>
        <p:nvSpPr>
          <p:cNvPr id="285" name="Google Shape;285;p19"/>
          <p:cNvSpPr/>
          <p:nvPr/>
        </p:nvSpPr>
        <p:spPr>
          <a:xfrm>
            <a:off x="654874" y="1346140"/>
            <a:ext cx="3768715" cy="3627639"/>
          </a:xfrm>
          <a:prstGeom prst="roundRect">
            <a:avLst>
              <a:gd fmla="val 16667"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1200"/>
              <a:buFont typeface="Arial"/>
              <a:buNone/>
            </a:pPr>
            <a:r>
              <a:t/>
            </a:r>
            <a:endParaRPr b="0" i="0" sz="1200" u="none" cap="none" strike="noStrike">
              <a:solidFill>
                <a:srgbClr val="000000"/>
              </a:solidFill>
              <a:latin typeface="Plus Jakarta Sans"/>
              <a:ea typeface="Plus Jakarta Sans"/>
              <a:cs typeface="Plus Jakarta Sans"/>
              <a:sym typeface="Plus Jakarta Sans"/>
            </a:endParaRPr>
          </a:p>
        </p:txBody>
      </p:sp>
      <p:sp>
        <p:nvSpPr>
          <p:cNvPr id="286" name="Google Shape;286;p19"/>
          <p:cNvSpPr/>
          <p:nvPr/>
        </p:nvSpPr>
        <p:spPr>
          <a:xfrm>
            <a:off x="4816730" y="1426321"/>
            <a:ext cx="3768715" cy="3627639"/>
          </a:xfrm>
          <a:prstGeom prst="roundRect">
            <a:avLst>
              <a:gd fmla="val 16667"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200000"/>
              </a:lnSpc>
              <a:spcBef>
                <a:spcPts val="0"/>
              </a:spcBef>
              <a:spcAft>
                <a:spcPts val="0"/>
              </a:spcAft>
              <a:buClr>
                <a:srgbClr val="000000"/>
              </a:buClr>
              <a:buSzPts val="1200"/>
              <a:buFont typeface="Arial"/>
              <a:buNone/>
            </a:pPr>
            <a:r>
              <a:t/>
            </a:r>
            <a:endParaRPr b="0" i="0" sz="1200" u="none" cap="none" strike="noStrike">
              <a:solidFill>
                <a:srgbClr val="000000"/>
              </a:solidFill>
              <a:latin typeface="Plus Jakarta Sans"/>
              <a:ea typeface="Plus Jakarta Sans"/>
              <a:cs typeface="Plus Jakarta Sans"/>
              <a:sym typeface="Plus Jakarta Sans"/>
            </a:endParaRPr>
          </a:p>
        </p:txBody>
      </p:sp>
      <p:pic>
        <p:nvPicPr>
          <p:cNvPr id="287" name="Google Shape;287;p19"/>
          <p:cNvPicPr preferRelativeResize="0"/>
          <p:nvPr/>
        </p:nvPicPr>
        <p:blipFill rotWithShape="1">
          <a:blip r:embed="rId4">
            <a:alphaModFix/>
          </a:blip>
          <a:srcRect b="0" l="0" r="0" t="0"/>
          <a:stretch/>
        </p:blipFill>
        <p:spPr>
          <a:xfrm>
            <a:off x="5327074" y="1602334"/>
            <a:ext cx="2874536" cy="3275611"/>
          </a:xfrm>
          <a:prstGeom prst="rect">
            <a:avLst/>
          </a:prstGeom>
          <a:noFill/>
          <a:ln>
            <a:noFill/>
          </a:ln>
          <a:effectLst>
            <a:outerShdw blurRad="292100" rotWithShape="0" algn="tl" dir="2700000" dist="139700">
              <a:srgbClr val="333333">
                <a:alpha val="65098"/>
              </a:srgbClr>
            </a:outerShdw>
          </a:effectLst>
        </p:spPr>
      </p:pic>
      <p:sp>
        <p:nvSpPr>
          <p:cNvPr id="288" name="Google Shape;288;p19"/>
          <p:cNvSpPr/>
          <p:nvPr/>
        </p:nvSpPr>
        <p:spPr>
          <a:xfrm>
            <a:off x="663513" y="731860"/>
            <a:ext cx="7816973" cy="452250"/>
          </a:xfrm>
          <a:prstGeom prst="roundRect">
            <a:avLst>
              <a:gd fmla="val 30840"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b="1" i="0" lang="es-MX" sz="1200" u="none" cap="none" strike="noStrike">
                <a:solidFill>
                  <a:schemeClr val="dk1"/>
                </a:solidFill>
                <a:latin typeface="Plus Jakarta Sans ExtraBold"/>
                <a:ea typeface="Plus Jakarta Sans ExtraBold"/>
                <a:cs typeface="Plus Jakarta Sans ExtraBold"/>
                <a:sym typeface="Plus Jakarta Sans ExtraBold"/>
              </a:rPr>
              <a:t>El equilibrio del Analista</a:t>
            </a:r>
            <a:endParaRPr/>
          </a:p>
        </p:txBody>
      </p:sp>
      <p:sp>
        <p:nvSpPr>
          <p:cNvPr id="289" name="Google Shape;289;p19"/>
          <p:cNvSpPr txBox="1"/>
          <p:nvPr/>
        </p:nvSpPr>
        <p:spPr>
          <a:xfrm>
            <a:off x="756367" y="2234520"/>
            <a:ext cx="3565727" cy="1746119"/>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Clr>
                <a:srgbClr val="000000"/>
              </a:buClr>
              <a:buSzPts val="1400"/>
              <a:buFont typeface="Arial"/>
              <a:buNone/>
            </a:pPr>
            <a:r>
              <a:rPr b="0" i="0" lang="es-MX" sz="1400" u="none" cap="none" strike="noStrike">
                <a:solidFill>
                  <a:srgbClr val="000000"/>
                </a:solidFill>
                <a:latin typeface="Plus Jakarta Sans"/>
                <a:ea typeface="Plus Jakarta Sans"/>
                <a:cs typeface="Plus Jakarta Sans"/>
                <a:sym typeface="Plus Jakarta Sans"/>
              </a:rPr>
              <a:t>El desempeño del </a:t>
            </a:r>
            <a:r>
              <a:rPr b="0" i="0" lang="es-MX" sz="1400" u="none" cap="none" strike="noStrike">
                <a:solidFill>
                  <a:srgbClr val="FF632B"/>
                </a:solidFill>
                <a:latin typeface="Plus Jakarta Sans"/>
                <a:ea typeface="Plus Jakarta Sans"/>
                <a:cs typeface="Plus Jakarta Sans"/>
                <a:sym typeface="Plus Jakarta Sans"/>
              </a:rPr>
              <a:t>Analista</a:t>
            </a:r>
            <a:r>
              <a:rPr b="0" i="0" lang="es-MX" sz="1400" u="none" cap="none" strike="noStrike">
                <a:solidFill>
                  <a:srgbClr val="000000"/>
                </a:solidFill>
                <a:latin typeface="Plus Jakarta Sans"/>
                <a:ea typeface="Plus Jakarta Sans"/>
                <a:cs typeface="Plus Jakarta Sans"/>
                <a:sym typeface="Plus Jakarta Sans"/>
              </a:rPr>
              <a:t> depende tanto del </a:t>
            </a:r>
            <a:r>
              <a:rPr b="0" i="1" lang="es-MX" sz="1400" u="none" cap="none" strike="noStrike">
                <a:solidFill>
                  <a:srgbClr val="F8F2E8"/>
                </a:solidFill>
                <a:highlight>
                  <a:srgbClr val="FF632B"/>
                </a:highlight>
                <a:latin typeface="Plus Jakarta Sans"/>
                <a:ea typeface="Plus Jakarta Sans"/>
                <a:cs typeface="Plus Jakarta Sans"/>
                <a:sym typeface="Plus Jakarta Sans"/>
              </a:rPr>
              <a:t>dominio técnico</a:t>
            </a:r>
            <a:r>
              <a:rPr b="0" i="1" lang="es-MX" sz="1400" u="none" cap="none" strike="noStrike">
                <a:solidFill>
                  <a:srgbClr val="F8F2E8"/>
                </a:solidFill>
                <a:latin typeface="Plus Jakarta Sans"/>
                <a:ea typeface="Plus Jakarta Sans"/>
                <a:cs typeface="Plus Jakarta Sans"/>
                <a:sym typeface="Plus Jakarta Sans"/>
              </a:rPr>
              <a:t> </a:t>
            </a:r>
            <a:r>
              <a:rPr b="0" i="0" lang="es-MX" sz="1400" u="none" cap="none" strike="noStrike">
                <a:solidFill>
                  <a:srgbClr val="000000"/>
                </a:solidFill>
                <a:latin typeface="Plus Jakarta Sans"/>
                <a:ea typeface="Plus Jakarta Sans"/>
                <a:cs typeface="Plus Jakarta Sans"/>
                <a:sym typeface="Plus Jakarta Sans"/>
              </a:rPr>
              <a:t>como de su </a:t>
            </a:r>
            <a:r>
              <a:rPr b="0" i="1" lang="es-MX" sz="1400" u="none" cap="none" strike="noStrike">
                <a:solidFill>
                  <a:srgbClr val="F8F2E8"/>
                </a:solidFill>
                <a:highlight>
                  <a:srgbClr val="FE64A3"/>
                </a:highlight>
                <a:latin typeface="Plus Jakarta Sans"/>
                <a:ea typeface="Plus Jakarta Sans"/>
                <a:cs typeface="Plus Jakarta Sans"/>
                <a:sym typeface="Plus Jakarta Sans"/>
              </a:rPr>
              <a:t>capacidad de interpretación</a:t>
            </a:r>
            <a:r>
              <a:rPr b="0" i="1" lang="es-MX" sz="1400" u="none" cap="none" strike="noStrike">
                <a:solidFill>
                  <a:srgbClr val="F8F2E8"/>
                </a:solidFill>
                <a:latin typeface="Plus Jakarta Sans"/>
                <a:ea typeface="Plus Jakarta Sans"/>
                <a:cs typeface="Plus Jakarta Sans"/>
                <a:sym typeface="Plus Jakarta Sans"/>
              </a:rPr>
              <a:t> </a:t>
            </a:r>
            <a:r>
              <a:rPr b="0" i="1" lang="es-MX" sz="1400" u="none" cap="none" strike="noStrike">
                <a:solidFill>
                  <a:schemeClr val="dk1"/>
                </a:solidFill>
                <a:latin typeface="Plus Jakarta Sans"/>
                <a:ea typeface="Plus Jakarta Sans"/>
                <a:cs typeface="Plus Jakarta Sans"/>
                <a:sym typeface="Plus Jakarta Sans"/>
              </a:rPr>
              <a:t>y</a:t>
            </a:r>
            <a:r>
              <a:rPr b="0" i="1" lang="es-MX" sz="1400" u="none" cap="none" strike="noStrike">
                <a:solidFill>
                  <a:srgbClr val="F8F2E8"/>
                </a:solidFill>
                <a:latin typeface="Plus Jakarta Sans"/>
                <a:ea typeface="Plus Jakarta Sans"/>
                <a:cs typeface="Plus Jakarta Sans"/>
                <a:sym typeface="Plus Jakarta Sans"/>
              </a:rPr>
              <a:t> </a:t>
            </a:r>
            <a:r>
              <a:rPr b="0" i="1" lang="es-MX" sz="1400" u="none" cap="none" strike="noStrike">
                <a:solidFill>
                  <a:srgbClr val="F8F2E8"/>
                </a:solidFill>
                <a:highlight>
                  <a:srgbClr val="FE64A3"/>
                </a:highlight>
                <a:latin typeface="Plus Jakarta Sans"/>
                <a:ea typeface="Plus Jakarta Sans"/>
                <a:cs typeface="Plus Jakarta Sans"/>
                <a:sym typeface="Plus Jakarta Sans"/>
              </a:rPr>
              <a:t>comunicación</a:t>
            </a:r>
            <a:r>
              <a:rPr b="0" i="0" lang="es-MX" sz="1400" u="none" cap="none" strike="noStrike">
                <a:solidFill>
                  <a:srgbClr val="000000"/>
                </a:solidFill>
                <a:latin typeface="Plus Jakarta Sans"/>
                <a:ea typeface="Plus Jakarta Sans"/>
                <a:cs typeface="Plus Jakarta Sans"/>
                <a:sym typeface="Plus Jakarta Sans"/>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nvSpPr>
        <p:spPr>
          <a:xfrm>
            <a:off x="329922" y="3604076"/>
            <a:ext cx="6327187" cy="1539424"/>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Auge del data Analytics en la actualidad</a:t>
            </a:r>
            <a:endParaRPr/>
          </a:p>
        </p:txBody>
      </p:sp>
      <p:pic>
        <p:nvPicPr>
          <p:cNvPr id="295" name="Google Shape;295;p20"/>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pic>
        <p:nvPicPr>
          <p:cNvPr id="296" name="Google Shape;296;p20" title="Group 1321317428.png"/>
          <p:cNvPicPr preferRelativeResize="0"/>
          <p:nvPr/>
        </p:nvPicPr>
        <p:blipFill rotWithShape="1">
          <a:blip r:embed="rId4">
            <a:alphaModFix/>
          </a:blip>
          <a:srcRect b="0" l="0" r="0" t="0"/>
          <a:stretch/>
        </p:blipFill>
        <p:spPr>
          <a:xfrm>
            <a:off x="8189306" y="57767"/>
            <a:ext cx="861174" cy="8577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1"/>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1"/>
          <p:cNvSpPr txBox="1"/>
          <p:nvPr/>
        </p:nvSpPr>
        <p:spPr>
          <a:xfrm>
            <a:off x="782142" y="775395"/>
            <a:ext cx="31031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400" u="none" cap="none" strike="noStrike">
                <a:solidFill>
                  <a:srgbClr val="F8F2E8"/>
                </a:solidFill>
                <a:latin typeface="Plus Jakarta Sans ExtraBold"/>
                <a:ea typeface="Plus Jakarta Sans ExtraBold"/>
                <a:cs typeface="Plus Jakarta Sans ExtraBold"/>
                <a:sym typeface="Plus Jakarta Sans ExtraBold"/>
              </a:rPr>
              <a:t>Casos de éxito</a:t>
            </a:r>
            <a:endParaRPr b="0" i="0" sz="2400" u="none" cap="none" strike="noStrike">
              <a:solidFill>
                <a:srgbClr val="F8F2E8"/>
              </a:solidFill>
              <a:latin typeface="Plus Jakarta Sans ExtraBold"/>
              <a:ea typeface="Plus Jakarta Sans ExtraBold"/>
              <a:cs typeface="Plus Jakarta Sans ExtraBold"/>
              <a:sym typeface="Plus Jakarta Sans ExtraBold"/>
            </a:endParaRPr>
          </a:p>
        </p:txBody>
      </p:sp>
      <p:pic>
        <p:nvPicPr>
          <p:cNvPr id="303" name="Google Shape;303;p21"/>
          <p:cNvPicPr preferRelativeResize="0"/>
          <p:nvPr/>
        </p:nvPicPr>
        <p:blipFill rotWithShape="1">
          <a:blip r:embed="rId3">
            <a:alphaModFix/>
          </a:blip>
          <a:srcRect b="0" l="0" r="0" t="0"/>
          <a:stretch/>
        </p:blipFill>
        <p:spPr>
          <a:xfrm>
            <a:off x="2412518" y="3569236"/>
            <a:ext cx="1141604" cy="1141604"/>
          </a:xfrm>
          <a:prstGeom prst="rect">
            <a:avLst/>
          </a:prstGeom>
          <a:noFill/>
          <a:ln>
            <a:noFill/>
          </a:ln>
        </p:spPr>
      </p:pic>
      <p:pic>
        <p:nvPicPr>
          <p:cNvPr id="304" name="Google Shape;304;p21"/>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
        <p:nvSpPr>
          <p:cNvPr id="305" name="Google Shape;305;p21"/>
          <p:cNvSpPr/>
          <p:nvPr/>
        </p:nvSpPr>
        <p:spPr>
          <a:xfrm>
            <a:off x="7015346" y="2145203"/>
            <a:ext cx="1290454" cy="1274758"/>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06" name="Google Shape;306;p21"/>
          <p:cNvPicPr preferRelativeResize="0"/>
          <p:nvPr/>
        </p:nvPicPr>
        <p:blipFill rotWithShape="1">
          <a:blip r:embed="rId5">
            <a:alphaModFix/>
          </a:blip>
          <a:srcRect b="28218" l="34793" r="36455" t="25454"/>
          <a:stretch/>
        </p:blipFill>
        <p:spPr>
          <a:xfrm>
            <a:off x="7306352" y="2180024"/>
            <a:ext cx="708442" cy="1141604"/>
          </a:xfrm>
          <a:prstGeom prst="rect">
            <a:avLst/>
          </a:prstGeom>
          <a:noFill/>
          <a:ln>
            <a:noFill/>
          </a:ln>
        </p:spPr>
      </p:pic>
      <p:sp>
        <p:nvSpPr>
          <p:cNvPr id="307" name="Google Shape;307;p21"/>
          <p:cNvSpPr/>
          <p:nvPr/>
        </p:nvSpPr>
        <p:spPr>
          <a:xfrm>
            <a:off x="3926773" y="2238257"/>
            <a:ext cx="1290454" cy="1274758"/>
          </a:xfrm>
          <a:prstGeom prst="ellipse">
            <a:avLst/>
          </a:prstGeom>
          <a:noFill/>
          <a:ln cap="flat" cmpd="sng" w="25400">
            <a:solidFill>
              <a:srgbClr val="FE64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08" name="Google Shape;308;p21"/>
          <p:cNvPicPr preferRelativeResize="0"/>
          <p:nvPr/>
        </p:nvPicPr>
        <p:blipFill rotWithShape="1">
          <a:blip r:embed="rId6">
            <a:alphaModFix/>
          </a:blip>
          <a:srcRect b="12592" l="25879" r="27095" t="12122"/>
          <a:stretch/>
        </p:blipFill>
        <p:spPr>
          <a:xfrm>
            <a:off x="1096093" y="2320061"/>
            <a:ext cx="1028801" cy="926482"/>
          </a:xfrm>
          <a:prstGeom prst="rect">
            <a:avLst/>
          </a:prstGeom>
          <a:noFill/>
          <a:ln>
            <a:noFill/>
          </a:ln>
        </p:spPr>
      </p:pic>
      <p:sp>
        <p:nvSpPr>
          <p:cNvPr id="309" name="Google Shape;309;p21"/>
          <p:cNvSpPr/>
          <p:nvPr/>
        </p:nvSpPr>
        <p:spPr>
          <a:xfrm>
            <a:off x="937267" y="2216519"/>
            <a:ext cx="1290454" cy="1274758"/>
          </a:xfrm>
          <a:prstGeom prst="ellipse">
            <a:avLst/>
          </a:prstGeom>
          <a:noFill/>
          <a:ln cap="flat" cmpd="sng" w="25400">
            <a:solidFill>
              <a:srgbClr val="FF632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310" name="Google Shape;310;p21"/>
          <p:cNvPicPr preferRelativeResize="0"/>
          <p:nvPr/>
        </p:nvPicPr>
        <p:blipFill rotWithShape="1">
          <a:blip r:embed="rId7">
            <a:alphaModFix/>
          </a:blip>
          <a:srcRect b="11111" l="21244" r="21582" t="11448"/>
          <a:stretch/>
        </p:blipFill>
        <p:spPr>
          <a:xfrm>
            <a:off x="4234400" y="2390657"/>
            <a:ext cx="706018" cy="956296"/>
          </a:xfrm>
          <a:prstGeom prst="rect">
            <a:avLst/>
          </a:prstGeom>
          <a:noFill/>
          <a:ln>
            <a:noFill/>
          </a:ln>
        </p:spPr>
      </p:pic>
      <p:pic>
        <p:nvPicPr>
          <p:cNvPr id="311" name="Google Shape;311;p21"/>
          <p:cNvPicPr preferRelativeResize="0"/>
          <p:nvPr/>
        </p:nvPicPr>
        <p:blipFill rotWithShape="1">
          <a:blip r:embed="rId8">
            <a:alphaModFix/>
          </a:blip>
          <a:srcRect b="0" l="0" r="0" t="0"/>
          <a:stretch/>
        </p:blipFill>
        <p:spPr>
          <a:xfrm>
            <a:off x="5721351" y="3881475"/>
            <a:ext cx="1027512" cy="537838"/>
          </a:xfrm>
          <a:prstGeom prst="rect">
            <a:avLst/>
          </a:prstGeom>
          <a:noFill/>
          <a:ln>
            <a:noFill/>
          </a:ln>
        </p:spPr>
      </p:pic>
      <p:sp>
        <p:nvSpPr>
          <p:cNvPr id="312" name="Google Shape;312;p21"/>
          <p:cNvSpPr/>
          <p:nvPr/>
        </p:nvSpPr>
        <p:spPr>
          <a:xfrm>
            <a:off x="5589880" y="3513015"/>
            <a:ext cx="1290454" cy="1274758"/>
          </a:xfrm>
          <a:prstGeom prst="ellipse">
            <a:avLst/>
          </a:prstGeom>
          <a:noFill/>
          <a:ln cap="flat" cmpd="sng" w="25400">
            <a:solidFill>
              <a:srgbClr val="0C5AD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22" title="Vector.png"/>
          <p:cNvPicPr preferRelativeResize="0"/>
          <p:nvPr/>
        </p:nvPicPr>
        <p:blipFill rotWithShape="1">
          <a:blip r:embed="rId3">
            <a:alphaModFix/>
          </a:blip>
          <a:srcRect b="0" l="29" r="39" t="0"/>
          <a:stretch/>
        </p:blipFill>
        <p:spPr>
          <a:xfrm>
            <a:off x="7531541" y="2249120"/>
            <a:ext cx="524575" cy="447625"/>
          </a:xfrm>
          <a:prstGeom prst="rect">
            <a:avLst/>
          </a:prstGeom>
          <a:noFill/>
          <a:ln>
            <a:noFill/>
          </a:ln>
        </p:spPr>
      </p:pic>
      <p:sp>
        <p:nvSpPr>
          <p:cNvPr id="318" name="Google Shape;318;p22"/>
          <p:cNvSpPr txBox="1"/>
          <p:nvPr/>
        </p:nvSpPr>
        <p:spPr>
          <a:xfrm>
            <a:off x="2098959" y="2472933"/>
            <a:ext cx="4946076" cy="1477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MX" sz="1800" u="none" cap="none" strike="noStrike">
                <a:solidFill>
                  <a:srgbClr val="FFFFFF"/>
                </a:solidFill>
                <a:latin typeface="Book Antiqua"/>
                <a:ea typeface="Book Antiqua"/>
                <a:cs typeface="Book Antiqua"/>
                <a:sym typeface="Book Antiqua"/>
              </a:rPr>
              <a:t>10 MIN</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s-MX" sz="1800" u="none" cap="none" strike="noStrike">
                <a:solidFill>
                  <a:srgbClr val="FFFFFF"/>
                </a:solidFill>
                <a:latin typeface="Book Antiqua"/>
                <a:ea typeface="Book Antiqua"/>
                <a:cs typeface="Book Antiqua"/>
                <a:sym typeface="Book Antiqua"/>
              </a:rPr>
              <a:t>🎵 </a:t>
            </a:r>
            <a:r>
              <a:rPr b="0" i="1" lang="es-MX" sz="1800" u="none" cap="none" strike="noStrike">
                <a:solidFill>
                  <a:srgbClr val="FFFFFF"/>
                </a:solidFill>
                <a:latin typeface="Book Antiqua"/>
                <a:ea typeface="Book Antiqua"/>
                <a:cs typeface="Book Antiqua"/>
                <a:sym typeface="Book Antiqua"/>
              </a:rPr>
              <a:t>Momento para estirar las piernas, tomar agua, café, matecito etc.</a:t>
            </a:r>
            <a:br>
              <a:rPr b="0" i="0" lang="es-MX" sz="1800" u="none" cap="none" strike="noStrike">
                <a:solidFill>
                  <a:srgbClr val="FFFFFF"/>
                </a:solidFill>
                <a:latin typeface="Book Antiqua"/>
                <a:ea typeface="Book Antiqua"/>
                <a:cs typeface="Book Antiqua"/>
                <a:sym typeface="Book Antiqua"/>
              </a:rPr>
            </a:br>
            <a:r>
              <a:rPr b="0" i="0" lang="es-MX" sz="1800" u="none" cap="none" strike="noStrike">
                <a:solidFill>
                  <a:srgbClr val="FFFFFF"/>
                </a:solidFill>
                <a:latin typeface="Book Antiqua"/>
                <a:ea typeface="Book Antiqua"/>
                <a:cs typeface="Book Antiqua"/>
                <a:sym typeface="Book Antiqua"/>
              </a:rPr>
              <a:t>🕘 </a:t>
            </a:r>
            <a:r>
              <a:rPr b="0" i="1" lang="es-MX" sz="1800" u="none" cap="none" strike="noStrike">
                <a:solidFill>
                  <a:srgbClr val="FFFFFF"/>
                </a:solidFill>
                <a:latin typeface="Book Antiqua"/>
                <a:ea typeface="Book Antiqua"/>
                <a:cs typeface="Book Antiqua"/>
                <a:sym typeface="Book Antiqua"/>
              </a:rPr>
              <a:t>Volvemos en 10 minutos seguir conociendo este mundo!!</a:t>
            </a:r>
            <a:endParaRPr b="0" i="0" sz="1800" u="none" cap="none" strike="noStrike">
              <a:solidFill>
                <a:srgbClr val="FFFFFF"/>
              </a:solidFill>
              <a:latin typeface="Book Antiqua"/>
              <a:ea typeface="Book Antiqua"/>
              <a:cs typeface="Book Antiqua"/>
              <a:sym typeface="Book Antiqua"/>
            </a:endParaRPr>
          </a:p>
        </p:txBody>
      </p:sp>
      <p:sp>
        <p:nvSpPr>
          <p:cNvPr id="319" name="Google Shape;319;p22"/>
          <p:cNvSpPr txBox="1"/>
          <p:nvPr/>
        </p:nvSpPr>
        <p:spPr>
          <a:xfrm>
            <a:off x="3830779" y="1888158"/>
            <a:ext cx="148243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MX" sz="3200" u="none" cap="none" strike="noStrike">
                <a:solidFill>
                  <a:schemeClr val="lt1"/>
                </a:solidFill>
                <a:latin typeface="Anton"/>
                <a:ea typeface="Anton"/>
                <a:cs typeface="Anton"/>
                <a:sym typeface="Anton"/>
              </a:rPr>
              <a:t>BREAK</a:t>
            </a:r>
            <a:r>
              <a:rPr b="0" i="0" lang="es-MX" sz="3200" u="none" cap="none" strike="noStrike">
                <a:solidFill>
                  <a:srgbClr val="FFC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descr="la hora del té " id="320" name="Google Shape;320;p22"/>
          <p:cNvPicPr preferRelativeResize="0"/>
          <p:nvPr/>
        </p:nvPicPr>
        <p:blipFill rotWithShape="1">
          <a:blip r:embed="rId4">
            <a:alphaModFix/>
          </a:blip>
          <a:srcRect b="0" l="0" r="0" t="0"/>
          <a:stretch/>
        </p:blipFill>
        <p:spPr>
          <a:xfrm>
            <a:off x="4267198" y="1211127"/>
            <a:ext cx="609600" cy="609600"/>
          </a:xfrm>
          <a:prstGeom prst="rect">
            <a:avLst/>
          </a:prstGeom>
          <a:noFill/>
          <a:ln>
            <a:noFill/>
          </a:ln>
          <a:effectLst>
            <a:outerShdw blurRad="292100" rotWithShape="0" algn="tl" dir="2700000" dist="139700">
              <a:srgbClr val="333333">
                <a:alpha val="64706"/>
              </a:srgbClr>
            </a:outerShdw>
          </a:effectLst>
        </p:spPr>
      </p:pic>
      <p:pic>
        <p:nvPicPr>
          <p:cNvPr id="321" name="Google Shape;321;p22"/>
          <p:cNvPicPr preferRelativeResize="0"/>
          <p:nvPr/>
        </p:nvPicPr>
        <p:blipFill rotWithShape="1">
          <a:blip r:embed="rId5">
            <a:alphaModFix/>
          </a:blip>
          <a:srcRect b="0" l="0" r="0" t="0"/>
          <a:stretch/>
        </p:blipFill>
        <p:spPr>
          <a:xfrm>
            <a:off x="7531541" y="4692357"/>
            <a:ext cx="1548518" cy="45114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3"/>
          <p:cNvSpPr txBox="1"/>
          <p:nvPr/>
        </p:nvSpPr>
        <p:spPr>
          <a:xfrm>
            <a:off x="468468" y="3067212"/>
            <a:ext cx="6327187"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Tecnologías que intervienen en el análisis de datos</a:t>
            </a:r>
            <a:endParaRPr/>
          </a:p>
        </p:txBody>
      </p:sp>
      <p:pic>
        <p:nvPicPr>
          <p:cNvPr id="327" name="Google Shape;327;p23" title="Group 1321317428.png"/>
          <p:cNvPicPr preferRelativeResize="0"/>
          <p:nvPr/>
        </p:nvPicPr>
        <p:blipFill rotWithShape="1">
          <a:blip r:embed="rId3">
            <a:alphaModFix/>
          </a:blip>
          <a:srcRect b="0" l="0" r="0" t="0"/>
          <a:stretch/>
        </p:blipFill>
        <p:spPr>
          <a:xfrm>
            <a:off x="8189306" y="57767"/>
            <a:ext cx="861174" cy="8577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4"/>
          <p:cNvSpPr txBox="1"/>
          <p:nvPr/>
        </p:nvSpPr>
        <p:spPr>
          <a:xfrm>
            <a:off x="1087867" y="181912"/>
            <a:ext cx="303721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3200" u="none" cap="none" strike="noStrike">
                <a:solidFill>
                  <a:srgbClr val="FF632B"/>
                </a:solidFill>
                <a:latin typeface="Plus Jakarta Sans ExtraBold"/>
                <a:ea typeface="Plus Jakarta Sans ExtraBold"/>
                <a:cs typeface="Plus Jakarta Sans ExtraBold"/>
                <a:sym typeface="Plus Jakarta Sans ExtraBold"/>
              </a:rPr>
              <a:t>Visualización</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3" name="Google Shape;333;p24"/>
          <p:cNvSpPr txBox="1"/>
          <p:nvPr/>
        </p:nvSpPr>
        <p:spPr>
          <a:xfrm>
            <a:off x="689175" y="1332675"/>
            <a:ext cx="3834600" cy="899255"/>
          </a:xfrm>
          <a:prstGeom prst="rect">
            <a:avLst/>
          </a:prstGeom>
          <a:noFill/>
          <a:ln>
            <a:noFill/>
          </a:ln>
        </p:spPr>
        <p:txBody>
          <a:bodyPr anchorCtr="0" anchor="t" bIns="91425" lIns="91425" spcFirstLastPara="1" rIns="91425" wrap="square" tIns="91425">
            <a:spAutoFit/>
          </a:bodyPr>
          <a:lstStyle/>
          <a:p>
            <a:pPr indent="0" lvl="0" marL="0" marR="38100" rtl="0" algn="just">
              <a:lnSpc>
                <a:spcPct val="128571"/>
              </a:lnSpc>
              <a:spcBef>
                <a:spcPts val="0"/>
              </a:spcBef>
              <a:spcAft>
                <a:spcPts val="0"/>
              </a:spcAft>
              <a:buClr>
                <a:schemeClr val="dk1"/>
              </a:buClr>
              <a:buSzPts val="1100"/>
              <a:buFont typeface="Arial"/>
              <a:buNone/>
            </a:pPr>
            <a:r>
              <a:rPr b="0" i="0" lang="es-MX" sz="1200" u="none" cap="none" strike="noStrike">
                <a:solidFill>
                  <a:srgbClr val="222222"/>
                </a:solidFill>
                <a:latin typeface="Plus Jakarta Sans Light"/>
                <a:ea typeface="Plus Jakarta Sans Light"/>
                <a:cs typeface="Plus Jakarta Sans Light"/>
                <a:sym typeface="Plus Jakarta Sans Light"/>
              </a:rPr>
              <a:t>Sistemas que permiten la visualización de información con gráficos y técnicas de medición.</a:t>
            </a:r>
            <a:endParaRPr b="0" i="0" sz="1200" u="none" cap="none" strike="noStrike">
              <a:solidFill>
                <a:schemeClr val="dk1"/>
              </a:solidFill>
              <a:latin typeface="Plus Jakarta Sans Light"/>
              <a:ea typeface="Plus Jakarta Sans Light"/>
              <a:cs typeface="Plus Jakarta Sans Light"/>
              <a:sym typeface="Plus Jakarta Sans Light"/>
            </a:endParaRPr>
          </a:p>
          <a:p>
            <a:pPr indent="0" lvl="0" marL="0" marR="38100" rtl="0" algn="just">
              <a:lnSpc>
                <a:spcPct val="128571"/>
              </a:lnSpc>
              <a:spcBef>
                <a:spcPts val="0"/>
              </a:spcBef>
              <a:spcAft>
                <a:spcPts val="0"/>
              </a:spcAft>
              <a:buClr>
                <a:schemeClr val="dk1"/>
              </a:buClr>
              <a:buSzPts val="1100"/>
              <a:buFont typeface="Arial"/>
              <a:buNone/>
            </a:pPr>
            <a:r>
              <a:t/>
            </a:r>
            <a:endParaRPr b="0" i="0" sz="1200" u="none" cap="none" strike="noStrike">
              <a:solidFill>
                <a:srgbClr val="222222"/>
              </a:solidFill>
              <a:latin typeface="Plus Jakarta Sans Light"/>
              <a:ea typeface="Plus Jakarta Sans Light"/>
              <a:cs typeface="Plus Jakarta Sans Light"/>
              <a:sym typeface="Plus Jakarta Sans Light"/>
            </a:endParaRPr>
          </a:p>
        </p:txBody>
      </p:sp>
      <p:pic>
        <p:nvPicPr>
          <p:cNvPr id="334" name="Google Shape;334;p24"/>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pic>
        <p:nvPicPr>
          <p:cNvPr id="335" name="Google Shape;335;p24">
            <a:hlinkClick r:id="rId4"/>
          </p:cNvPr>
          <p:cNvPicPr preferRelativeResize="0"/>
          <p:nvPr/>
        </p:nvPicPr>
        <p:blipFill rotWithShape="1">
          <a:blip r:embed="rId5">
            <a:alphaModFix/>
          </a:blip>
          <a:srcRect b="0" l="0" r="0" t="0"/>
          <a:stretch/>
        </p:blipFill>
        <p:spPr>
          <a:xfrm>
            <a:off x="5702642" y="833398"/>
            <a:ext cx="1076179" cy="1066162"/>
          </a:xfrm>
          <a:prstGeom prst="rect">
            <a:avLst/>
          </a:prstGeom>
          <a:noFill/>
          <a:ln>
            <a:noFill/>
          </a:ln>
        </p:spPr>
      </p:pic>
      <p:pic>
        <p:nvPicPr>
          <p:cNvPr id="336" name="Google Shape;336;p24">
            <a:hlinkClick r:id="rId6"/>
          </p:cNvPr>
          <p:cNvPicPr preferRelativeResize="0"/>
          <p:nvPr/>
        </p:nvPicPr>
        <p:blipFill rotWithShape="1">
          <a:blip r:embed="rId7">
            <a:alphaModFix/>
          </a:blip>
          <a:srcRect b="14138" l="22269" r="26760" t="19769"/>
          <a:stretch/>
        </p:blipFill>
        <p:spPr>
          <a:xfrm>
            <a:off x="7317527" y="867203"/>
            <a:ext cx="1026789" cy="998553"/>
          </a:xfrm>
          <a:prstGeom prst="rect">
            <a:avLst/>
          </a:prstGeom>
          <a:noFill/>
          <a:ln>
            <a:noFill/>
          </a:ln>
        </p:spPr>
      </p:pic>
      <p:pic>
        <p:nvPicPr>
          <p:cNvPr id="337" name="Google Shape;337;p24">
            <a:hlinkClick r:id="rId8"/>
          </p:cNvPr>
          <p:cNvPicPr preferRelativeResize="0"/>
          <p:nvPr/>
        </p:nvPicPr>
        <p:blipFill rotWithShape="1">
          <a:blip r:embed="rId9">
            <a:alphaModFix/>
          </a:blip>
          <a:srcRect b="0" l="0" r="0" t="0"/>
          <a:stretch/>
        </p:blipFill>
        <p:spPr>
          <a:xfrm>
            <a:off x="5417701" y="2189471"/>
            <a:ext cx="1646060" cy="954715"/>
          </a:xfrm>
          <a:prstGeom prst="rect">
            <a:avLst/>
          </a:prstGeom>
          <a:noFill/>
          <a:ln>
            <a:noFill/>
          </a:ln>
        </p:spPr>
      </p:pic>
      <p:pic>
        <p:nvPicPr>
          <p:cNvPr id="338" name="Google Shape;338;p24">
            <a:hlinkClick r:id="rId10"/>
          </p:cNvPr>
          <p:cNvPicPr preferRelativeResize="0"/>
          <p:nvPr/>
        </p:nvPicPr>
        <p:blipFill rotWithShape="1">
          <a:blip r:embed="rId11">
            <a:alphaModFix/>
          </a:blip>
          <a:srcRect b="0" l="0" r="0" t="0"/>
          <a:stretch/>
        </p:blipFill>
        <p:spPr>
          <a:xfrm>
            <a:off x="7547871" y="2181719"/>
            <a:ext cx="1016523" cy="1016523"/>
          </a:xfrm>
          <a:prstGeom prst="rect">
            <a:avLst/>
          </a:prstGeom>
          <a:noFill/>
          <a:ln>
            <a:noFill/>
          </a:ln>
        </p:spPr>
      </p:pic>
      <p:pic>
        <p:nvPicPr>
          <p:cNvPr id="339" name="Google Shape;339;p24">
            <a:hlinkClick r:id="rId12"/>
          </p:cNvPr>
          <p:cNvPicPr preferRelativeResize="0"/>
          <p:nvPr/>
        </p:nvPicPr>
        <p:blipFill rotWithShape="1">
          <a:blip r:embed="rId13">
            <a:alphaModFix/>
          </a:blip>
          <a:srcRect b="0" l="0" r="0" t="0"/>
          <a:stretch/>
        </p:blipFill>
        <p:spPr>
          <a:xfrm>
            <a:off x="6478371" y="3528669"/>
            <a:ext cx="1352550" cy="847725"/>
          </a:xfrm>
          <a:prstGeom prst="rect">
            <a:avLst/>
          </a:prstGeom>
          <a:noFill/>
          <a:ln>
            <a:noFill/>
          </a:ln>
        </p:spPr>
      </p:pic>
      <p:pic>
        <p:nvPicPr>
          <p:cNvPr id="340" name="Google Shape;340;p24"/>
          <p:cNvPicPr preferRelativeResize="0"/>
          <p:nvPr/>
        </p:nvPicPr>
        <p:blipFill rotWithShape="1">
          <a:blip r:embed="rId14">
            <a:alphaModFix/>
          </a:blip>
          <a:srcRect b="0" l="0" r="0" t="0"/>
          <a:stretch/>
        </p:blipFill>
        <p:spPr>
          <a:xfrm>
            <a:off x="1087867" y="2965007"/>
            <a:ext cx="3336911" cy="176203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5"/>
          <p:cNvSpPr txBox="1"/>
          <p:nvPr/>
        </p:nvSpPr>
        <p:spPr>
          <a:xfrm>
            <a:off x="792005" y="122166"/>
            <a:ext cx="7008104"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3200" u="none" cap="none" strike="noStrike">
                <a:solidFill>
                  <a:srgbClr val="FF632B"/>
                </a:solidFill>
                <a:latin typeface="Plus Jakarta Sans ExtraBold"/>
                <a:ea typeface="Plus Jakarta Sans ExtraBold"/>
                <a:cs typeface="Plus Jakarta Sans ExtraBold"/>
                <a:sym typeface="Plus Jakarta Sans ExtraBold"/>
              </a:rPr>
              <a:t>Lenguajes de programación</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6" name="Google Shape;346;p25"/>
          <p:cNvSpPr txBox="1"/>
          <p:nvPr/>
        </p:nvSpPr>
        <p:spPr>
          <a:xfrm>
            <a:off x="544500" y="1593075"/>
            <a:ext cx="3834600" cy="661048"/>
          </a:xfrm>
          <a:prstGeom prst="rect">
            <a:avLst/>
          </a:prstGeom>
          <a:noFill/>
          <a:ln>
            <a:noFill/>
          </a:ln>
        </p:spPr>
        <p:txBody>
          <a:bodyPr anchorCtr="0" anchor="t" bIns="91425" lIns="91425" spcFirstLastPara="1" rIns="91425" wrap="square" tIns="91425">
            <a:spAutoFit/>
          </a:bodyPr>
          <a:lstStyle/>
          <a:p>
            <a:pPr indent="0" lvl="0" marL="0" marR="38100" rtl="0" algn="l">
              <a:lnSpc>
                <a:spcPct val="128571"/>
              </a:lnSpc>
              <a:spcBef>
                <a:spcPts val="0"/>
              </a:spcBef>
              <a:spcAft>
                <a:spcPts val="0"/>
              </a:spcAft>
              <a:buClr>
                <a:schemeClr val="dk1"/>
              </a:buClr>
              <a:buSzPts val="1100"/>
              <a:buFont typeface="Arial"/>
              <a:buNone/>
            </a:pPr>
            <a:r>
              <a:rPr b="0" i="0" lang="es-MX" sz="1200" u="none" cap="none" strike="noStrike">
                <a:solidFill>
                  <a:srgbClr val="222222"/>
                </a:solidFill>
                <a:latin typeface="Plus Jakarta Sans Light"/>
                <a:ea typeface="Plus Jakarta Sans Light"/>
                <a:cs typeface="Plus Jakarta Sans Light"/>
                <a:sym typeface="Plus Jakarta Sans Light"/>
              </a:rPr>
              <a:t>Herramientas creadas para la manipulación de datos,  análisis estadístico y gráfico. </a:t>
            </a:r>
            <a:endParaRPr b="0" i="0" sz="1200" u="none" cap="none" strike="noStrike">
              <a:solidFill>
                <a:srgbClr val="222222"/>
              </a:solidFill>
              <a:latin typeface="Plus Jakarta Sans Light"/>
              <a:ea typeface="Plus Jakarta Sans Light"/>
              <a:cs typeface="Plus Jakarta Sans Light"/>
              <a:sym typeface="Plus Jakarta Sans Light"/>
            </a:endParaRPr>
          </a:p>
        </p:txBody>
      </p:sp>
      <p:pic>
        <p:nvPicPr>
          <p:cNvPr id="347" name="Google Shape;347;p25">
            <a:hlinkClick r:id="rId3"/>
          </p:cNvPr>
          <p:cNvPicPr preferRelativeResize="0"/>
          <p:nvPr/>
        </p:nvPicPr>
        <p:blipFill rotWithShape="1">
          <a:blip r:embed="rId4">
            <a:alphaModFix/>
          </a:blip>
          <a:srcRect b="0" l="0" r="0" t="0"/>
          <a:stretch/>
        </p:blipFill>
        <p:spPr>
          <a:xfrm>
            <a:off x="1446175" y="2758650"/>
            <a:ext cx="1240174" cy="1085151"/>
          </a:xfrm>
          <a:prstGeom prst="rect">
            <a:avLst/>
          </a:prstGeom>
          <a:noFill/>
          <a:ln>
            <a:noFill/>
          </a:ln>
          <a:effectLst>
            <a:outerShdw blurRad="292100" rotWithShape="0" algn="tl" dir="2700000" dist="139700">
              <a:srgbClr val="333333">
                <a:alpha val="65098"/>
              </a:srgbClr>
            </a:outerShdw>
          </a:effectLst>
        </p:spPr>
      </p:pic>
      <p:pic>
        <p:nvPicPr>
          <p:cNvPr id="348" name="Google Shape;348;p25">
            <a:hlinkClick r:id="rId5"/>
          </p:cNvPr>
          <p:cNvPicPr preferRelativeResize="0"/>
          <p:nvPr/>
        </p:nvPicPr>
        <p:blipFill rotWithShape="1">
          <a:blip r:embed="rId6">
            <a:alphaModFix/>
          </a:blip>
          <a:srcRect b="0" l="0" r="0" t="0"/>
          <a:stretch/>
        </p:blipFill>
        <p:spPr>
          <a:xfrm>
            <a:off x="5884400" y="2558200"/>
            <a:ext cx="2393498" cy="1595252"/>
          </a:xfrm>
          <a:prstGeom prst="rect">
            <a:avLst/>
          </a:prstGeom>
          <a:noFill/>
          <a:ln>
            <a:noFill/>
          </a:ln>
          <a:effectLst>
            <a:outerShdw blurRad="292100" rotWithShape="0" algn="tl" dir="2700000" dist="139700">
              <a:srgbClr val="333333">
                <a:alpha val="65098"/>
              </a:srgbClr>
            </a:outerShdw>
          </a:effectLst>
        </p:spPr>
      </p:pic>
      <p:pic>
        <p:nvPicPr>
          <p:cNvPr id="349" name="Google Shape;349;p25"/>
          <p:cNvPicPr preferRelativeResize="0"/>
          <p:nvPr/>
        </p:nvPicPr>
        <p:blipFill rotWithShape="1">
          <a:blip r:embed="rId7">
            <a:alphaModFix/>
          </a:blip>
          <a:srcRect b="0" l="0" r="0" t="0"/>
          <a:stretch/>
        </p:blipFill>
        <p:spPr>
          <a:xfrm>
            <a:off x="7531541" y="4692357"/>
            <a:ext cx="1548518" cy="451143"/>
          </a:xfrm>
          <a:prstGeom prst="rect">
            <a:avLst/>
          </a:prstGeom>
          <a:noFill/>
          <a:ln>
            <a:noFill/>
          </a:ln>
        </p:spPr>
      </p:pic>
      <p:pic>
        <p:nvPicPr>
          <p:cNvPr id="350" name="Google Shape;350;p25">
            <a:hlinkClick r:id="rId8"/>
          </p:cNvPr>
          <p:cNvPicPr preferRelativeResize="0"/>
          <p:nvPr/>
        </p:nvPicPr>
        <p:blipFill rotWithShape="1">
          <a:blip r:embed="rId9">
            <a:alphaModFix/>
          </a:blip>
          <a:srcRect b="13968" l="11935" r="11531" t="10365"/>
          <a:stretch/>
        </p:blipFill>
        <p:spPr>
          <a:xfrm>
            <a:off x="3879274" y="2688161"/>
            <a:ext cx="1240174" cy="1226127"/>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MX" sz="13000" u="none" cap="none" strike="noStrike">
                <a:solidFill>
                  <a:srgbClr val="FF632B"/>
                </a:solidFill>
                <a:latin typeface="Plus Jakarta Sans ExtraBold"/>
                <a:ea typeface="Plus Jakarta Sans ExtraBold"/>
                <a:cs typeface="Plus Jakarta Sans ExtraBold"/>
                <a:sym typeface="Plus Jakarta Sans ExtraBold"/>
              </a:rPr>
              <a:t>02</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56" name="Google Shape;356;p26"/>
          <p:cNvSpPr txBox="1"/>
          <p:nvPr/>
        </p:nvSpPr>
        <p:spPr>
          <a:xfrm>
            <a:off x="266699" y="3039585"/>
            <a:ext cx="6355773" cy="19549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El punto de partida: almacenar y consultar datos</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id="361" name="Google Shape;361;p27" title="Group 1321317428.png"/>
          <p:cNvPicPr preferRelativeResize="0"/>
          <p:nvPr/>
        </p:nvPicPr>
        <p:blipFill rotWithShape="1">
          <a:blip r:embed="rId3">
            <a:alphaModFix/>
          </a:blip>
          <a:srcRect b="0" l="0" r="0" t="0"/>
          <a:stretch/>
        </p:blipFill>
        <p:spPr>
          <a:xfrm>
            <a:off x="8189306" y="57767"/>
            <a:ext cx="861174" cy="857749"/>
          </a:xfrm>
          <a:prstGeom prst="rect">
            <a:avLst/>
          </a:prstGeom>
          <a:noFill/>
          <a:ln>
            <a:noFill/>
          </a:ln>
        </p:spPr>
      </p:pic>
      <p:sp>
        <p:nvSpPr>
          <p:cNvPr id="362" name="Google Shape;362;p27"/>
          <p:cNvSpPr txBox="1"/>
          <p:nvPr/>
        </p:nvSpPr>
        <p:spPr>
          <a:xfrm>
            <a:off x="228600" y="3708066"/>
            <a:ext cx="6691745" cy="137655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MX" sz="4000" u="none" cap="none" strike="noStrike">
                <a:solidFill>
                  <a:srgbClr val="F8F2E8"/>
                </a:solidFill>
                <a:latin typeface="Plus Jakarta Sans ExtraBold"/>
                <a:ea typeface="Plus Jakarta Sans ExtraBold"/>
                <a:cs typeface="Plus Jakarta Sans ExtraBold"/>
                <a:sym typeface="Plus Jakarta Sans ExtraBold"/>
              </a:rPr>
              <a:t>SQL: la puerta de entrada a las bases de datos</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8"/>
          <p:cNvSpPr txBox="1"/>
          <p:nvPr/>
        </p:nvSpPr>
        <p:spPr>
          <a:xfrm>
            <a:off x="561110" y="205793"/>
            <a:ext cx="7980217" cy="4924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600"/>
              <a:buFont typeface="Arial"/>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Base de Datos vs. Dataset: </a:t>
            </a:r>
            <a:endParaRPr/>
          </a:p>
        </p:txBody>
      </p:sp>
      <p:sp>
        <p:nvSpPr>
          <p:cNvPr id="368" name="Google Shape;368;p28"/>
          <p:cNvSpPr txBox="1"/>
          <p:nvPr/>
        </p:nvSpPr>
        <p:spPr>
          <a:xfrm>
            <a:off x="561110" y="1869271"/>
            <a:ext cx="4572000" cy="2068836"/>
          </a:xfrm>
          <a:prstGeom prst="rect">
            <a:avLst/>
          </a:prstGeom>
          <a:noFill/>
          <a:ln>
            <a:noFill/>
          </a:ln>
        </p:spPr>
        <p:txBody>
          <a:bodyPr anchorCtr="0" anchor="t" bIns="45700" lIns="91425" spcFirstLastPara="1" rIns="91425" wrap="square" tIns="45700">
            <a:spAutoFit/>
          </a:bodyPr>
          <a:lstStyle/>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Qué es: Conjunto de datos extraído, generalmente tabular (CSV, JSON, Excel).</a:t>
            </a:r>
            <a:endParaRPr/>
          </a:p>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Temporalidad y Portabilidad: Es una "instantánea" fácil de compartir y transportar.</a:t>
            </a:r>
            <a:endParaRPr/>
          </a:p>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Flexibilidad: Ideal para experimentación y análisis ad-hoc sin afectar producción.</a:t>
            </a:r>
            <a:endParaRPr/>
          </a:p>
        </p:txBody>
      </p:sp>
      <p:pic>
        <p:nvPicPr>
          <p:cNvPr id="369" name="Google Shape;369;p28"/>
          <p:cNvPicPr preferRelativeResize="0"/>
          <p:nvPr/>
        </p:nvPicPr>
        <p:blipFill rotWithShape="1">
          <a:blip r:embed="rId3">
            <a:alphaModFix/>
          </a:blip>
          <a:srcRect b="0" l="0" r="0" t="0"/>
          <a:stretch/>
        </p:blipFill>
        <p:spPr>
          <a:xfrm>
            <a:off x="5535756" y="1368865"/>
            <a:ext cx="3127663" cy="2597727"/>
          </a:xfrm>
          <a:prstGeom prst="rect">
            <a:avLst/>
          </a:prstGeom>
          <a:noFill/>
          <a:ln cap="flat" cmpd="sng" w="28575">
            <a:solidFill>
              <a:srgbClr val="FF632B"/>
            </a:solidFill>
            <a:prstDash val="solid"/>
            <a:round/>
            <a:headEnd len="sm" w="sm" type="none"/>
            <a:tailEnd len="sm" w="sm" type="none"/>
          </a:ln>
          <a:effectLst>
            <a:outerShdw blurRad="292100" rotWithShape="0" algn="tl" dir="2700000" dist="139700">
              <a:srgbClr val="333333">
                <a:alpha val="65098"/>
              </a:srgbClr>
            </a:outerShdw>
          </a:effectLst>
        </p:spPr>
      </p:pic>
      <p:pic>
        <p:nvPicPr>
          <p:cNvPr id="370" name="Google Shape;370;p28"/>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
        <p:nvSpPr>
          <p:cNvPr id="371" name="Google Shape;371;p28"/>
          <p:cNvSpPr txBox="1"/>
          <p:nvPr/>
        </p:nvSpPr>
        <p:spPr>
          <a:xfrm>
            <a:off x="561110" y="1051504"/>
            <a:ext cx="394854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Plus Jakarta Sans ExtraBold"/>
                <a:ea typeface="Plus Jakarta Sans ExtraBold"/>
                <a:cs typeface="Plus Jakarta Sans ExtraBold"/>
                <a:sym typeface="Plus Jakarta Sans ExtraBold"/>
              </a:rPr>
              <a:t>Dataset: una muestra lista para analizar</a:t>
            </a:r>
            <a:endParaRPr b="0" i="0" sz="1400" u="none" cap="none" strike="noStrike">
              <a:solidFill>
                <a:srgbClr val="000000"/>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txBox="1"/>
          <p:nvPr/>
        </p:nvSpPr>
        <p:spPr>
          <a:xfrm>
            <a:off x="630382" y="120795"/>
            <a:ext cx="3747655" cy="4924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600"/>
              <a:buFont typeface="Arial"/>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Base de Datos vs. Dataset: </a:t>
            </a:r>
            <a:endParaRPr/>
          </a:p>
        </p:txBody>
      </p:sp>
      <p:sp>
        <p:nvSpPr>
          <p:cNvPr id="377" name="Google Shape;377;p29"/>
          <p:cNvSpPr txBox="1"/>
          <p:nvPr/>
        </p:nvSpPr>
        <p:spPr>
          <a:xfrm>
            <a:off x="394855" y="1843140"/>
            <a:ext cx="4572000" cy="2407390"/>
          </a:xfrm>
          <a:prstGeom prst="rect">
            <a:avLst/>
          </a:prstGeom>
          <a:noFill/>
          <a:ln>
            <a:noFill/>
          </a:ln>
        </p:spPr>
        <p:txBody>
          <a:bodyPr anchorCtr="0" anchor="t" bIns="45700" lIns="91425" spcFirstLastPara="1" rIns="91425" wrap="square" tIns="45700">
            <a:spAutoFit/>
          </a:bodyPr>
          <a:lstStyle/>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Qué es: Sistema estructurado gestionado por un DBMS (Sistema de gestión de bases de datos. Ej: SQL Server, PostgreSQL).</a:t>
            </a:r>
            <a:endParaRPr/>
          </a:p>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Persistencia y Gobernanza: Almacenamiento seguro, permanente y con control de accesos.</a:t>
            </a:r>
            <a:endParaRPr/>
          </a:p>
          <a:p>
            <a:pPr indent="-301625" lvl="0" marL="457200" marR="0" rtl="0" algn="l">
              <a:lnSpc>
                <a:spcPct val="200000"/>
              </a:lnSpc>
              <a:spcBef>
                <a:spcPts val="0"/>
              </a:spcBef>
              <a:spcAft>
                <a:spcPts val="0"/>
              </a:spcAft>
              <a:buClr>
                <a:srgbClr val="222224"/>
              </a:buClr>
              <a:buSzPts val="1150"/>
              <a:buFont typeface="Plus Jakarta Sans"/>
              <a:buChar char="➔"/>
            </a:pPr>
            <a:r>
              <a:rPr b="0" i="0" lang="es-MX" sz="1100" u="none" cap="none" strike="noStrike">
                <a:solidFill>
                  <a:srgbClr val="222224"/>
                </a:solidFill>
                <a:latin typeface="Plus Jakarta Sans"/>
                <a:ea typeface="Plus Jakarta Sans"/>
                <a:cs typeface="Plus Jakarta Sans"/>
                <a:sym typeface="Plus Jakarta Sans"/>
              </a:rPr>
              <a:t>Rendimiento: Esquema rígido, optimizado para transacciones y múltiples usuarios concurrentes.</a:t>
            </a:r>
            <a:endParaRPr/>
          </a:p>
        </p:txBody>
      </p:sp>
      <p:pic>
        <p:nvPicPr>
          <p:cNvPr id="378" name="Google Shape;378;p29"/>
          <p:cNvPicPr preferRelativeResize="0"/>
          <p:nvPr/>
        </p:nvPicPr>
        <p:blipFill rotWithShape="1">
          <a:blip r:embed="rId3">
            <a:alphaModFix/>
          </a:blip>
          <a:srcRect b="0" l="0" r="0" t="0"/>
          <a:stretch/>
        </p:blipFill>
        <p:spPr>
          <a:xfrm>
            <a:off x="5410201" y="1843140"/>
            <a:ext cx="3054927" cy="1806198"/>
          </a:xfrm>
          <a:prstGeom prst="rect">
            <a:avLst/>
          </a:prstGeom>
          <a:noFill/>
          <a:ln cap="flat" cmpd="sng" w="28575">
            <a:solidFill>
              <a:srgbClr val="FF632B"/>
            </a:solidFill>
            <a:prstDash val="solid"/>
            <a:round/>
            <a:headEnd len="sm" w="sm" type="none"/>
            <a:tailEnd len="sm" w="sm" type="none"/>
          </a:ln>
          <a:effectLst>
            <a:outerShdw blurRad="292100" rotWithShape="0" algn="tl" dir="2700000" dist="139700">
              <a:srgbClr val="333333">
                <a:alpha val="65098"/>
              </a:srgbClr>
            </a:outerShdw>
          </a:effectLst>
        </p:spPr>
      </p:pic>
      <p:pic>
        <p:nvPicPr>
          <p:cNvPr id="379" name="Google Shape;379;p29"/>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
        <p:nvSpPr>
          <p:cNvPr id="380" name="Google Shape;380;p29"/>
          <p:cNvSpPr txBox="1"/>
          <p:nvPr/>
        </p:nvSpPr>
        <p:spPr>
          <a:xfrm>
            <a:off x="630382" y="1074285"/>
            <a:ext cx="493221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400" u="none" cap="none" strike="noStrike">
                <a:solidFill>
                  <a:srgbClr val="000000"/>
                </a:solidFill>
                <a:latin typeface="Plus Jakarta Sans ExtraBold"/>
                <a:ea typeface="Plus Jakarta Sans ExtraBold"/>
                <a:cs typeface="Plus Jakarta Sans ExtraBold"/>
                <a:sym typeface="Plus Jakarta Sans ExtraBold"/>
              </a:rPr>
              <a:t>Base de datos: estructura, seguridad y persistencia</a:t>
            </a:r>
            <a:endParaRPr b="0" i="0" sz="1400" u="none" cap="none" strike="noStrike">
              <a:solidFill>
                <a:srgbClr val="000000"/>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0"/>
          <p:cNvSpPr/>
          <p:nvPr/>
        </p:nvSpPr>
        <p:spPr>
          <a:xfrm>
            <a:off x="296786" y="2018239"/>
            <a:ext cx="3977341" cy="2636370"/>
          </a:xfrm>
          <a:prstGeom prst="roundRect">
            <a:avLst>
              <a:gd fmla="val 16667"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Plus Jakarta Sans"/>
                <a:ea typeface="Plus Jakarta Sans"/>
                <a:cs typeface="Plus Jakarta Sans"/>
                <a:sym typeface="Plus Jakarta Sans"/>
              </a:rPr>
              <a:t>.</a:t>
            </a:r>
            <a:endParaRPr/>
          </a:p>
        </p:txBody>
      </p:sp>
      <p:sp>
        <p:nvSpPr>
          <p:cNvPr id="386" name="Google Shape;386;p30"/>
          <p:cNvSpPr/>
          <p:nvPr/>
        </p:nvSpPr>
        <p:spPr>
          <a:xfrm>
            <a:off x="551400" y="892602"/>
            <a:ext cx="8041200" cy="840300"/>
          </a:xfrm>
          <a:prstGeom prst="roundRect">
            <a:avLst>
              <a:gd fmla="val 30840"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50000"/>
              </a:lnSpc>
              <a:spcBef>
                <a:spcPts val="0"/>
              </a:spcBef>
              <a:spcAft>
                <a:spcPts val="0"/>
              </a:spcAft>
              <a:buNone/>
            </a:pPr>
            <a:r>
              <a:rPr b="1" i="0" lang="es-MX" sz="1200" u="none" cap="none" strike="noStrike">
                <a:solidFill>
                  <a:schemeClr val="dk1"/>
                </a:solidFill>
                <a:latin typeface="Plus Jakarta Sans Light"/>
                <a:ea typeface="Plus Jakarta Sans Light"/>
                <a:cs typeface="Plus Jakarta Sans Light"/>
                <a:sym typeface="Plus Jakarta Sans Light"/>
              </a:rPr>
              <a:t>Sistemas que permiten que la información pueda ser gestionada por personas o aplicaciones. </a:t>
            </a:r>
            <a:endParaRPr/>
          </a:p>
        </p:txBody>
      </p:sp>
      <p:sp>
        <p:nvSpPr>
          <p:cNvPr id="387" name="Google Shape;387;p30"/>
          <p:cNvSpPr txBox="1"/>
          <p:nvPr/>
        </p:nvSpPr>
        <p:spPr>
          <a:xfrm>
            <a:off x="1029546" y="164393"/>
            <a:ext cx="6767455"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FF632B"/>
                </a:solidFill>
                <a:latin typeface="Plus Jakarta Sans ExtraBold"/>
                <a:ea typeface="Plus Jakarta Sans ExtraBold"/>
                <a:cs typeface="Plus Jakarta Sans ExtraBold"/>
                <a:sym typeface="Plus Jakarta Sans ExtraBold"/>
              </a:rPr>
              <a:t>Bases de Datos: Relacionales vs No Relacionales</a:t>
            </a:r>
            <a:endParaRPr/>
          </a:p>
        </p:txBody>
      </p:sp>
      <p:sp>
        <p:nvSpPr>
          <p:cNvPr id="388" name="Google Shape;388;p30"/>
          <p:cNvSpPr/>
          <p:nvPr/>
        </p:nvSpPr>
        <p:spPr>
          <a:xfrm>
            <a:off x="4869873" y="2018239"/>
            <a:ext cx="3977341" cy="2636370"/>
          </a:xfrm>
          <a:prstGeom prst="roundRect">
            <a:avLst>
              <a:gd fmla="val 16667" name="adj"/>
            </a:avLst>
          </a:prstGeom>
          <a:solidFill>
            <a:srgbClr val="F8F2E8"/>
          </a:solidFill>
          <a:ln cap="flat" cmpd="sng" w="9525">
            <a:solidFill>
              <a:srgbClr val="FF632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t/>
            </a:r>
            <a:endParaRPr b="0" i="0" sz="1200" u="none" cap="none" strike="noStrike">
              <a:solidFill>
                <a:srgbClr val="000000"/>
              </a:solidFill>
              <a:latin typeface="Plus Jakarta Sans"/>
              <a:ea typeface="Plus Jakarta Sans"/>
              <a:cs typeface="Plus Jakarta Sans"/>
              <a:sym typeface="Plus Jakarta Sans"/>
            </a:endParaRPr>
          </a:p>
        </p:txBody>
      </p:sp>
      <p:pic>
        <p:nvPicPr>
          <p:cNvPr id="389" name="Google Shape;389;p30"/>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sp>
        <p:nvSpPr>
          <p:cNvPr id="390" name="Google Shape;390;p30"/>
          <p:cNvSpPr txBox="1"/>
          <p:nvPr/>
        </p:nvSpPr>
        <p:spPr>
          <a:xfrm>
            <a:off x="1412462" y="2111655"/>
            <a:ext cx="1674300" cy="255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i="0" lang="es-MX" sz="1350" u="none" cap="none" strike="noStrike">
                <a:solidFill>
                  <a:schemeClr val="lt1"/>
                </a:solidFill>
                <a:highlight>
                  <a:srgbClr val="FE64A3"/>
                </a:highlight>
                <a:latin typeface="DM Sans"/>
                <a:ea typeface="DM Sans"/>
                <a:cs typeface="DM Sans"/>
                <a:sym typeface="DM Sans"/>
              </a:rPr>
              <a:t>Relacionales</a:t>
            </a:r>
            <a:endParaRPr b="1" i="0" sz="1350" u="none" cap="none" strike="noStrike">
              <a:solidFill>
                <a:schemeClr val="lt1"/>
              </a:solidFill>
              <a:highlight>
                <a:srgbClr val="FE64A3"/>
              </a:highlight>
              <a:latin typeface="DM Sans"/>
              <a:ea typeface="DM Sans"/>
              <a:cs typeface="DM Sans"/>
              <a:sym typeface="DM Sans"/>
            </a:endParaRPr>
          </a:p>
        </p:txBody>
      </p:sp>
      <p:sp>
        <p:nvSpPr>
          <p:cNvPr id="391" name="Google Shape;391;p30"/>
          <p:cNvSpPr txBox="1"/>
          <p:nvPr/>
        </p:nvSpPr>
        <p:spPr>
          <a:xfrm>
            <a:off x="839747" y="4229375"/>
            <a:ext cx="3010200" cy="255600"/>
          </a:xfrm>
          <a:prstGeom prst="rect">
            <a:avLst/>
          </a:prstGeom>
          <a:noFill/>
          <a:ln>
            <a:noFill/>
          </a:ln>
        </p:spPr>
        <p:txBody>
          <a:bodyPr anchorCtr="0" anchor="ctr" bIns="91425" lIns="91425" spcFirstLastPara="1" rIns="91425" wrap="square" tIns="91425">
            <a:noAutofit/>
          </a:bodyPr>
          <a:lstStyle/>
          <a:p>
            <a:pPr indent="0" lvl="0" marL="0" marR="38100" rtl="0" algn="l">
              <a:lnSpc>
                <a:spcPct val="128571"/>
              </a:lnSpc>
              <a:spcBef>
                <a:spcPts val="0"/>
              </a:spcBef>
              <a:spcAft>
                <a:spcPts val="0"/>
              </a:spcAft>
              <a:buClr>
                <a:srgbClr val="000000"/>
              </a:buClr>
              <a:buSzPts val="1100"/>
              <a:buFont typeface="Arial"/>
              <a:buNone/>
            </a:pPr>
            <a:r>
              <a:rPr b="1" i="0" lang="es-MX" sz="1200" u="none" cap="none" strike="noStrike">
                <a:solidFill>
                  <a:srgbClr val="222222"/>
                </a:solidFill>
                <a:latin typeface="DM Sans"/>
                <a:ea typeface="DM Sans"/>
                <a:cs typeface="DM Sans"/>
                <a:sym typeface="DM Sans"/>
              </a:rPr>
              <a:t>Se organiza de forma estructurada, en tablas.</a:t>
            </a:r>
            <a:endParaRPr b="1" i="0" sz="1200" u="none" cap="none" strike="noStrike">
              <a:solidFill>
                <a:srgbClr val="000000"/>
              </a:solidFill>
              <a:latin typeface="DM Sans"/>
              <a:ea typeface="DM Sans"/>
              <a:cs typeface="DM Sans"/>
              <a:sym typeface="DM Sans"/>
            </a:endParaRPr>
          </a:p>
        </p:txBody>
      </p:sp>
      <p:pic>
        <p:nvPicPr>
          <p:cNvPr id="392" name="Google Shape;392;p30"/>
          <p:cNvPicPr preferRelativeResize="0"/>
          <p:nvPr/>
        </p:nvPicPr>
        <p:blipFill rotWithShape="1">
          <a:blip r:embed="rId4">
            <a:alphaModFix/>
          </a:blip>
          <a:srcRect b="0" l="0" r="0" t="0"/>
          <a:stretch/>
        </p:blipFill>
        <p:spPr>
          <a:xfrm>
            <a:off x="754187" y="2674436"/>
            <a:ext cx="2990850" cy="1323975"/>
          </a:xfrm>
          <a:prstGeom prst="rect">
            <a:avLst/>
          </a:prstGeom>
          <a:noFill/>
          <a:ln>
            <a:noFill/>
          </a:ln>
          <a:effectLst>
            <a:outerShdw blurRad="292100" rotWithShape="0" algn="tl" dir="2700000" dist="139700">
              <a:srgbClr val="333333">
                <a:alpha val="65098"/>
              </a:srgbClr>
            </a:outerShdw>
          </a:effectLst>
        </p:spPr>
      </p:pic>
      <p:sp>
        <p:nvSpPr>
          <p:cNvPr id="393" name="Google Shape;393;p30"/>
          <p:cNvSpPr txBox="1"/>
          <p:nvPr/>
        </p:nvSpPr>
        <p:spPr>
          <a:xfrm>
            <a:off x="5741701" y="2072044"/>
            <a:ext cx="2055300" cy="3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1" i="1" lang="es-MX" sz="1350" u="none" cap="none" strike="noStrike">
                <a:solidFill>
                  <a:schemeClr val="lt1"/>
                </a:solidFill>
                <a:highlight>
                  <a:srgbClr val="FF632B"/>
                </a:highlight>
                <a:latin typeface="DM Sans"/>
                <a:ea typeface="DM Sans"/>
                <a:cs typeface="DM Sans"/>
                <a:sym typeface="DM Sans"/>
              </a:rPr>
              <a:t>No Relacionales</a:t>
            </a:r>
            <a:endParaRPr b="1" i="1" sz="1350" u="none" cap="none" strike="noStrike">
              <a:solidFill>
                <a:schemeClr val="lt1"/>
              </a:solidFill>
              <a:highlight>
                <a:srgbClr val="FF632B"/>
              </a:highlight>
              <a:latin typeface="DM Sans"/>
              <a:ea typeface="DM Sans"/>
              <a:cs typeface="DM Sans"/>
              <a:sym typeface="DM Sans"/>
            </a:endParaRPr>
          </a:p>
        </p:txBody>
      </p:sp>
      <p:sp>
        <p:nvSpPr>
          <p:cNvPr id="394" name="Google Shape;394;p30"/>
          <p:cNvSpPr txBox="1"/>
          <p:nvPr/>
        </p:nvSpPr>
        <p:spPr>
          <a:xfrm>
            <a:off x="5328200" y="4208075"/>
            <a:ext cx="3193800" cy="255600"/>
          </a:xfrm>
          <a:prstGeom prst="rect">
            <a:avLst/>
          </a:prstGeom>
          <a:noFill/>
          <a:ln>
            <a:noFill/>
          </a:ln>
        </p:spPr>
        <p:txBody>
          <a:bodyPr anchorCtr="0" anchor="ctr" bIns="91425" lIns="91425" spcFirstLastPara="1" rIns="91425" wrap="square" tIns="91425">
            <a:noAutofit/>
          </a:bodyPr>
          <a:lstStyle/>
          <a:p>
            <a:pPr indent="0" lvl="0" marL="0" marR="38100" rtl="0" algn="l">
              <a:lnSpc>
                <a:spcPct val="128571"/>
              </a:lnSpc>
              <a:spcBef>
                <a:spcPts val="0"/>
              </a:spcBef>
              <a:spcAft>
                <a:spcPts val="0"/>
              </a:spcAft>
              <a:buClr>
                <a:srgbClr val="000000"/>
              </a:buClr>
              <a:buSzPts val="1100"/>
              <a:buFont typeface="Arial"/>
              <a:buNone/>
            </a:pPr>
            <a:r>
              <a:rPr b="1" i="0" lang="es-MX" sz="1250" u="none" cap="none" strike="noStrike">
                <a:solidFill>
                  <a:srgbClr val="222222"/>
                </a:solidFill>
                <a:latin typeface="DM Sans"/>
                <a:ea typeface="DM Sans"/>
                <a:cs typeface="DM Sans"/>
                <a:sym typeface="DM Sans"/>
              </a:rPr>
              <a:t>Se utilizan para almacenar datos no estructurados o semiestructurados.</a:t>
            </a:r>
            <a:endParaRPr b="1" i="0" sz="1250" u="none" cap="none" strike="noStrike">
              <a:solidFill>
                <a:srgbClr val="000000"/>
              </a:solidFill>
              <a:latin typeface="DM Sans"/>
              <a:ea typeface="DM Sans"/>
              <a:cs typeface="DM Sans"/>
              <a:sym typeface="DM Sans"/>
            </a:endParaRPr>
          </a:p>
        </p:txBody>
      </p:sp>
      <p:pic>
        <p:nvPicPr>
          <p:cNvPr id="395" name="Google Shape;395;p30"/>
          <p:cNvPicPr preferRelativeResize="0"/>
          <p:nvPr/>
        </p:nvPicPr>
        <p:blipFill rotWithShape="1">
          <a:blip r:embed="rId5">
            <a:alphaModFix/>
          </a:blip>
          <a:srcRect b="0" l="0" r="0" t="0"/>
          <a:stretch/>
        </p:blipFill>
        <p:spPr>
          <a:xfrm>
            <a:off x="5084443" y="2846699"/>
            <a:ext cx="1116412" cy="742922"/>
          </a:xfrm>
          <a:prstGeom prst="rect">
            <a:avLst/>
          </a:prstGeom>
          <a:noFill/>
          <a:ln>
            <a:noFill/>
          </a:ln>
          <a:effectLst>
            <a:outerShdw blurRad="292100" rotWithShape="0" algn="tl" dir="2700000" dist="139700">
              <a:srgbClr val="333333">
                <a:alpha val="65098"/>
              </a:srgbClr>
            </a:outerShdw>
          </a:effectLst>
        </p:spPr>
      </p:pic>
      <p:pic>
        <p:nvPicPr>
          <p:cNvPr id="396" name="Google Shape;396;p30"/>
          <p:cNvPicPr preferRelativeResize="0"/>
          <p:nvPr/>
        </p:nvPicPr>
        <p:blipFill rotWithShape="1">
          <a:blip r:embed="rId6">
            <a:alphaModFix/>
          </a:blip>
          <a:srcRect b="16268" l="12868" r="10964" t="20548"/>
          <a:stretch/>
        </p:blipFill>
        <p:spPr>
          <a:xfrm>
            <a:off x="7684259" y="2711981"/>
            <a:ext cx="837741" cy="852452"/>
          </a:xfrm>
          <a:prstGeom prst="rect">
            <a:avLst/>
          </a:prstGeom>
          <a:noFill/>
          <a:ln>
            <a:noFill/>
          </a:ln>
          <a:effectLst>
            <a:outerShdw blurRad="292100" rotWithShape="0" algn="tl" dir="2700000" dist="139700">
              <a:srgbClr val="333333">
                <a:alpha val="65098"/>
              </a:srgbClr>
            </a:outerShdw>
          </a:effectLst>
        </p:spPr>
      </p:pic>
      <p:pic>
        <p:nvPicPr>
          <p:cNvPr id="397" name="Google Shape;397;p30"/>
          <p:cNvPicPr preferRelativeResize="0"/>
          <p:nvPr/>
        </p:nvPicPr>
        <p:blipFill rotWithShape="1">
          <a:blip r:embed="rId7">
            <a:alphaModFix/>
          </a:blip>
          <a:srcRect b="0" l="0" r="0" t="0"/>
          <a:stretch/>
        </p:blipFill>
        <p:spPr>
          <a:xfrm>
            <a:off x="6327166" y="2697443"/>
            <a:ext cx="850407" cy="945602"/>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1"/>
          <p:cNvSpPr txBox="1"/>
          <p:nvPr/>
        </p:nvSpPr>
        <p:spPr>
          <a:xfrm>
            <a:off x="4572000" y="2468704"/>
            <a:ext cx="4190114" cy="928254"/>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800"/>
              <a:buFont typeface="Arial"/>
              <a:buNone/>
            </a:pPr>
            <a:r>
              <a:rPr b="0" i="0" lang="es-MX"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pic>
        <p:nvPicPr>
          <p:cNvPr id="403" name="Google Shape;403;p31"/>
          <p:cNvPicPr preferRelativeResize="0"/>
          <p:nvPr/>
        </p:nvPicPr>
        <p:blipFill rotWithShape="1">
          <a:blip r:embed="rId3">
            <a:alphaModFix/>
          </a:blip>
          <a:srcRect b="0" l="0" r="0" t="0"/>
          <a:stretch/>
        </p:blipFill>
        <p:spPr>
          <a:xfrm>
            <a:off x="7531541" y="4692357"/>
            <a:ext cx="1548518" cy="451143"/>
          </a:xfrm>
          <a:prstGeom prst="rect">
            <a:avLst/>
          </a:prstGeom>
          <a:noFill/>
          <a:ln>
            <a:noFill/>
          </a:ln>
        </p:spPr>
      </p:pic>
      <p:pic>
        <p:nvPicPr>
          <p:cNvPr id="404" name="Google Shape;404;p31"/>
          <p:cNvPicPr preferRelativeResize="0"/>
          <p:nvPr/>
        </p:nvPicPr>
        <p:blipFill rotWithShape="1">
          <a:blip r:embed="rId4">
            <a:alphaModFix/>
          </a:blip>
          <a:srcRect b="0" l="0" r="0" t="0"/>
          <a:stretch/>
        </p:blipFill>
        <p:spPr>
          <a:xfrm>
            <a:off x="-206952" y="1429613"/>
            <a:ext cx="3448050" cy="2857500"/>
          </a:xfrm>
          <a:prstGeom prst="rect">
            <a:avLst/>
          </a:prstGeom>
          <a:noFill/>
          <a:ln>
            <a:noFill/>
          </a:ln>
          <a:effectLst>
            <a:outerShdw blurRad="292100" rotWithShape="0" algn="tl" dir="2700000" dist="139700">
              <a:srgbClr val="333333">
                <a:alpha val="65098"/>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2"/>
          <p:cNvSpPr txBox="1"/>
          <p:nvPr/>
        </p:nvSpPr>
        <p:spPr>
          <a:xfrm>
            <a:off x="342083" y="1880031"/>
            <a:ext cx="4721753" cy="2144713"/>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900"/>
              <a:buFont typeface="Arial"/>
              <a:buNone/>
            </a:pPr>
            <a:r>
              <a:rPr b="0" i="0" lang="es-MX" sz="4900" u="none" cap="none" strike="noStrike">
                <a:solidFill>
                  <a:srgbClr val="F8F2E8"/>
                </a:solidFill>
                <a:latin typeface="Plus Jakarta Sans ExtraBold"/>
                <a:ea typeface="Plus Jakarta Sans ExtraBold"/>
                <a:cs typeface="Plus Jakarta Sans ExtraBold"/>
                <a:sym typeface="Plus Jakarta Sans ExtraBold"/>
              </a:rPr>
              <a:t>¡Gracias </a:t>
            </a:r>
            <a:endParaRPr/>
          </a:p>
          <a:p>
            <a:pPr indent="0" lvl="0" marL="0" marR="0" rtl="0" algn="l">
              <a:lnSpc>
                <a:spcPct val="80000"/>
              </a:lnSpc>
              <a:spcBef>
                <a:spcPts val="0"/>
              </a:spcBef>
              <a:spcAft>
                <a:spcPts val="0"/>
              </a:spcAft>
              <a:buClr>
                <a:srgbClr val="000000"/>
              </a:buClr>
              <a:buSzPts val="4900"/>
              <a:buFont typeface="Arial"/>
              <a:buNone/>
            </a:pPr>
            <a:r>
              <a:rPr b="0" i="0" lang="es-MX" sz="4900" u="none" cap="none" strike="noStrike">
                <a:solidFill>
                  <a:srgbClr val="F8F2E8"/>
                </a:solidFill>
                <a:latin typeface="Plus Jakarta Sans ExtraBold"/>
                <a:ea typeface="Plus Jakarta Sans ExtraBold"/>
                <a:cs typeface="Plus Jakarta Sans ExtraBold"/>
                <a:sym typeface="Plus Jakarta Sans ExtraBold"/>
              </a:rPr>
              <a:t>por </a:t>
            </a:r>
            <a:r>
              <a:rPr b="0" i="0" lang="es-MX" sz="4900" u="none" cap="none" strike="noStrike">
                <a:solidFill>
                  <a:srgbClr val="FDAB2E"/>
                </a:solidFill>
                <a:latin typeface="Plus Jakarta Sans ExtraBold"/>
                <a:ea typeface="Plus Jakarta Sans ExtraBold"/>
                <a:cs typeface="Plus Jakarta Sans ExtraBold"/>
                <a:sym typeface="Plus Jakarta Sans ExtraBold"/>
              </a:rPr>
              <a:t>estudiar </a:t>
            </a:r>
            <a:endParaRPr/>
          </a:p>
          <a:p>
            <a:pPr indent="0" lvl="0" marL="0" marR="0" rtl="0" algn="l">
              <a:lnSpc>
                <a:spcPct val="80000"/>
              </a:lnSpc>
              <a:spcBef>
                <a:spcPts val="0"/>
              </a:spcBef>
              <a:spcAft>
                <a:spcPts val="0"/>
              </a:spcAft>
              <a:buClr>
                <a:srgbClr val="000000"/>
              </a:buClr>
              <a:buSzPts val="4900"/>
              <a:buFont typeface="Arial"/>
              <a:buNone/>
            </a:pPr>
            <a:r>
              <a:rPr b="0" i="0" lang="es-MX" sz="4900" u="none" cap="none" strike="noStrike">
                <a:solidFill>
                  <a:srgbClr val="F8F2E8"/>
                </a:solidFill>
                <a:latin typeface="Plus Jakarta Sans ExtraBold"/>
                <a:ea typeface="Plus Jakarta Sans ExtraBold"/>
                <a:cs typeface="Plus Jakarta Sans ExtraBold"/>
                <a:sym typeface="Plus Jakarta Sans ExtraBold"/>
              </a:rPr>
              <a:t>con nosotros!</a:t>
            </a:r>
            <a:endParaRPr b="0" i="0" sz="4900" u="none" cap="none" strike="noStrike">
              <a:solidFill>
                <a:srgbClr val="F8F2E8"/>
              </a:solidFill>
              <a:latin typeface="Plus Jakarta Sans ExtraBold"/>
              <a:ea typeface="Plus Jakarta Sans ExtraBold"/>
              <a:cs typeface="Plus Jakarta Sans ExtraBold"/>
              <a:sym typeface="Plus Jakarta Sans ExtraBold"/>
            </a:endParaRPr>
          </a:p>
        </p:txBody>
      </p:sp>
      <p:pic>
        <p:nvPicPr>
          <p:cNvPr id="410" name="Google Shape;410;p32"/>
          <p:cNvPicPr preferRelativeResize="0"/>
          <p:nvPr/>
        </p:nvPicPr>
        <p:blipFill rotWithShape="1">
          <a:blip r:embed="rId3">
            <a:alphaModFix/>
          </a:blip>
          <a:srcRect b="0" l="0" r="0" t="0"/>
          <a:stretch/>
        </p:blipFill>
        <p:spPr>
          <a:xfrm>
            <a:off x="5331788" y="1267689"/>
            <a:ext cx="2974012" cy="2912053"/>
          </a:xfrm>
          <a:prstGeom prst="rect">
            <a:avLst/>
          </a:prstGeom>
          <a:noFill/>
          <a:ln cap="flat" cmpd="sng" w="38100">
            <a:solidFill>
              <a:srgbClr val="FF632B"/>
            </a:solidFill>
            <a:prstDash val="solid"/>
            <a:round/>
            <a:headEnd len="sm" w="sm" type="none"/>
            <a:tailEnd len="sm" w="sm" type="none"/>
          </a:ln>
        </p:spPr>
      </p:pic>
      <p:pic>
        <p:nvPicPr>
          <p:cNvPr id="411" name="Google Shape;411;p32"/>
          <p:cNvPicPr preferRelativeResize="0"/>
          <p:nvPr/>
        </p:nvPicPr>
        <p:blipFill rotWithShape="1">
          <a:blip r:embed="rId4">
            <a:alphaModFix/>
          </a:blip>
          <a:srcRect b="0" l="0" r="0" t="0"/>
          <a:stretch/>
        </p:blipFill>
        <p:spPr>
          <a:xfrm>
            <a:off x="7531541" y="4692357"/>
            <a:ext cx="1548518" cy="451143"/>
          </a:xfrm>
          <a:prstGeom prst="rect">
            <a:avLst/>
          </a:prstGeom>
          <a:noFill/>
          <a:ln>
            <a:no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Cómo el contexto transforma datos en información</a:t>
            </a:r>
          </a:p>
        </p:txBody>
      </p:sp>
      <p:sp>
        <p:nvSpPr>
          <p:cNvPr id="372" name="Rounded Rectangle 371"/>
          <p:cNvSpPr/>
          <p:nvPr/>
        </p:nvSpPr>
        <p:spPr>
          <a:xfrm>
            <a:off x="457200" y="100584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Contexto</a:t>
            </a:r>
          </a:p>
          <a:p>
            <a:pPr algn="l">
              <a:spcBef>
                <a:spcPts val="600"/>
              </a:spcBef>
            </a:pPr>
            <a:r>
              <a:rPr sz="1100" i="0">
                <a:solidFill>
                  <a:srgbClr val="2A1006"/>
                </a:solidFill>
                <a:latin typeface="Plus Jakarta Sans"/>
              </a:rPr>
              <a:t>El entorno o situación que da sentido a los datos.</a:t>
            </a:r>
          </a:p>
        </p:txBody>
      </p:sp>
      <p:sp>
        <p:nvSpPr>
          <p:cNvPr id="373" name="Rounded Rectangle 372"/>
          <p:cNvSpPr/>
          <p:nvPr/>
        </p:nvSpPr>
        <p:spPr>
          <a:xfrm>
            <a:off x="3246120" y="100584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Calidad</a:t>
            </a:r>
          </a:p>
          <a:p>
            <a:pPr algn="l">
              <a:spcBef>
                <a:spcPts val="600"/>
              </a:spcBef>
            </a:pPr>
            <a:r>
              <a:rPr sz="1100" i="0">
                <a:solidFill>
                  <a:srgbClr val="2A1006"/>
                </a:solidFill>
                <a:latin typeface="Plus Jakarta Sans"/>
              </a:rPr>
              <a:t>Precisión, completitud y actualidad de los datos.</a:t>
            </a:r>
          </a:p>
        </p:txBody>
      </p:sp>
      <p:sp>
        <p:nvSpPr>
          <p:cNvPr id="374" name="Rounded Rectangle 373"/>
          <p:cNvSpPr/>
          <p:nvPr/>
        </p:nvSpPr>
        <p:spPr>
          <a:xfrm>
            <a:off x="6035040" y="100584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Agregación</a:t>
            </a:r>
          </a:p>
          <a:p>
            <a:pPr algn="l">
              <a:spcBef>
                <a:spcPts val="600"/>
              </a:spcBef>
            </a:pPr>
            <a:r>
              <a:rPr sz="1100" i="0">
                <a:solidFill>
                  <a:srgbClr val="2A1006"/>
                </a:solidFill>
                <a:latin typeface="Plus Jakarta Sans"/>
              </a:rPr>
              <a:t>Resumir o combinar datos para facilitar su interpretación.</a:t>
            </a:r>
          </a:p>
        </p:txBody>
      </p:sp>
      <p:sp>
        <p:nvSpPr>
          <p:cNvPr id="375" name="TextBox 374"/>
          <p:cNvSpPr txBox="1"/>
          <p:nvPr/>
        </p:nvSpPr>
        <p:spPr>
          <a:xfrm>
            <a:off x="548640" y="4114800"/>
            <a:ext cx="8046720" cy="502920"/>
          </a:xfrm>
          <a:prstGeom prst="rect">
            <a:avLst/>
          </a:prstGeom>
          <a:noFill/>
        </p:spPr>
        <p:txBody>
          <a:bodyPr wrap="square">
            <a:spAutoFit/>
          </a:bodyPr>
          <a:lstStyle/>
          <a:p>
            <a:r>
              <a:rPr sz="1200" i="1">
                <a:solidFill>
                  <a:srgbClr val="FF632B"/>
                </a:solidFill>
                <a:latin typeface="Plus Jakarta Sans Light"/>
              </a:rPr>
              <a:t>“Los datos son el combustible, la información es el motor que impulsa las decisiones.”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Datos vs. Información: comparativa y ejemplos</a:t>
            </a:r>
          </a:p>
        </p:txBody>
      </p:sp>
      <p:graphicFrame>
        <p:nvGraphicFramePr>
          <p:cNvPr id="372" name="Table 371"/>
          <p:cNvGraphicFramePr>
            <a:graphicFrameLocks noGrp="1"/>
          </p:cNvGraphicFramePr>
          <p:nvPr/>
        </p:nvGraphicFramePr>
        <p:xfrm>
          <a:off x="457200" y="914400"/>
          <a:ext cx="8229600" cy="2560320"/>
        </p:xfrm>
        <a:graphic>
          <a:graphicData uri="http://schemas.openxmlformats.org/drawingml/2006/table">
            <a:tbl>
              <a:tblPr firstRow="1" bandRow="1">
                <a:tableStyleId>{5C22544A-7EE6-4342-B048-85BDC9FD1C3A}</a:tableStyleId>
              </a:tblPr>
              <a:tblGrid>
                <a:gridCol w="1645920"/>
                <a:gridCol w="2926080"/>
                <a:gridCol w="3657600"/>
              </a:tblGrid>
              <a:tr h="365760">
                <a:tc>
                  <a:txBody>
                    <a:bodyPr/>
                    <a:lstStyle/>
                    <a:p>
                      <a:r>
                        <a:rPr sz="1200" i="0">
                          <a:solidFill>
                            <a:srgbClr val="FFFFFF"/>
                          </a:solidFill>
                          <a:latin typeface="Plus Jakarta Sans ExtraBold"/>
                        </a:rPr>
                        <a:t/>
                      </a:r>
                    </a:p>
                  </a:txBody>
                  <a:tcPr marL="73152" marR="73152" anchor="ctr">
                    <a:solidFill>
                      <a:srgbClr val="FF632B"/>
                    </a:solidFill>
                  </a:tcPr>
                </a:tc>
                <a:tc>
                  <a:txBody>
                    <a:bodyPr/>
                    <a:lstStyle/>
                    <a:p>
                      <a:r>
                        <a:rPr sz="1200" i="0">
                          <a:solidFill>
                            <a:srgbClr val="FFFFFF"/>
                          </a:solidFill>
                          <a:latin typeface="Plus Jakarta Sans ExtraBold"/>
                        </a:rPr>
                        <a:t>Datos</a:t>
                      </a:r>
                    </a:p>
                  </a:txBody>
                  <a:tcPr marL="73152" marR="73152" anchor="ctr">
                    <a:solidFill>
                      <a:srgbClr val="FF632B"/>
                    </a:solidFill>
                  </a:tcPr>
                </a:tc>
                <a:tc>
                  <a:txBody>
                    <a:bodyPr/>
                    <a:lstStyle/>
                    <a:p>
                      <a:r>
                        <a:rPr sz="1200" i="0">
                          <a:solidFill>
                            <a:srgbClr val="FFFFFF"/>
                          </a:solidFill>
                          <a:latin typeface="Plus Jakarta Sans ExtraBold"/>
                        </a:rPr>
                        <a:t>Información</a:t>
                      </a:r>
                    </a:p>
                  </a:txBody>
                  <a:tcPr marL="73152" marR="73152" anchor="ctr">
                    <a:solidFill>
                      <a:srgbClr val="FF632B"/>
                    </a:solidFill>
                  </a:tcPr>
                </a:tc>
              </a:tr>
              <a:tr h="365760">
                <a:tc>
                  <a:txBody>
                    <a:bodyPr/>
                    <a:lstStyle/>
                    <a:p>
                      <a:r>
                        <a:rPr sz="1200" i="0">
                          <a:solidFill>
                            <a:srgbClr val="2A1006"/>
                          </a:solidFill>
                          <a:latin typeface="Plus Jakarta Sans ExtraBold"/>
                        </a:rPr>
                        <a:t>Naturaleza</a:t>
                      </a:r>
                    </a:p>
                  </a:txBody>
                  <a:tcPr marL="73152" marR="73152" anchor="ctr">
                    <a:solidFill>
                      <a:srgbClr val="FFFFFF"/>
                    </a:solidFill>
                  </a:tcPr>
                </a:tc>
                <a:tc>
                  <a:txBody>
                    <a:bodyPr/>
                    <a:lstStyle/>
                    <a:p>
                      <a:r>
                        <a:rPr sz="1200" i="0">
                          <a:solidFill>
                            <a:srgbClr val="2A1006"/>
                          </a:solidFill>
                          <a:latin typeface="Plus Jakarta Sans"/>
                        </a:rPr>
                        <a:t>Cruda, sin procesar</a:t>
                      </a:r>
                    </a:p>
                  </a:txBody>
                  <a:tcPr marL="73152" marR="73152" anchor="ctr">
                    <a:solidFill>
                      <a:srgbClr val="FFFFFF"/>
                    </a:solidFill>
                  </a:tcPr>
                </a:tc>
                <a:tc>
                  <a:txBody>
                    <a:bodyPr/>
                    <a:lstStyle/>
                    <a:p>
                      <a:r>
                        <a:rPr sz="1200" i="0">
                          <a:solidFill>
                            <a:srgbClr val="2A1006"/>
                          </a:solidFill>
                          <a:latin typeface="Plus Jakarta Sans"/>
                        </a:rPr>
                        <a:t>Procesada y contextualizada</a:t>
                      </a:r>
                    </a:p>
                  </a:txBody>
                  <a:tcPr marL="73152" marR="73152" anchor="ctr">
                    <a:solidFill>
                      <a:srgbClr val="FFFFFF"/>
                    </a:solidFill>
                  </a:tcPr>
                </a:tc>
              </a:tr>
              <a:tr h="365760">
                <a:tc>
                  <a:txBody>
                    <a:bodyPr/>
                    <a:lstStyle/>
                    <a:p>
                      <a:r>
                        <a:rPr sz="1200" i="0">
                          <a:solidFill>
                            <a:srgbClr val="2A1006"/>
                          </a:solidFill>
                          <a:latin typeface="Plus Jakarta Sans ExtraBold"/>
                        </a:rPr>
                        <a:t>Significado</a:t>
                      </a:r>
                    </a:p>
                  </a:txBody>
                  <a:tcPr marL="73152" marR="73152" anchor="ctr">
                    <a:solidFill>
                      <a:srgbClr val="FFF1E8"/>
                    </a:solidFill>
                  </a:tcPr>
                </a:tc>
                <a:tc>
                  <a:txBody>
                    <a:bodyPr/>
                    <a:lstStyle/>
                    <a:p>
                      <a:r>
                        <a:rPr sz="1200" i="0">
                          <a:solidFill>
                            <a:srgbClr val="2A1006"/>
                          </a:solidFill>
                          <a:latin typeface="Plus Jakarta Sans"/>
                        </a:rPr>
                        <a:t>Limitado</a:t>
                      </a:r>
                    </a:p>
                  </a:txBody>
                  <a:tcPr marL="73152" marR="73152" anchor="ctr">
                    <a:solidFill>
                      <a:srgbClr val="FFF1E8"/>
                    </a:solidFill>
                  </a:tcPr>
                </a:tc>
                <a:tc>
                  <a:txBody>
                    <a:bodyPr/>
                    <a:lstStyle/>
                    <a:p>
                      <a:r>
                        <a:rPr sz="1200" i="0">
                          <a:solidFill>
                            <a:srgbClr val="2A1006"/>
                          </a:solidFill>
                          <a:latin typeface="Plus Jakarta Sans"/>
                        </a:rPr>
                        <a:t>Claro y relevante</a:t>
                      </a:r>
                    </a:p>
                  </a:txBody>
                  <a:tcPr marL="73152" marR="73152" anchor="ctr">
                    <a:solidFill>
                      <a:srgbClr val="FFF1E8"/>
                    </a:solidFill>
                  </a:tcPr>
                </a:tc>
              </a:tr>
              <a:tr h="365760">
                <a:tc>
                  <a:txBody>
                    <a:bodyPr/>
                    <a:lstStyle/>
                    <a:p>
                      <a:r>
                        <a:rPr sz="1200" i="0">
                          <a:solidFill>
                            <a:srgbClr val="2A1006"/>
                          </a:solidFill>
                          <a:latin typeface="Plus Jakarta Sans ExtraBold"/>
                        </a:rPr>
                        <a:t>Uso</a:t>
                      </a:r>
                    </a:p>
                  </a:txBody>
                  <a:tcPr marL="73152" marR="73152" anchor="ctr">
                    <a:solidFill>
                      <a:srgbClr val="FFFFFF"/>
                    </a:solidFill>
                  </a:tcPr>
                </a:tc>
                <a:tc>
                  <a:txBody>
                    <a:bodyPr/>
                    <a:lstStyle/>
                    <a:p>
                      <a:r>
                        <a:rPr sz="1200" i="0">
                          <a:solidFill>
                            <a:srgbClr val="2A1006"/>
                          </a:solidFill>
                          <a:latin typeface="Plus Jakarta Sans"/>
                        </a:rPr>
                        <a:t>Recolección y almacenamiento</a:t>
                      </a:r>
                    </a:p>
                  </a:txBody>
                  <a:tcPr marL="73152" marR="73152" anchor="ctr">
                    <a:solidFill>
                      <a:srgbClr val="FFFFFF"/>
                    </a:solidFill>
                  </a:tcPr>
                </a:tc>
                <a:tc>
                  <a:txBody>
                    <a:bodyPr/>
                    <a:lstStyle/>
                    <a:p>
                      <a:r>
                        <a:rPr sz="1200" i="0">
                          <a:solidFill>
                            <a:srgbClr val="2A1006"/>
                          </a:solidFill>
                          <a:latin typeface="Plus Jakarta Sans"/>
                        </a:rPr>
                        <a:t>Análisis y toma de decisiones</a:t>
                      </a:r>
                    </a:p>
                  </a:txBody>
                  <a:tcPr marL="73152" marR="73152" anchor="ctr">
                    <a:solidFill>
                      <a:srgbClr val="FFFFFF"/>
                    </a:solidFill>
                  </a:tcPr>
                </a:tc>
              </a:tr>
              <a:tr h="365760">
                <a:tc>
                  <a:txBody>
                    <a:bodyPr/>
                    <a:lstStyle/>
                    <a:p>
                      <a:r>
                        <a:rPr sz="1200" i="0">
                          <a:solidFill>
                            <a:srgbClr val="2A1006"/>
                          </a:solidFill>
                          <a:latin typeface="Plus Jakarta Sans ExtraBold"/>
                        </a:rPr>
                        <a:t>Ventas</a:t>
                      </a:r>
                    </a:p>
                  </a:txBody>
                  <a:tcPr marL="73152" marR="73152" anchor="ctr">
                    <a:solidFill>
                      <a:srgbClr val="FFF1E8"/>
                    </a:solidFill>
                  </a:tcPr>
                </a:tc>
                <a:tc>
                  <a:txBody>
                    <a:bodyPr/>
                    <a:lstStyle/>
                    <a:p>
                      <a:r>
                        <a:rPr sz="1200" i="0">
                          <a:solidFill>
                            <a:srgbClr val="2A1006"/>
                          </a:solidFill>
                          <a:latin typeface="Plus Jakarta Sans"/>
                        </a:rPr>
                        <a:t>Número de productos vendidos</a:t>
                      </a:r>
                    </a:p>
                  </a:txBody>
                  <a:tcPr marL="73152" marR="73152" anchor="ctr">
                    <a:solidFill>
                      <a:srgbClr val="FFF1E8"/>
                    </a:solidFill>
                  </a:tcPr>
                </a:tc>
                <a:tc>
                  <a:txBody>
                    <a:bodyPr/>
                    <a:lstStyle/>
                    <a:p>
                      <a:r>
                        <a:rPr sz="1200" i="0">
                          <a:solidFill>
                            <a:srgbClr val="2A1006"/>
                          </a:solidFill>
                          <a:latin typeface="Plus Jakarta Sans"/>
                        </a:rPr>
                        <a:t>Ventas por región y temporada</a:t>
                      </a:r>
                    </a:p>
                  </a:txBody>
                  <a:tcPr marL="73152" marR="73152" anchor="ctr">
                    <a:solidFill>
                      <a:srgbClr val="FFF1E8"/>
                    </a:solidFill>
                  </a:tcPr>
                </a:tc>
              </a:tr>
              <a:tr h="365760">
                <a:tc>
                  <a:txBody>
                    <a:bodyPr/>
                    <a:lstStyle/>
                    <a:p>
                      <a:r>
                        <a:rPr sz="1200" i="0">
                          <a:solidFill>
                            <a:srgbClr val="2A1006"/>
                          </a:solidFill>
                          <a:latin typeface="Plus Jakarta Sans ExtraBold"/>
                        </a:rPr>
                        <a:t>Marketing</a:t>
                      </a:r>
                    </a:p>
                  </a:txBody>
                  <a:tcPr marL="73152" marR="73152" anchor="ctr">
                    <a:solidFill>
                      <a:srgbClr val="FFFFFF"/>
                    </a:solidFill>
                  </a:tcPr>
                </a:tc>
                <a:tc>
                  <a:txBody>
                    <a:bodyPr/>
                    <a:lstStyle/>
                    <a:p>
                      <a:r>
                        <a:rPr sz="1200" i="0">
                          <a:solidFill>
                            <a:srgbClr val="2A1006"/>
                          </a:solidFill>
                          <a:latin typeface="Plus Jakarta Sans"/>
                        </a:rPr>
                        <a:t>Clics en un anuncio</a:t>
                      </a:r>
                    </a:p>
                  </a:txBody>
                  <a:tcPr marL="73152" marR="73152" anchor="ctr">
                    <a:solidFill>
                      <a:srgbClr val="FFFFFF"/>
                    </a:solidFill>
                  </a:tcPr>
                </a:tc>
                <a:tc>
                  <a:txBody>
                    <a:bodyPr/>
                    <a:lstStyle/>
                    <a:p>
                      <a:r>
                        <a:rPr sz="1200" i="0">
                          <a:solidFill>
                            <a:srgbClr val="2A1006"/>
                          </a:solidFill>
                          <a:latin typeface="Plus Jakarta Sans"/>
                        </a:rPr>
                        <a:t>Tasa de conversión y comportamiento del cliente</a:t>
                      </a:r>
                    </a:p>
                  </a:txBody>
                  <a:tcPr marL="73152" marR="73152" anchor="ctr">
                    <a:solidFill>
                      <a:srgbClr val="FFFFFF"/>
                    </a:solidFill>
                  </a:tcPr>
                </a:tc>
              </a:tr>
              <a:tr h="365760">
                <a:tc>
                  <a:txBody>
                    <a:bodyPr/>
                    <a:lstStyle/>
                    <a:p>
                      <a:r>
                        <a:rPr sz="1200" i="0">
                          <a:solidFill>
                            <a:srgbClr val="2A1006"/>
                          </a:solidFill>
                          <a:latin typeface="Plus Jakarta Sans ExtraBold"/>
                        </a:rPr>
                        <a:t>Operaciones</a:t>
                      </a:r>
                    </a:p>
                  </a:txBody>
                  <a:tcPr marL="73152" marR="73152" anchor="ctr">
                    <a:solidFill>
                      <a:srgbClr val="FFF1E8"/>
                    </a:solidFill>
                  </a:tcPr>
                </a:tc>
                <a:tc>
                  <a:txBody>
                    <a:bodyPr/>
                    <a:lstStyle/>
                    <a:p>
                      <a:r>
                        <a:rPr sz="1200" i="0">
                          <a:solidFill>
                            <a:srgbClr val="2A1006"/>
                          </a:solidFill>
                          <a:latin typeface="Plus Jakarta Sans"/>
                        </a:rPr>
                        <a:t>Registros de producción diaria</a:t>
                      </a:r>
                    </a:p>
                  </a:txBody>
                  <a:tcPr marL="73152" marR="73152" anchor="ctr">
                    <a:solidFill>
                      <a:srgbClr val="FFF1E8"/>
                    </a:solidFill>
                  </a:tcPr>
                </a:tc>
                <a:tc>
                  <a:txBody>
                    <a:bodyPr/>
                    <a:lstStyle/>
                    <a:p>
                      <a:r>
                        <a:rPr sz="1200" i="0">
                          <a:solidFill>
                            <a:srgbClr val="2A1006"/>
                          </a:solidFill>
                          <a:latin typeface="Plus Jakarta Sans"/>
                        </a:rPr>
                        <a:t>Cuellos de botella y eficiencia</a:t>
                      </a:r>
                    </a:p>
                  </a:txBody>
                  <a:tcPr marL="73152" marR="73152" anchor="ctr">
                    <a:solidFill>
                      <a:srgbClr val="FFF1E8"/>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Glosario rápido</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Términos en inglés que vas a leer desde el primer día.</a:t>
            </a:r>
          </a:p>
        </p:txBody>
      </p:sp>
      <p:graphicFrame>
        <p:nvGraphicFramePr>
          <p:cNvPr id="373" name="Table 372"/>
          <p:cNvGraphicFramePr>
            <a:graphicFrameLocks noGrp="1"/>
          </p:cNvGraphicFramePr>
          <p:nvPr/>
        </p:nvGraphicFramePr>
        <p:xfrm>
          <a:off x="457200" y="1280160"/>
          <a:ext cx="8229600" cy="2194560"/>
        </p:xfrm>
        <a:graphic>
          <a:graphicData uri="http://schemas.openxmlformats.org/drawingml/2006/table">
            <a:tbl>
              <a:tblPr firstRow="1" bandRow="1">
                <a:tableStyleId>{5C22544A-7EE6-4342-B048-85BDC9FD1C3A}</a:tableStyleId>
              </a:tblPr>
              <a:tblGrid>
                <a:gridCol w="1280160"/>
                <a:gridCol w="2834640"/>
                <a:gridCol w="1188720"/>
                <a:gridCol w="2926080"/>
              </a:tblGrid>
              <a:tr h="365760">
                <a:tc>
                  <a:txBody>
                    <a:bodyPr/>
                    <a:lstStyle/>
                    <a:p>
                      <a:r>
                        <a:rPr sz="1100" i="0">
                          <a:solidFill>
                            <a:srgbClr val="FFFFFF"/>
                          </a:solidFill>
                          <a:latin typeface="Plus Jakarta Sans ExtraBold"/>
                        </a:rPr>
                        <a:t>Término</a:t>
                      </a:r>
                    </a:p>
                  </a:txBody>
                  <a:tcPr marL="73152" marR="73152" anchor="ctr">
                    <a:solidFill>
                      <a:srgbClr val="FF632B"/>
                    </a:solidFill>
                  </a:tcPr>
                </a:tc>
                <a:tc>
                  <a:txBody>
                    <a:bodyPr/>
                    <a:lstStyle/>
                    <a:p>
                      <a:r>
                        <a:rPr sz="1100" i="0">
                          <a:solidFill>
                            <a:srgbClr val="FFFFFF"/>
                          </a:solidFill>
                          <a:latin typeface="Plus Jakarta Sans ExtraBold"/>
                        </a:rPr>
                        <a:t>Qué significa</a:t>
                      </a:r>
                    </a:p>
                  </a:txBody>
                  <a:tcPr marL="73152" marR="73152" anchor="ctr">
                    <a:solidFill>
                      <a:srgbClr val="FF632B"/>
                    </a:solidFill>
                  </a:tcPr>
                </a:tc>
                <a:tc>
                  <a:txBody>
                    <a:bodyPr/>
                    <a:lstStyle/>
                    <a:p>
                      <a:r>
                        <a:rPr sz="1100" i="0">
                          <a:solidFill>
                            <a:srgbClr val="FFFFFF"/>
                          </a:solidFill>
                          <a:latin typeface="Plus Jakarta Sans ExtraBold"/>
                        </a:rPr>
                        <a:t>Término</a:t>
                      </a:r>
                    </a:p>
                  </a:txBody>
                  <a:tcPr marL="73152" marR="73152" anchor="ctr">
                    <a:solidFill>
                      <a:srgbClr val="FF632B"/>
                    </a:solidFill>
                  </a:tcPr>
                </a:tc>
                <a:tc>
                  <a:txBody>
                    <a:bodyPr/>
                    <a:lstStyle/>
                    <a:p>
                      <a:r>
                        <a:rPr sz="1100" i="0">
                          <a:solidFill>
                            <a:srgbClr val="FFFFFF"/>
                          </a:solidFill>
                          <a:latin typeface="Plus Jakarta Sans ExtraBold"/>
                        </a:rPr>
                        <a:t>Qué significa</a:t>
                      </a:r>
                    </a:p>
                  </a:txBody>
                  <a:tcPr marL="73152" marR="73152" anchor="ctr">
                    <a:solidFill>
                      <a:srgbClr val="FF632B"/>
                    </a:solidFill>
                  </a:tcPr>
                </a:tc>
              </a:tr>
              <a:tr h="365760">
                <a:tc>
                  <a:txBody>
                    <a:bodyPr/>
                    <a:lstStyle/>
                    <a:p>
                      <a:r>
                        <a:rPr sz="1100" i="0">
                          <a:solidFill>
                            <a:srgbClr val="2A1006"/>
                          </a:solidFill>
                          <a:latin typeface="Plus Jakarta Sans ExtraBold"/>
                        </a:rPr>
                        <a:t>Dataset</a:t>
                      </a:r>
                    </a:p>
                  </a:txBody>
                  <a:tcPr marL="73152" marR="73152" anchor="ctr">
                    <a:solidFill>
                      <a:srgbClr val="FFFFFF"/>
                    </a:solidFill>
                  </a:tcPr>
                </a:tc>
                <a:tc>
                  <a:txBody>
                    <a:bodyPr/>
                    <a:lstStyle/>
                    <a:p>
                      <a:r>
                        <a:rPr sz="1100" i="0">
                          <a:solidFill>
                            <a:srgbClr val="2A1006"/>
                          </a:solidFill>
                          <a:latin typeface="Plus Jakarta Sans"/>
                        </a:rPr>
                        <a:t>Datos organizados en filas y columnas</a:t>
                      </a:r>
                    </a:p>
                  </a:txBody>
                  <a:tcPr marL="73152" marR="73152" anchor="ctr">
                    <a:solidFill>
                      <a:srgbClr val="FFFFFF"/>
                    </a:solidFill>
                  </a:tcPr>
                </a:tc>
                <a:tc>
                  <a:txBody>
                    <a:bodyPr/>
                    <a:lstStyle/>
                    <a:p>
                      <a:r>
                        <a:rPr sz="1100" i="0">
                          <a:solidFill>
                            <a:srgbClr val="2A1006"/>
                          </a:solidFill>
                          <a:latin typeface="Plus Jakarta Sans"/>
                        </a:rPr>
                        <a:t>KPI</a:t>
                      </a:r>
                    </a:p>
                  </a:txBody>
                  <a:tcPr marL="73152" marR="73152" anchor="ctr">
                    <a:solidFill>
                      <a:srgbClr val="FFFFFF"/>
                    </a:solidFill>
                  </a:tcPr>
                </a:tc>
                <a:tc>
                  <a:txBody>
                    <a:bodyPr/>
                    <a:lstStyle/>
                    <a:p>
                      <a:r>
                        <a:rPr sz="1100" i="0">
                          <a:solidFill>
                            <a:srgbClr val="2A1006"/>
                          </a:solidFill>
                          <a:latin typeface="Plus Jakarta Sans"/>
                        </a:rPr>
                        <a:t>Indicador clave de desempeño</a:t>
                      </a:r>
                    </a:p>
                  </a:txBody>
                  <a:tcPr marL="73152" marR="73152" anchor="ctr">
                    <a:solidFill>
                      <a:srgbClr val="FFFFFF"/>
                    </a:solidFill>
                  </a:tcPr>
                </a:tc>
              </a:tr>
              <a:tr h="365760">
                <a:tc>
                  <a:txBody>
                    <a:bodyPr/>
                    <a:lstStyle/>
                    <a:p>
                      <a:r>
                        <a:rPr sz="1100" i="0">
                          <a:solidFill>
                            <a:srgbClr val="2A1006"/>
                          </a:solidFill>
                          <a:latin typeface="Plus Jakarta Sans ExtraBold"/>
                        </a:rPr>
                        <a:t>Insight</a:t>
                      </a:r>
                    </a:p>
                  </a:txBody>
                  <a:tcPr marL="73152" marR="73152" anchor="ctr">
                    <a:solidFill>
                      <a:srgbClr val="FFF1E8"/>
                    </a:solidFill>
                  </a:tcPr>
                </a:tc>
                <a:tc>
                  <a:txBody>
                    <a:bodyPr/>
                    <a:lstStyle/>
                    <a:p>
                      <a:r>
                        <a:rPr sz="1100" i="0">
                          <a:solidFill>
                            <a:srgbClr val="2A1006"/>
                          </a:solidFill>
                          <a:latin typeface="Plus Jakarta Sans"/>
                        </a:rPr>
                        <a:t>Hallazgo útil para decidir</a:t>
                      </a:r>
                    </a:p>
                  </a:txBody>
                  <a:tcPr marL="73152" marR="73152" anchor="ctr">
                    <a:solidFill>
                      <a:srgbClr val="FFF1E8"/>
                    </a:solidFill>
                  </a:tcPr>
                </a:tc>
                <a:tc>
                  <a:txBody>
                    <a:bodyPr/>
                    <a:lstStyle/>
                    <a:p>
                      <a:r>
                        <a:rPr sz="1100" i="0">
                          <a:solidFill>
                            <a:srgbClr val="2A1006"/>
                          </a:solidFill>
                          <a:latin typeface="Plus Jakarta Sans"/>
                        </a:rPr>
                        <a:t>Dashboard</a:t>
                      </a:r>
                    </a:p>
                  </a:txBody>
                  <a:tcPr marL="73152" marR="73152" anchor="ctr">
                    <a:solidFill>
                      <a:srgbClr val="FFF1E8"/>
                    </a:solidFill>
                  </a:tcPr>
                </a:tc>
                <a:tc>
                  <a:txBody>
                    <a:bodyPr/>
                    <a:lstStyle/>
                    <a:p>
                      <a:r>
                        <a:rPr sz="1100" i="0">
                          <a:solidFill>
                            <a:srgbClr val="2A1006"/>
                          </a:solidFill>
                          <a:latin typeface="Plus Jakarta Sans"/>
                        </a:rPr>
                        <a:t>Tablero con KPIs y gráficos</a:t>
                      </a:r>
                    </a:p>
                  </a:txBody>
                  <a:tcPr marL="73152" marR="73152" anchor="ctr">
                    <a:solidFill>
                      <a:srgbClr val="FFF1E8"/>
                    </a:solidFill>
                  </a:tcPr>
                </a:tc>
              </a:tr>
              <a:tr h="365760">
                <a:tc>
                  <a:txBody>
                    <a:bodyPr/>
                    <a:lstStyle/>
                    <a:p>
                      <a:r>
                        <a:rPr sz="1100" i="0">
                          <a:solidFill>
                            <a:srgbClr val="2A1006"/>
                          </a:solidFill>
                          <a:latin typeface="Plus Jakarta Sans ExtraBold"/>
                        </a:rPr>
                        <a:t>BI</a:t>
                      </a:r>
                    </a:p>
                  </a:txBody>
                  <a:tcPr marL="73152" marR="73152" anchor="ctr">
                    <a:solidFill>
                      <a:srgbClr val="FFFFFF"/>
                    </a:solidFill>
                  </a:tcPr>
                </a:tc>
                <a:tc>
                  <a:txBody>
                    <a:bodyPr/>
                    <a:lstStyle/>
                    <a:p>
                      <a:r>
                        <a:rPr sz="1100" i="0">
                          <a:solidFill>
                            <a:srgbClr val="2A1006"/>
                          </a:solidFill>
                          <a:latin typeface="Plus Jakarta Sans"/>
                        </a:rPr>
                        <a:t>Usar datos para entender qué pasó</a:t>
                      </a:r>
                    </a:p>
                  </a:txBody>
                  <a:tcPr marL="73152" marR="73152" anchor="ctr">
                    <a:solidFill>
                      <a:srgbClr val="FFFFFF"/>
                    </a:solidFill>
                  </a:tcPr>
                </a:tc>
                <a:tc>
                  <a:txBody>
                    <a:bodyPr/>
                    <a:lstStyle/>
                    <a:p>
                      <a:r>
                        <a:rPr sz="1100" i="0">
                          <a:solidFill>
                            <a:srgbClr val="2A1006"/>
                          </a:solidFill>
                          <a:latin typeface="Plus Jakarta Sans"/>
                        </a:rPr>
                        <a:t>SQL</a:t>
                      </a:r>
                    </a:p>
                  </a:txBody>
                  <a:tcPr marL="73152" marR="73152" anchor="ctr">
                    <a:solidFill>
                      <a:srgbClr val="FFFFFF"/>
                    </a:solidFill>
                  </a:tcPr>
                </a:tc>
                <a:tc>
                  <a:txBody>
                    <a:bodyPr/>
                    <a:lstStyle/>
                    <a:p>
                      <a:r>
                        <a:rPr sz="1100" i="0">
                          <a:solidFill>
                            <a:srgbClr val="2A1006"/>
                          </a:solidFill>
                          <a:latin typeface="Plus Jakarta Sans"/>
                        </a:rPr>
                        <a:t>Lenguaje para consultar bases de datos</a:t>
                      </a:r>
                    </a:p>
                  </a:txBody>
                  <a:tcPr marL="73152" marR="73152" anchor="ctr">
                    <a:solidFill>
                      <a:srgbClr val="FFFFFF"/>
                    </a:solidFill>
                  </a:tcPr>
                </a:tc>
              </a:tr>
              <a:tr h="365760">
                <a:tc>
                  <a:txBody>
                    <a:bodyPr/>
                    <a:lstStyle/>
                    <a:p>
                      <a:r>
                        <a:rPr sz="1100" i="0">
                          <a:solidFill>
                            <a:srgbClr val="2A1006"/>
                          </a:solidFill>
                          <a:latin typeface="Plus Jakarta Sans ExtraBold"/>
                        </a:rPr>
                        <a:t>Data warehouse</a:t>
                      </a:r>
                    </a:p>
                  </a:txBody>
                  <a:tcPr marL="73152" marR="73152" anchor="ctr">
                    <a:solidFill>
                      <a:srgbClr val="FFF1E8"/>
                    </a:solidFill>
                  </a:tcPr>
                </a:tc>
                <a:tc>
                  <a:txBody>
                    <a:bodyPr/>
                    <a:lstStyle/>
                    <a:p>
                      <a:r>
                        <a:rPr sz="1100" i="0">
                          <a:solidFill>
                            <a:srgbClr val="2A1006"/>
                          </a:solidFill>
                          <a:latin typeface="Plus Jakarta Sans"/>
                        </a:rPr>
                        <a:t>Base central, limpia y ordenada</a:t>
                      </a:r>
                    </a:p>
                  </a:txBody>
                  <a:tcPr marL="73152" marR="73152" anchor="ctr">
                    <a:solidFill>
                      <a:srgbClr val="FFF1E8"/>
                    </a:solidFill>
                  </a:tcPr>
                </a:tc>
                <a:tc>
                  <a:txBody>
                    <a:bodyPr/>
                    <a:lstStyle/>
                    <a:p>
                      <a:r>
                        <a:rPr sz="1100" i="0">
                          <a:solidFill>
                            <a:srgbClr val="2A1006"/>
                          </a:solidFill>
                          <a:latin typeface="Plus Jakarta Sans"/>
                        </a:rPr>
                        <a:t>Data lake</a:t>
                      </a:r>
                    </a:p>
                  </a:txBody>
                  <a:tcPr marL="73152" marR="73152" anchor="ctr">
                    <a:solidFill>
                      <a:srgbClr val="FFF1E8"/>
                    </a:solidFill>
                  </a:tcPr>
                </a:tc>
                <a:tc>
                  <a:txBody>
                    <a:bodyPr/>
                    <a:lstStyle/>
                    <a:p>
                      <a:r>
                        <a:rPr sz="1100" i="0">
                          <a:solidFill>
                            <a:srgbClr val="2A1006"/>
                          </a:solidFill>
                          <a:latin typeface="Plus Jakarta Sans"/>
                        </a:rPr>
                        <a:t>Datos de todo tipo, sin ordenar</a:t>
                      </a:r>
                    </a:p>
                  </a:txBody>
                  <a:tcPr marL="73152" marR="73152" anchor="ctr">
                    <a:solidFill>
                      <a:srgbClr val="FFF1E8"/>
                    </a:solidFill>
                  </a:tcPr>
                </a:tc>
              </a:tr>
              <a:tr h="365760">
                <a:tc>
                  <a:txBody>
                    <a:bodyPr/>
                    <a:lstStyle/>
                    <a:p>
                      <a:r>
                        <a:rPr sz="1100" i="0">
                          <a:solidFill>
                            <a:srgbClr val="2A1006"/>
                          </a:solidFill>
                          <a:latin typeface="Plus Jakarta Sans ExtraBold"/>
                        </a:rPr>
                        <a:t>ETL</a:t>
                      </a:r>
                    </a:p>
                  </a:txBody>
                  <a:tcPr marL="73152" marR="73152" anchor="ctr">
                    <a:solidFill>
                      <a:srgbClr val="FFFFFF"/>
                    </a:solidFill>
                  </a:tcPr>
                </a:tc>
                <a:tc>
                  <a:txBody>
                    <a:bodyPr/>
                    <a:lstStyle/>
                    <a:p>
                      <a:r>
                        <a:rPr sz="1100" i="0">
                          <a:solidFill>
                            <a:srgbClr val="2A1006"/>
                          </a:solidFill>
                          <a:latin typeface="Plus Jakarta Sans"/>
                        </a:rPr>
                        <a:t>Extraer, transformar y cargar datos</a:t>
                      </a:r>
                    </a:p>
                  </a:txBody>
                  <a:tcPr marL="73152" marR="73152" anchor="ctr">
                    <a:solidFill>
                      <a:srgbClr val="FFFFFF"/>
                    </a:solidFill>
                  </a:tcPr>
                </a:tc>
                <a:tc>
                  <a:txBody>
                    <a:bodyPr/>
                    <a:lstStyle/>
                    <a:p>
                      <a:r>
                        <a:rPr sz="1100" i="0">
                          <a:solidFill>
                            <a:srgbClr val="2A1006"/>
                          </a:solidFill>
                          <a:latin typeface="Plus Jakarta Sans"/>
                        </a:rPr>
                        <a:t>DAX</a:t>
                      </a:r>
                    </a:p>
                  </a:txBody>
                  <a:tcPr marL="73152" marR="73152" anchor="ctr">
                    <a:solidFill>
                      <a:srgbClr val="FFFFFF"/>
                    </a:solidFill>
                  </a:tcPr>
                </a:tc>
                <a:tc>
                  <a:txBody>
                    <a:bodyPr/>
                    <a:lstStyle/>
                    <a:p>
                      <a:r>
                        <a:rPr sz="1100" i="0">
                          <a:solidFill>
                            <a:srgbClr val="2A1006"/>
                          </a:solidFill>
                          <a:latin typeface="Plus Jakarta Sans"/>
                        </a:rPr>
                        <a:t>Lenguaje de fórmulas de Power BI</a:t>
                      </a:r>
                    </a:p>
                  </a:txBody>
                  <a:tcPr marL="73152" marR="73152"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Del dato a la acción</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El análisis existe para reducir la incertidumbre: que los hechos, y no el HiPPO (la opinión de quien más cobra), guíen la decisión.</a:t>
            </a:r>
          </a:p>
        </p:txBody>
      </p:sp>
      <p:sp>
        <p:nvSpPr>
          <p:cNvPr id="373" name="Rounded Rectangle 372"/>
          <p:cNvSpPr/>
          <p:nvPr/>
        </p:nvSpPr>
        <p:spPr>
          <a:xfrm>
            <a:off x="45720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1. Datos</a:t>
            </a:r>
          </a:p>
          <a:p>
            <a:pPr algn="l">
              <a:spcBef>
                <a:spcPts val="600"/>
              </a:spcBef>
            </a:pPr>
            <a:r>
              <a:rPr sz="1100" i="0">
                <a:solidFill>
                  <a:srgbClr val="2A1006"/>
                </a:solidFill>
                <a:latin typeface="Plus Jakarta Sans"/>
              </a:rPr>
              <a:t>Hechos crudos. Ej.: 1 capuchino, $4.50, 10:15 AM.</a:t>
            </a:r>
          </a:p>
        </p:txBody>
      </p:sp>
      <p:sp>
        <p:nvSpPr>
          <p:cNvPr id="374" name="Rounded Rectangle 373"/>
          <p:cNvSpPr/>
          <p:nvPr/>
        </p:nvSpPr>
        <p:spPr>
          <a:xfrm>
            <a:off x="254889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2. Información</a:t>
            </a:r>
          </a:p>
          <a:p>
            <a:pPr algn="l">
              <a:spcBef>
                <a:spcPts val="600"/>
              </a:spcBef>
            </a:pPr>
            <a:r>
              <a:rPr sz="1100" i="0">
                <a:solidFill>
                  <a:srgbClr val="2A1006"/>
                </a:solidFill>
                <a:latin typeface="Plus Jakarta Sans"/>
              </a:rPr>
              <a:t>Datos con contexto. Ej.: el 70% de los capuchinos se vende antes de las 11 AM.</a:t>
            </a:r>
          </a:p>
        </p:txBody>
      </p:sp>
      <p:sp>
        <p:nvSpPr>
          <p:cNvPr id="375" name="Rounded Rectangle 374"/>
          <p:cNvSpPr/>
          <p:nvPr/>
        </p:nvSpPr>
        <p:spPr>
          <a:xfrm>
            <a:off x="464058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3. Conocimiento</a:t>
            </a:r>
          </a:p>
          <a:p>
            <a:pPr algn="l">
              <a:spcBef>
                <a:spcPts val="600"/>
              </a:spcBef>
            </a:pPr>
            <a:r>
              <a:rPr sz="1100" i="0">
                <a:solidFill>
                  <a:srgbClr val="2A1006"/>
                </a:solidFill>
                <a:latin typeface="Plus Jakarta Sans"/>
              </a:rPr>
              <a:t>Patrones. Ej.: de mañana prefieren bebidas calientes; de tarde, snacks fríos.</a:t>
            </a:r>
          </a:p>
        </p:txBody>
      </p:sp>
      <p:sp>
        <p:nvSpPr>
          <p:cNvPr id="376" name="Rounded Rectangle 375"/>
          <p:cNvSpPr/>
          <p:nvPr/>
        </p:nvSpPr>
        <p:spPr>
          <a:xfrm>
            <a:off x="673227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4. Acción</a:t>
            </a:r>
          </a:p>
          <a:p>
            <a:pPr algn="l">
              <a:spcBef>
                <a:spcPts val="600"/>
              </a:spcBef>
            </a:pPr>
            <a:r>
              <a:rPr sz="1100" i="0">
                <a:solidFill>
                  <a:srgbClr val="2A1006"/>
                </a:solidFill>
                <a:latin typeface="Plus Jakarta Sans"/>
              </a:rPr>
              <a:t>Decidir. Ej.: combo café + muffin solo en el turno mañana.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El proceso de análisis en 5 etapas</a:t>
            </a:r>
          </a:p>
        </p:txBody>
      </p:sp>
      <p:sp>
        <p:nvSpPr>
          <p:cNvPr id="372" name="Rounded Rectangle 371"/>
          <p:cNvSpPr/>
          <p:nvPr/>
        </p:nvSpPr>
        <p:spPr>
          <a:xfrm>
            <a:off x="457200" y="1005840"/>
            <a:ext cx="153619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i="0">
                <a:solidFill>
                  <a:srgbClr val="FF632B"/>
                </a:solidFill>
                <a:latin typeface="Plus Jakarta Sans ExtraBold"/>
              </a:rPr>
              <a:t>A. Definir el problema</a:t>
            </a:r>
          </a:p>
          <a:p>
            <a:pPr algn="l">
              <a:spcBef>
                <a:spcPts val="600"/>
              </a:spcBef>
            </a:pPr>
            <a:r>
              <a:rPr sz="1100" i="0">
                <a:solidFill>
                  <a:srgbClr val="2A1006"/>
                </a:solidFill>
                <a:latin typeface="Plus Jakarta Sans"/>
              </a:rPr>
              <a:t>La etapa más crítica: la pregunta correcta.</a:t>
            </a:r>
          </a:p>
        </p:txBody>
      </p:sp>
      <p:sp>
        <p:nvSpPr>
          <p:cNvPr id="373" name="Rounded Rectangle 372"/>
          <p:cNvSpPr/>
          <p:nvPr/>
        </p:nvSpPr>
        <p:spPr>
          <a:xfrm>
            <a:off x="2130552" y="1005840"/>
            <a:ext cx="153619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i="0">
                <a:solidFill>
                  <a:srgbClr val="FF632B"/>
                </a:solidFill>
                <a:latin typeface="Plus Jakarta Sans ExtraBold"/>
              </a:rPr>
              <a:t>B. Recolectar y preparar</a:t>
            </a:r>
          </a:p>
          <a:p>
            <a:pPr algn="l">
              <a:spcBef>
                <a:spcPts val="600"/>
              </a:spcBef>
            </a:pPr>
            <a:r>
              <a:rPr sz="1100" i="0">
                <a:solidFill>
                  <a:srgbClr val="2A1006"/>
                </a:solidFill>
                <a:latin typeface="Plus Jakarta Sans"/>
              </a:rPr>
              <a:t>Aquí se va ~80% del tiempo: limpiar datos sucios.</a:t>
            </a:r>
          </a:p>
        </p:txBody>
      </p:sp>
      <p:sp>
        <p:nvSpPr>
          <p:cNvPr id="374" name="Rounded Rectangle 373"/>
          <p:cNvSpPr/>
          <p:nvPr/>
        </p:nvSpPr>
        <p:spPr>
          <a:xfrm>
            <a:off x="3803904" y="1005840"/>
            <a:ext cx="153619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i="0">
                <a:solidFill>
                  <a:srgbClr val="FF632B"/>
                </a:solidFill>
                <a:latin typeface="Plus Jakarta Sans ExtraBold"/>
              </a:rPr>
              <a:t>C. Explorar (EDA)</a:t>
            </a:r>
          </a:p>
          <a:p>
            <a:pPr algn="l">
              <a:spcBef>
                <a:spcPts val="600"/>
              </a:spcBef>
            </a:pPr>
            <a:r>
              <a:rPr sz="1100" i="0">
                <a:solidFill>
                  <a:srgbClr val="2A1006"/>
                </a:solidFill>
                <a:latin typeface="Plus Jakarta Sans"/>
              </a:rPr>
              <a:t>Tendencias, valores atípicos y correlaciones.</a:t>
            </a:r>
          </a:p>
        </p:txBody>
      </p:sp>
      <p:sp>
        <p:nvSpPr>
          <p:cNvPr id="375" name="Rounded Rectangle 374"/>
          <p:cNvSpPr/>
          <p:nvPr/>
        </p:nvSpPr>
        <p:spPr>
          <a:xfrm>
            <a:off x="5477256" y="1005840"/>
            <a:ext cx="153619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i="0">
                <a:solidFill>
                  <a:srgbClr val="FF632B"/>
                </a:solidFill>
                <a:latin typeface="Plus Jakarta Sans ExtraBold"/>
              </a:rPr>
              <a:t>D. Comunicar</a:t>
            </a:r>
          </a:p>
          <a:p>
            <a:pPr algn="l">
              <a:spcBef>
                <a:spcPts val="600"/>
              </a:spcBef>
            </a:pPr>
            <a:r>
              <a:rPr sz="1100" i="0">
                <a:solidFill>
                  <a:srgbClr val="2A1006"/>
                </a:solidFill>
                <a:latin typeface="Plus Jakarta Sans"/>
              </a:rPr>
              <a:t>Contar la historia con un gráfico claro.</a:t>
            </a:r>
          </a:p>
        </p:txBody>
      </p:sp>
      <p:sp>
        <p:nvSpPr>
          <p:cNvPr id="376" name="Rounded Rectangle 375"/>
          <p:cNvSpPr/>
          <p:nvPr/>
        </p:nvSpPr>
        <p:spPr>
          <a:xfrm>
            <a:off x="7150608" y="1005840"/>
            <a:ext cx="153619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200" i="0">
                <a:solidFill>
                  <a:srgbClr val="FF632B"/>
                </a:solidFill>
                <a:latin typeface="Plus Jakarta Sans ExtraBold"/>
              </a:rPr>
              <a:t>E. Actuar</a:t>
            </a:r>
          </a:p>
          <a:p>
            <a:pPr algn="l">
              <a:spcBef>
                <a:spcPts val="600"/>
              </a:spcBef>
            </a:pPr>
            <a:r>
              <a:rPr sz="1100" i="0">
                <a:solidFill>
                  <a:srgbClr val="2A1006"/>
                </a:solidFill>
                <a:latin typeface="Plus Jakarta Sans"/>
              </a:rPr>
              <a:t>Si nada cambia, el análisis no sirvió.</a:t>
            </a:r>
          </a:p>
        </p:txBody>
      </p:sp>
      <p:sp>
        <p:nvSpPr>
          <p:cNvPr id="377" name="TextBox 376"/>
          <p:cNvSpPr txBox="1"/>
          <p:nvPr/>
        </p:nvSpPr>
        <p:spPr>
          <a:xfrm>
            <a:off x="548640" y="4114800"/>
            <a:ext cx="8046720" cy="502920"/>
          </a:xfrm>
          <a:prstGeom prst="rect">
            <a:avLst/>
          </a:prstGeom>
          <a:noFill/>
        </p:spPr>
        <p:txBody>
          <a:bodyPr wrap="square">
            <a:spAutoFit/>
          </a:bodyPr>
          <a:lstStyle/>
          <a:p>
            <a:r>
              <a:rPr sz="1200" i="1">
                <a:solidFill>
                  <a:srgbClr val="FF632B"/>
                </a:solidFill>
                <a:latin typeface="Plus Jakarta Sans Light"/>
              </a:rPr>
              <a:t>No es una línea recta: cada acción genera nuevos datos y el ciclo vuelve a empezar.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Definir el problema y preparar los datos</a:t>
            </a:r>
          </a:p>
        </p:txBody>
      </p:sp>
      <p:sp>
        <p:nvSpPr>
          <p:cNvPr id="372" name="Rounded Rectangle 371"/>
          <p:cNvSpPr/>
          <p:nvPr/>
        </p:nvSpPr>
        <p:spPr>
          <a:xfrm>
            <a:off x="45720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Definir el problema</a:t>
            </a:r>
          </a:p>
          <a:p>
            <a:pPr algn="l">
              <a:spcBef>
                <a:spcPts val="600"/>
              </a:spcBef>
            </a:pPr>
            <a:r>
              <a:rPr sz="1200" i="0">
                <a:solidFill>
                  <a:srgbClr val="2A1006"/>
                </a:solidFill>
                <a:latin typeface="Plus Jakarta Sans"/>
              </a:rPr>
              <a:t>Mal planteamiento: “¿Cuántas ventas tuvimos?” (métrica de vanidad).
Buen planteamiento: “¿Por qué las ventas de la sucursal Centro cayeron 15% frente al mes pasado?”</a:t>
            </a:r>
          </a:p>
        </p:txBody>
      </p:sp>
      <p:sp>
        <p:nvSpPr>
          <p:cNvPr id="373" name="Rounded Rectangle 372"/>
          <p:cNvSpPr/>
          <p:nvPr/>
        </p:nvSpPr>
        <p:spPr>
          <a:xfrm>
            <a:off x="466344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Preparar los datos</a:t>
            </a:r>
          </a:p>
          <a:p>
            <a:pPr algn="l">
              <a:spcBef>
                <a:spcPts val="600"/>
              </a:spcBef>
            </a:pPr>
            <a:r>
              <a:rPr sz="1200" i="0">
                <a:solidFill>
                  <a:srgbClr val="2A1006"/>
                </a:solidFill>
                <a:latin typeface="Plus Jakarta Sans"/>
              </a:rPr>
              <a:t>Los datos reales vienen “sucios”: nombres mal escritos, fechas en distintos formatos, valores faltantes.
Ej.: “Juan Pérez”, “juan perez” y “J. Perez” deben normalizarse en una sola identidad.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Análisis descriptivo vs. diagnóstico</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Error común: quedarse solo en lo descriptivo (“las ventas bajaron”). El valor está en el porqué.</a:t>
            </a:r>
          </a:p>
        </p:txBody>
      </p:sp>
      <p:graphicFrame>
        <p:nvGraphicFramePr>
          <p:cNvPr id="373" name="Table 372"/>
          <p:cNvGraphicFramePr>
            <a:graphicFrameLocks noGrp="1"/>
          </p:cNvGraphicFramePr>
          <p:nvPr/>
        </p:nvGraphicFramePr>
        <p:xfrm>
          <a:off x="457200" y="1280160"/>
          <a:ext cx="8229600" cy="1097280"/>
        </p:xfrm>
        <a:graphic>
          <a:graphicData uri="http://schemas.openxmlformats.org/drawingml/2006/table">
            <a:tbl>
              <a:tblPr firstRow="1" bandRow="1">
                <a:tableStyleId>{5C22544A-7EE6-4342-B048-85BDC9FD1C3A}</a:tableStyleId>
              </a:tblPr>
              <a:tblGrid>
                <a:gridCol w="1645920"/>
                <a:gridCol w="1828800"/>
                <a:gridCol w="4754880"/>
              </a:tblGrid>
              <a:tr h="365760">
                <a:tc>
                  <a:txBody>
                    <a:bodyPr/>
                    <a:lstStyle/>
                    <a:p>
                      <a:r>
                        <a:rPr sz="1200" i="0">
                          <a:solidFill>
                            <a:srgbClr val="FFFFFF"/>
                          </a:solidFill>
                          <a:latin typeface="Plus Jakarta Sans ExtraBold"/>
                        </a:rPr>
                        <a:t>Tipo</a:t>
                      </a:r>
                    </a:p>
                  </a:txBody>
                  <a:tcPr marL="73152" marR="73152" anchor="ctr">
                    <a:solidFill>
                      <a:srgbClr val="FF632B"/>
                    </a:solidFill>
                  </a:tcPr>
                </a:tc>
                <a:tc>
                  <a:txBody>
                    <a:bodyPr/>
                    <a:lstStyle/>
                    <a:p>
                      <a:r>
                        <a:rPr sz="1200" i="0">
                          <a:solidFill>
                            <a:srgbClr val="FFFFFF"/>
                          </a:solidFill>
                          <a:latin typeface="Plus Jakarta Sans ExtraBold"/>
                        </a:rPr>
                        <a:t>Pregunta</a:t>
                      </a:r>
                    </a:p>
                  </a:txBody>
                  <a:tcPr marL="73152" marR="73152" anchor="ctr">
                    <a:solidFill>
                      <a:srgbClr val="FF632B"/>
                    </a:solidFill>
                  </a:tcPr>
                </a:tc>
                <a:tc>
                  <a:txBody>
                    <a:bodyPr/>
                    <a:lstStyle/>
                    <a:p>
                      <a:r>
                        <a:rPr sz="1200" i="0">
                          <a:solidFill>
                            <a:srgbClr val="FFFFFF"/>
                          </a:solidFill>
                          <a:latin typeface="Plus Jakarta Sans ExtraBold"/>
                        </a:rPr>
                        <a:t>Ejemplo en retail</a:t>
                      </a:r>
                    </a:p>
                  </a:txBody>
                  <a:tcPr marL="73152" marR="73152" anchor="ctr">
                    <a:solidFill>
                      <a:srgbClr val="FF632B"/>
                    </a:solidFill>
                  </a:tcPr>
                </a:tc>
              </a:tr>
              <a:tr h="365760">
                <a:tc>
                  <a:txBody>
                    <a:bodyPr/>
                    <a:lstStyle/>
                    <a:p>
                      <a:r>
                        <a:rPr sz="1200" i="0">
                          <a:solidFill>
                            <a:srgbClr val="2A1006"/>
                          </a:solidFill>
                          <a:latin typeface="Plus Jakarta Sans ExtraBold"/>
                        </a:rPr>
                        <a:t>Descriptivo</a:t>
                      </a:r>
                    </a:p>
                  </a:txBody>
                  <a:tcPr marL="73152" marR="73152" anchor="ctr">
                    <a:solidFill>
                      <a:srgbClr val="FFFFFF"/>
                    </a:solidFill>
                  </a:tcPr>
                </a:tc>
                <a:tc>
                  <a:txBody>
                    <a:bodyPr/>
                    <a:lstStyle/>
                    <a:p>
                      <a:r>
                        <a:rPr sz="1200" i="0">
                          <a:solidFill>
                            <a:srgbClr val="2A1006"/>
                          </a:solidFill>
                          <a:latin typeface="Plus Jakarta Sans"/>
                        </a:rPr>
                        <a:t>¿Qué pasó?</a:t>
                      </a:r>
                    </a:p>
                  </a:txBody>
                  <a:tcPr marL="73152" marR="73152" anchor="ctr">
                    <a:solidFill>
                      <a:srgbClr val="FFFFFF"/>
                    </a:solidFill>
                  </a:tcPr>
                </a:tc>
                <a:tc>
                  <a:txBody>
                    <a:bodyPr/>
                    <a:lstStyle/>
                    <a:p>
                      <a:r>
                        <a:rPr sz="1200" i="0">
                          <a:solidFill>
                            <a:srgbClr val="2A1006"/>
                          </a:solidFill>
                          <a:latin typeface="Plus Jakarta Sans"/>
                        </a:rPr>
                        <a:t>El mes pasado vendimos 500 unidades de chocolate.</a:t>
                      </a:r>
                    </a:p>
                  </a:txBody>
                  <a:tcPr marL="73152" marR="73152" anchor="ctr">
                    <a:solidFill>
                      <a:srgbClr val="FFFFFF"/>
                    </a:solidFill>
                  </a:tcPr>
                </a:tc>
              </a:tr>
              <a:tr h="365760">
                <a:tc>
                  <a:txBody>
                    <a:bodyPr/>
                    <a:lstStyle/>
                    <a:p>
                      <a:r>
                        <a:rPr sz="1200" i="0">
                          <a:solidFill>
                            <a:srgbClr val="2A1006"/>
                          </a:solidFill>
                          <a:latin typeface="Plus Jakarta Sans ExtraBold"/>
                        </a:rPr>
                        <a:t>Diagnóstico</a:t>
                      </a:r>
                    </a:p>
                  </a:txBody>
                  <a:tcPr marL="73152" marR="73152" anchor="ctr">
                    <a:solidFill>
                      <a:srgbClr val="FFF1E8"/>
                    </a:solidFill>
                  </a:tcPr>
                </a:tc>
                <a:tc>
                  <a:txBody>
                    <a:bodyPr/>
                    <a:lstStyle/>
                    <a:p>
                      <a:r>
                        <a:rPr sz="1200" i="0">
                          <a:solidFill>
                            <a:srgbClr val="2A1006"/>
                          </a:solidFill>
                          <a:latin typeface="Plus Jakarta Sans"/>
                        </a:rPr>
                        <a:t>¿Por qué pasó?</a:t>
                      </a:r>
                    </a:p>
                  </a:txBody>
                  <a:tcPr marL="73152" marR="73152" anchor="ctr">
                    <a:solidFill>
                      <a:srgbClr val="FFF1E8"/>
                    </a:solidFill>
                  </a:tcPr>
                </a:tc>
                <a:tc>
                  <a:txBody>
                    <a:bodyPr/>
                    <a:lstStyle/>
                    <a:p>
                      <a:r>
                        <a:rPr sz="1200" i="0">
                          <a:solidFill>
                            <a:srgbClr val="2A1006"/>
                          </a:solidFill>
                          <a:latin typeface="Plus Jakarta Sans"/>
                        </a:rPr>
                        <a:t>Subieron por una ola de frío y un cupón de descuento.</a:t>
                      </a:r>
                    </a:p>
                  </a:txBody>
                  <a:tcPr marL="73152" marR="73152" anchor="ctr">
                    <a:solidFill>
                      <a:srgbClr val="FFF1E8"/>
                    </a:solidFill>
                  </a:tcPr>
                </a:tc>
              </a:tr>
            </a:tbl>
          </a:graphicData>
        </a:graphic>
      </p:graphicFrame>
      <p:sp>
        <p:nvSpPr>
          <p:cNvPr id="374" name="TextBox 373"/>
          <p:cNvSpPr txBox="1"/>
          <p:nvPr/>
        </p:nvSpPr>
        <p:spPr>
          <a:xfrm>
            <a:off x="548640" y="4206240"/>
            <a:ext cx="8046720" cy="411480"/>
          </a:xfrm>
          <a:prstGeom prst="rect">
            <a:avLst/>
          </a:prstGeom>
          <a:noFill/>
        </p:spPr>
        <p:txBody>
          <a:bodyPr wrap="square">
            <a:spAutoFit/>
          </a:bodyPr>
          <a:lstStyle/>
          <a:p>
            <a:r>
              <a:rPr sz="1100" i="1">
                <a:solidFill>
                  <a:srgbClr val="FF632B"/>
                </a:solidFill>
                <a:latin typeface="Plus Jakarta Sans Light"/>
              </a:rPr>
              <a:t>Ej.: las ventas bajaron porque la espera en caja pasó de 2 a 5 minutos.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Herramientas del analista en la práctica</a:t>
            </a:r>
          </a:p>
        </p:txBody>
      </p:sp>
      <p:graphicFrame>
        <p:nvGraphicFramePr>
          <p:cNvPr id="372" name="Table 371"/>
          <p:cNvGraphicFramePr>
            <a:graphicFrameLocks noGrp="1"/>
          </p:cNvGraphicFramePr>
          <p:nvPr/>
        </p:nvGraphicFramePr>
        <p:xfrm>
          <a:off x="457200" y="914400"/>
          <a:ext cx="8229599" cy="1828800"/>
        </p:xfrm>
        <a:graphic>
          <a:graphicData uri="http://schemas.openxmlformats.org/drawingml/2006/table">
            <a:tbl>
              <a:tblPr firstRow="1" bandRow="1">
                <a:tableStyleId>{5C22544A-7EE6-4342-B048-85BDC9FD1C3A}</a:tableStyleId>
              </a:tblPr>
              <a:tblGrid>
                <a:gridCol w="1463040"/>
                <a:gridCol w="3017520"/>
                <a:gridCol w="3749039"/>
              </a:tblGrid>
              <a:tr h="365760">
                <a:tc>
                  <a:txBody>
                    <a:bodyPr/>
                    <a:lstStyle/>
                    <a:p>
                      <a:r>
                        <a:rPr sz="1200" i="0">
                          <a:solidFill>
                            <a:srgbClr val="FFFFFF"/>
                          </a:solidFill>
                          <a:latin typeface="Plus Jakarta Sans ExtraBold"/>
                        </a:rPr>
                        <a:t>Herramienta</a:t>
                      </a:r>
                    </a:p>
                  </a:txBody>
                  <a:tcPr marL="73152" marR="73152" anchor="ctr">
                    <a:solidFill>
                      <a:srgbClr val="FF632B"/>
                    </a:solidFill>
                  </a:tcPr>
                </a:tc>
                <a:tc>
                  <a:txBody>
                    <a:bodyPr/>
                    <a:lstStyle/>
                    <a:p>
                      <a:r>
                        <a:rPr sz="1200" i="0">
                          <a:solidFill>
                            <a:srgbClr val="FFFFFF"/>
                          </a:solidFill>
                          <a:latin typeface="Plus Jakarta Sans ExtraBold"/>
                        </a:rPr>
                        <a:t>Uso principal</a:t>
                      </a:r>
                    </a:p>
                  </a:txBody>
                  <a:tcPr marL="73152" marR="73152" anchor="ctr">
                    <a:solidFill>
                      <a:srgbClr val="FF632B"/>
                    </a:solidFill>
                  </a:tcPr>
                </a:tc>
                <a:tc>
                  <a:txBody>
                    <a:bodyPr/>
                    <a:lstStyle/>
                    <a:p>
                      <a:r>
                        <a:rPr sz="1200" i="0">
                          <a:solidFill>
                            <a:srgbClr val="FFFFFF"/>
                          </a:solidFill>
                          <a:latin typeface="Plus Jakarta Sans ExtraBold"/>
                        </a:rPr>
                        <a:t>Ejemplo de aplicación</a:t>
                      </a:r>
                    </a:p>
                  </a:txBody>
                  <a:tcPr marL="73152" marR="73152" anchor="ctr">
                    <a:solidFill>
                      <a:srgbClr val="FF632B"/>
                    </a:solidFill>
                  </a:tcPr>
                </a:tc>
              </a:tr>
              <a:tr h="365760">
                <a:tc>
                  <a:txBody>
                    <a:bodyPr/>
                    <a:lstStyle/>
                    <a:p>
                      <a:r>
                        <a:rPr sz="1200" i="0">
                          <a:solidFill>
                            <a:srgbClr val="2A1006"/>
                          </a:solidFill>
                          <a:latin typeface="Plus Jakarta Sans ExtraBold"/>
                        </a:rPr>
                        <a:t>SQL</a:t>
                      </a:r>
                    </a:p>
                  </a:txBody>
                  <a:tcPr marL="73152" marR="73152" anchor="ctr">
                    <a:solidFill>
                      <a:srgbClr val="FFFFFF"/>
                    </a:solidFill>
                  </a:tcPr>
                </a:tc>
                <a:tc>
                  <a:txBody>
                    <a:bodyPr/>
                    <a:lstStyle/>
                    <a:p>
                      <a:r>
                        <a:rPr sz="1200" i="0">
                          <a:solidFill>
                            <a:srgbClr val="2A1006"/>
                          </a:solidFill>
                          <a:latin typeface="Plus Jakarta Sans"/>
                        </a:rPr>
                        <a:t>Consultas y extracción de datos</a:t>
                      </a:r>
                    </a:p>
                  </a:txBody>
                  <a:tcPr marL="73152" marR="73152" anchor="ctr">
                    <a:solidFill>
                      <a:srgbClr val="FFFFFF"/>
                    </a:solidFill>
                  </a:tcPr>
                </a:tc>
                <a:tc>
                  <a:txBody>
                    <a:bodyPr/>
                    <a:lstStyle/>
                    <a:p>
                      <a:r>
                        <a:rPr sz="1200" i="0">
                          <a:solidFill>
                            <a:srgbClr val="2A1006"/>
                          </a:solidFill>
                          <a:latin typeface="Plus Jakarta Sans"/>
                        </a:rPr>
                        <a:t>Obtener ventas por región en un período</a:t>
                      </a:r>
                    </a:p>
                  </a:txBody>
                  <a:tcPr marL="73152" marR="73152" anchor="ctr">
                    <a:solidFill>
                      <a:srgbClr val="FFFFFF"/>
                    </a:solidFill>
                  </a:tcPr>
                </a:tc>
              </a:tr>
              <a:tr h="365760">
                <a:tc>
                  <a:txBody>
                    <a:bodyPr/>
                    <a:lstStyle/>
                    <a:p>
                      <a:r>
                        <a:rPr sz="1200" i="0">
                          <a:solidFill>
                            <a:srgbClr val="2A1006"/>
                          </a:solidFill>
                          <a:latin typeface="Plus Jakarta Sans ExtraBold"/>
                        </a:rPr>
                        <a:t>Python</a:t>
                      </a:r>
                    </a:p>
                  </a:txBody>
                  <a:tcPr marL="73152" marR="73152" anchor="ctr">
                    <a:solidFill>
                      <a:srgbClr val="FFF1E8"/>
                    </a:solidFill>
                  </a:tcPr>
                </a:tc>
                <a:tc>
                  <a:txBody>
                    <a:bodyPr/>
                    <a:lstStyle/>
                    <a:p>
                      <a:r>
                        <a:rPr sz="1200" i="0">
                          <a:solidFill>
                            <a:srgbClr val="2A1006"/>
                          </a:solidFill>
                          <a:latin typeface="Plus Jakarta Sans"/>
                        </a:rPr>
                        <a:t>Análisis estadístico y automatización</a:t>
                      </a:r>
                    </a:p>
                  </a:txBody>
                  <a:tcPr marL="73152" marR="73152" anchor="ctr">
                    <a:solidFill>
                      <a:srgbClr val="FFF1E8"/>
                    </a:solidFill>
                  </a:tcPr>
                </a:tc>
                <a:tc>
                  <a:txBody>
                    <a:bodyPr/>
                    <a:lstStyle/>
                    <a:p>
                      <a:r>
                        <a:rPr sz="1200" i="0">
                          <a:solidFill>
                            <a:srgbClr val="2A1006"/>
                          </a:solidFill>
                          <a:latin typeface="Plus Jakarta Sans"/>
                        </a:rPr>
                        <a:t>Calcular tendencias de comportamiento de clientes</a:t>
                      </a:r>
                    </a:p>
                  </a:txBody>
                  <a:tcPr marL="73152" marR="73152" anchor="ctr">
                    <a:solidFill>
                      <a:srgbClr val="FFF1E8"/>
                    </a:solidFill>
                  </a:tcPr>
                </a:tc>
              </a:tr>
              <a:tr h="365760">
                <a:tc>
                  <a:txBody>
                    <a:bodyPr/>
                    <a:lstStyle/>
                    <a:p>
                      <a:r>
                        <a:rPr sz="1200" i="0">
                          <a:solidFill>
                            <a:srgbClr val="2A1006"/>
                          </a:solidFill>
                          <a:latin typeface="Plus Jakarta Sans ExtraBold"/>
                        </a:rPr>
                        <a:t>R</a:t>
                      </a:r>
                    </a:p>
                  </a:txBody>
                  <a:tcPr marL="73152" marR="73152" anchor="ctr">
                    <a:solidFill>
                      <a:srgbClr val="FFFFFF"/>
                    </a:solidFill>
                  </a:tcPr>
                </a:tc>
                <a:tc>
                  <a:txBody>
                    <a:bodyPr/>
                    <a:lstStyle/>
                    <a:p>
                      <a:r>
                        <a:rPr sz="1200" i="0">
                          <a:solidFill>
                            <a:srgbClr val="2A1006"/>
                          </a:solidFill>
                          <a:latin typeface="Plus Jakarta Sans"/>
                        </a:rPr>
                        <a:t>Modelado estadístico y visualización</a:t>
                      </a:r>
                    </a:p>
                  </a:txBody>
                  <a:tcPr marL="73152" marR="73152" anchor="ctr">
                    <a:solidFill>
                      <a:srgbClr val="FFFFFF"/>
                    </a:solidFill>
                  </a:tcPr>
                </a:tc>
                <a:tc>
                  <a:txBody>
                    <a:bodyPr/>
                    <a:lstStyle/>
                    <a:p>
                      <a:r>
                        <a:rPr sz="1200" i="0">
                          <a:solidFill>
                            <a:srgbClr val="2A1006"/>
                          </a:solidFill>
                          <a:latin typeface="Plus Jakarta Sans"/>
                        </a:rPr>
                        <a:t>Análisis de segmentación de mercado</a:t>
                      </a:r>
                    </a:p>
                  </a:txBody>
                  <a:tcPr marL="73152" marR="73152" anchor="ctr">
                    <a:solidFill>
                      <a:srgbClr val="FFFFFF"/>
                    </a:solidFill>
                  </a:tcPr>
                </a:tc>
              </a:tr>
              <a:tr h="365760">
                <a:tc>
                  <a:txBody>
                    <a:bodyPr/>
                    <a:lstStyle/>
                    <a:p>
                      <a:r>
                        <a:rPr sz="1200" i="0">
                          <a:solidFill>
                            <a:srgbClr val="2A1006"/>
                          </a:solidFill>
                          <a:latin typeface="Plus Jakarta Sans ExtraBold"/>
                        </a:rPr>
                        <a:t>Power BI</a:t>
                      </a:r>
                    </a:p>
                  </a:txBody>
                  <a:tcPr marL="73152" marR="73152" anchor="ctr">
                    <a:solidFill>
                      <a:srgbClr val="FFF1E8"/>
                    </a:solidFill>
                  </a:tcPr>
                </a:tc>
                <a:tc>
                  <a:txBody>
                    <a:bodyPr/>
                    <a:lstStyle/>
                    <a:p>
                      <a:r>
                        <a:rPr sz="1200" i="0">
                          <a:solidFill>
                            <a:srgbClr val="2A1006"/>
                          </a:solidFill>
                          <a:latin typeface="Plus Jakarta Sans"/>
                        </a:rPr>
                        <a:t>Visualización y reportes dinámicos</a:t>
                      </a:r>
                    </a:p>
                  </a:txBody>
                  <a:tcPr marL="73152" marR="73152" anchor="ctr">
                    <a:solidFill>
                      <a:srgbClr val="FFF1E8"/>
                    </a:solidFill>
                  </a:tcPr>
                </a:tc>
                <a:tc>
                  <a:txBody>
                    <a:bodyPr/>
                    <a:lstStyle/>
                    <a:p>
                      <a:r>
                        <a:rPr sz="1200" i="0">
                          <a:solidFill>
                            <a:srgbClr val="2A1006"/>
                          </a:solidFill>
                          <a:latin typeface="Plus Jakarta Sans"/>
                        </a:rPr>
                        <a:t>Dashboard de indicadores clave (KPIs)</a:t>
                      </a:r>
                    </a:p>
                  </a:txBody>
                  <a:tcPr marL="73152" marR="73152" anchor="ctr">
                    <a:solidFill>
                      <a:srgbClr val="FFF1E8"/>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Flujo de trabajo típico</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El analista trabaja junto a marketing, operaciones, finanzas y tecnología para traducir necesidades en preguntas analíticas.</a:t>
            </a:r>
          </a:p>
        </p:txBody>
      </p:sp>
      <p:sp>
        <p:nvSpPr>
          <p:cNvPr id="373" name="Rounded Rectangle 372"/>
          <p:cNvSpPr/>
          <p:nvPr/>
        </p:nvSpPr>
        <p:spPr>
          <a:xfrm>
            <a:off x="45720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1. Recolección</a:t>
            </a:r>
          </a:p>
          <a:p>
            <a:pPr algn="l">
              <a:spcBef>
                <a:spcPts val="600"/>
              </a:spcBef>
            </a:pPr>
            <a:r>
              <a:rPr sz="1100" i="0">
                <a:solidFill>
                  <a:srgbClr val="2A1006"/>
                </a:solidFill>
                <a:latin typeface="Plus Jakarta Sans"/>
              </a:rPr>
              <a:t>Bases de datos, archivos, APIs o plataformas digitales.</a:t>
            </a:r>
          </a:p>
        </p:txBody>
      </p:sp>
      <p:sp>
        <p:nvSpPr>
          <p:cNvPr id="374" name="Rounded Rectangle 373"/>
          <p:cNvSpPr/>
          <p:nvPr/>
        </p:nvSpPr>
        <p:spPr>
          <a:xfrm>
            <a:off x="254889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2. Limpieza</a:t>
            </a:r>
          </a:p>
          <a:p>
            <a:pPr algn="l">
              <a:spcBef>
                <a:spcPts val="600"/>
              </a:spcBef>
            </a:pPr>
            <a:r>
              <a:rPr sz="1100" i="0">
                <a:solidFill>
                  <a:srgbClr val="2A1006"/>
                </a:solidFill>
                <a:latin typeface="Plus Jakarta Sans"/>
              </a:rPr>
              <a:t>Calidad y consistencia: sin errores ni valores atípicos.</a:t>
            </a:r>
          </a:p>
        </p:txBody>
      </p:sp>
      <p:sp>
        <p:nvSpPr>
          <p:cNvPr id="375" name="Rounded Rectangle 374"/>
          <p:cNvSpPr/>
          <p:nvPr/>
        </p:nvSpPr>
        <p:spPr>
          <a:xfrm>
            <a:off x="464058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3. Exploración</a:t>
            </a:r>
          </a:p>
          <a:p>
            <a:pPr algn="l">
              <a:spcBef>
                <a:spcPts val="600"/>
              </a:spcBef>
            </a:pPr>
            <a:r>
              <a:rPr sz="1100" i="0">
                <a:solidFill>
                  <a:srgbClr val="2A1006"/>
                </a:solidFill>
                <a:latin typeface="Plus Jakarta Sans"/>
              </a:rPr>
              <a:t>Patrones, tendencias y relaciones relevantes.</a:t>
            </a:r>
          </a:p>
        </p:txBody>
      </p:sp>
      <p:sp>
        <p:nvSpPr>
          <p:cNvPr id="376" name="Rounded Rectangle 375"/>
          <p:cNvSpPr/>
          <p:nvPr/>
        </p:nvSpPr>
        <p:spPr>
          <a:xfrm>
            <a:off x="673227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4. Comunicación</a:t>
            </a:r>
          </a:p>
          <a:p>
            <a:pPr algn="l">
              <a:spcBef>
                <a:spcPts val="600"/>
              </a:spcBef>
            </a:pPr>
            <a:r>
              <a:rPr sz="1100" i="0">
                <a:solidFill>
                  <a:srgbClr val="2A1006"/>
                </a:solidFill>
                <a:latin typeface="Plus Jakarta Sans"/>
              </a:rPr>
              <a:t>Gráficos, reportes y dashboards para decidir.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Las tres disciplinas trabajan juntas</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Ejemplo: un equipo de marketing.</a:t>
            </a:r>
          </a:p>
        </p:txBody>
      </p:sp>
      <p:sp>
        <p:nvSpPr>
          <p:cNvPr id="373" name="Rounded Rectangle 372"/>
          <p:cNvSpPr/>
          <p:nvPr/>
        </p:nvSpPr>
        <p:spPr>
          <a:xfrm>
            <a:off x="457200" y="137160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Business Intelligence</a:t>
            </a:r>
          </a:p>
          <a:p>
            <a:pPr algn="l">
              <a:spcBef>
                <a:spcPts val="600"/>
              </a:spcBef>
            </a:pPr>
            <a:r>
              <a:rPr sz="1100" i="0">
                <a:solidFill>
                  <a:srgbClr val="2A1006"/>
                </a:solidFill>
                <a:latin typeface="Plus Jakarta Sans"/>
              </a:rPr>
              <a:t>Monitorea las campañas actuales con dashboards.</a:t>
            </a:r>
          </a:p>
        </p:txBody>
      </p:sp>
      <p:sp>
        <p:nvSpPr>
          <p:cNvPr id="374" name="Rounded Rectangle 373"/>
          <p:cNvSpPr/>
          <p:nvPr/>
        </p:nvSpPr>
        <p:spPr>
          <a:xfrm>
            <a:off x="3246120" y="137160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Data Analytics</a:t>
            </a:r>
          </a:p>
          <a:p>
            <a:pPr algn="l">
              <a:spcBef>
                <a:spcPts val="600"/>
              </a:spcBef>
            </a:pPr>
            <a:r>
              <a:rPr sz="1100" i="0">
                <a:solidFill>
                  <a:srgbClr val="2A1006"/>
                </a:solidFill>
                <a:latin typeface="Plus Jakarta Sans"/>
              </a:rPr>
              <a:t>Entiende el comportamiento del cliente.</a:t>
            </a:r>
          </a:p>
        </p:txBody>
      </p:sp>
      <p:sp>
        <p:nvSpPr>
          <p:cNvPr id="375" name="Rounded Rectangle 374"/>
          <p:cNvSpPr/>
          <p:nvPr/>
        </p:nvSpPr>
        <p:spPr>
          <a:xfrm>
            <a:off x="6035040" y="1371600"/>
            <a:ext cx="265176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Data Science</a:t>
            </a:r>
          </a:p>
          <a:p>
            <a:pPr algn="l">
              <a:spcBef>
                <a:spcPts val="600"/>
              </a:spcBef>
            </a:pPr>
            <a:r>
              <a:rPr sz="1100" i="0">
                <a:solidFill>
                  <a:srgbClr val="2A1006"/>
                </a:solidFill>
                <a:latin typeface="Plus Jakarta Sans"/>
              </a:rPr>
              <a:t>Predice tendencias futuras y optimiza presupuestos.</a:t>
            </a:r>
          </a:p>
        </p:txBody>
      </p:sp>
      <p:sp>
        <p:nvSpPr>
          <p:cNvPr id="376" name="TextBox 375"/>
          <p:cNvSpPr txBox="1"/>
          <p:nvPr/>
        </p:nvSpPr>
        <p:spPr>
          <a:xfrm>
            <a:off x="548640" y="4114800"/>
            <a:ext cx="8046720" cy="502920"/>
          </a:xfrm>
          <a:prstGeom prst="rect">
            <a:avLst/>
          </a:prstGeom>
          <a:noFill/>
        </p:spPr>
        <p:txBody>
          <a:bodyPr wrap="square">
            <a:spAutoFit/>
          </a:bodyPr>
          <a:lstStyle/>
          <a:p>
            <a:r>
              <a:rPr sz="1200" i="1">
                <a:solidFill>
                  <a:srgbClr val="FF632B"/>
                </a:solidFill>
                <a:latin typeface="Plus Jakarta Sans Light"/>
              </a:rPr>
              <a:t>La IA potencia cada una: automatiza reportes en BI, segmentaciones dinámicas en Analytics y modelos de aprendizaje en Data Science.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Casos reales: del hallazgo a la acción</a:t>
            </a:r>
          </a:p>
        </p:txBody>
      </p:sp>
      <p:sp>
        <p:nvSpPr>
          <p:cNvPr id="372" name="Rounded Rectangle 371"/>
          <p:cNvSpPr/>
          <p:nvPr/>
        </p:nvSpPr>
        <p:spPr>
          <a:xfrm>
            <a:off x="45720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Supermercado: pañales y cerveza</a:t>
            </a:r>
          </a:p>
          <a:p>
            <a:pPr algn="l">
              <a:spcBef>
                <a:spcPts val="600"/>
              </a:spcBef>
            </a:pPr>
            <a:r>
              <a:rPr sz="1200" i="0">
                <a:solidFill>
                  <a:srgbClr val="2A1006"/>
                </a:solidFill>
                <a:latin typeface="Plus Jakarta Sans"/>
              </a:rPr>
              <a:t>Hallazgo: los viernes suben a la vez las ventas de pañales y cerveza.
Acción: poner los estantes de cerveza cerca de los de pañales.
Resultado: más ventas de ambos productos.</a:t>
            </a:r>
          </a:p>
        </p:txBody>
      </p:sp>
      <p:sp>
        <p:nvSpPr>
          <p:cNvPr id="373" name="Rounded Rectangle 372"/>
          <p:cNvSpPr/>
          <p:nvPr/>
        </p:nvSpPr>
        <p:spPr>
          <a:xfrm>
            <a:off x="466344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App de streaming: la primera playlist</a:t>
            </a:r>
          </a:p>
          <a:p>
            <a:pPr algn="l">
              <a:spcBef>
                <a:spcPts val="600"/>
              </a:spcBef>
            </a:pPr>
            <a:r>
              <a:rPr sz="1200" i="0">
                <a:solidFill>
                  <a:srgbClr val="2A1006"/>
                </a:solidFill>
                <a:latin typeface="Plus Jakarta Sans"/>
              </a:rPr>
              <a:t>Hallazgo: quien crea una playlist en su primera semana tiene 50% menos probabilidad de cancelar.
Acción: el botón “Crear Playlist” es lo primero que ve un usuario nuevo.
Resultado: más retención y mayor LTV.</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Trampas conceptuales y errores comunes</a:t>
            </a:r>
          </a:p>
        </p:txBody>
      </p:sp>
      <p:sp>
        <p:nvSpPr>
          <p:cNvPr id="372" name="Rounded Rectangle 371"/>
          <p:cNvSpPr/>
          <p:nvPr/>
        </p:nvSpPr>
        <p:spPr>
          <a:xfrm>
            <a:off x="45720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Correlación no es causalidad</a:t>
            </a:r>
          </a:p>
          <a:p>
            <a:pPr algn="l">
              <a:spcBef>
                <a:spcPts val="600"/>
              </a:spcBef>
            </a:pPr>
            <a:r>
              <a:rPr sz="1200" i="0">
                <a:solidFill>
                  <a:srgbClr val="2A1006"/>
                </a:solidFill>
                <a:latin typeface="Plus Jakarta Sans"/>
              </a:rPr>
              <a:t>Más helados y más ataques de tiburones van juntos, pero la causa es una variable oculta: el verano.
Pregúntate siempre si un tercer factor explica la relación.</a:t>
            </a:r>
          </a:p>
        </p:txBody>
      </p:sp>
      <p:sp>
        <p:nvSpPr>
          <p:cNvPr id="373" name="Rounded Rectangle 372"/>
          <p:cNvSpPr/>
          <p:nvPr/>
        </p:nvSpPr>
        <p:spPr>
          <a:xfrm>
            <a:off x="466344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Sesgo de confirmación</a:t>
            </a:r>
          </a:p>
          <a:p>
            <a:pPr algn="l">
              <a:spcBef>
                <a:spcPts val="600"/>
              </a:spcBef>
            </a:pPr>
            <a:r>
              <a:rPr sz="1200" i="0">
                <a:solidFill>
                  <a:srgbClr val="2A1006"/>
                </a:solidFill>
                <a:latin typeface="Plus Jakarta Sans"/>
              </a:rPr>
              <a:t>Buscar datos que apoyen lo que ya creemos. Las ventas subieron tras la publicidad en Instagram, pero en realidad por el cierre de un competidor.
Tu trabajo es darle la verdad a la organización, no la razón al jefe.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Síntesis: el análisis es un ciclo</a:t>
            </a:r>
          </a:p>
        </p:txBody>
      </p:sp>
      <p:sp>
        <p:nvSpPr>
          <p:cNvPr id="372" name="Rounded Rectangle 371"/>
          <p:cNvSpPr/>
          <p:nvPr/>
        </p:nvSpPr>
        <p:spPr>
          <a:xfrm>
            <a:off x="45720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Del dato a la decisión</a:t>
            </a:r>
          </a:p>
          <a:p>
            <a:pPr algn="l">
              <a:spcBef>
                <a:spcPts val="600"/>
              </a:spcBef>
            </a:pPr>
            <a:r>
              <a:rPr sz="1200" i="0">
                <a:solidFill>
                  <a:srgbClr val="2A1006"/>
                </a:solidFill>
                <a:latin typeface="Plus Jakarta Sans"/>
              </a:rPr>
              <a:t>Detrás de cada fila hay un cliente, un proceso o un evento real. Cada acción genera nuevos datos que deben analizarse otra vez para ver si la decisión fue correcta.</a:t>
            </a:r>
          </a:p>
        </p:txBody>
      </p:sp>
      <p:sp>
        <p:nvSpPr>
          <p:cNvPr id="373" name="Rounded Rectangle 372"/>
          <p:cNvSpPr/>
          <p:nvPr/>
        </p:nvSpPr>
        <p:spPr>
          <a:xfrm>
            <a:off x="466344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Para reflexionar</a:t>
            </a:r>
          </a:p>
          <a:p>
            <a:pPr algn="l">
              <a:spcBef>
                <a:spcPts val="600"/>
              </a:spcBef>
            </a:pPr>
            <a:r>
              <a:rPr sz="1200" i="0">
                <a:solidFill>
                  <a:srgbClr val="2A1006"/>
                </a:solidFill>
                <a:latin typeface="Plus Jakarta Sans"/>
              </a:rPr>
              <a:t>Si analizaras el éxito de tu propia carrera profesional, ¿qué datos recolectarías y qué pregunta “diagnóstica” te harías?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Cómo se conectan las tecnologías</a:t>
            </a:r>
          </a:p>
        </p:txBody>
      </p:sp>
      <p:sp>
        <p:nvSpPr>
          <p:cNvPr id="372" name="TextBox 371"/>
          <p:cNvSpPr txBox="1"/>
          <p:nvPr/>
        </p:nvSpPr>
        <p:spPr>
          <a:xfrm>
            <a:off x="548640" y="658368"/>
            <a:ext cx="8046720" cy="548640"/>
          </a:xfrm>
          <a:prstGeom prst="rect">
            <a:avLst/>
          </a:prstGeom>
          <a:noFill/>
        </p:spPr>
        <p:txBody>
          <a:bodyPr wrap="square">
            <a:spAutoFit/>
          </a:bodyPr>
          <a:lstStyle/>
          <a:p>
            <a:r>
              <a:rPr sz="1200" i="0">
                <a:solidFill>
                  <a:srgbClr val="2A1006"/>
                </a:solidFill>
                <a:latin typeface="Plus Jakarta Sans Light"/>
              </a:rPr>
              <a:t>Ej.: ventas en MySQL → pipeline ETL → data lake → dashboard en Power BI.</a:t>
            </a:r>
          </a:p>
        </p:txBody>
      </p:sp>
      <p:sp>
        <p:nvSpPr>
          <p:cNvPr id="373" name="Rounded Rectangle 372"/>
          <p:cNvSpPr/>
          <p:nvPr/>
        </p:nvSpPr>
        <p:spPr>
          <a:xfrm>
            <a:off x="45720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Bases relacionales</a:t>
            </a:r>
          </a:p>
          <a:p>
            <a:pPr algn="l">
              <a:spcBef>
                <a:spcPts val="600"/>
              </a:spcBef>
            </a:pPr>
            <a:r>
              <a:rPr sz="1100" i="0">
                <a:solidFill>
                  <a:srgbClr val="2A1006"/>
                </a:solidFill>
                <a:latin typeface="Plus Jakarta Sans"/>
              </a:rPr>
              <a:t>MySQL, PostgreSQL o SQL Server guardan datos estructurados en tablas.</a:t>
            </a:r>
          </a:p>
        </p:txBody>
      </p:sp>
      <p:sp>
        <p:nvSpPr>
          <p:cNvPr id="374" name="Rounded Rectangle 373"/>
          <p:cNvSpPr/>
          <p:nvPr/>
        </p:nvSpPr>
        <p:spPr>
          <a:xfrm>
            <a:off x="254889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ETL / ELT</a:t>
            </a:r>
          </a:p>
          <a:p>
            <a:pPr algn="l">
              <a:spcBef>
                <a:spcPts val="600"/>
              </a:spcBef>
            </a:pPr>
            <a:r>
              <a:rPr sz="1100" i="0">
                <a:solidFill>
                  <a:srgbClr val="2A1006"/>
                </a:solidFill>
                <a:latin typeface="Plus Jakarta Sans"/>
              </a:rPr>
              <a:t>ETL transforma antes de cargar; ELT carga primero y transforma en destino.</a:t>
            </a:r>
          </a:p>
        </p:txBody>
      </p:sp>
      <p:sp>
        <p:nvSpPr>
          <p:cNvPr id="375" name="Rounded Rectangle 374"/>
          <p:cNvSpPr/>
          <p:nvPr/>
        </p:nvSpPr>
        <p:spPr>
          <a:xfrm>
            <a:off x="464058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Data Lakes</a:t>
            </a:r>
          </a:p>
          <a:p>
            <a:pPr algn="l">
              <a:spcBef>
                <a:spcPts val="600"/>
              </a:spcBef>
            </a:pPr>
            <a:r>
              <a:rPr sz="1100" i="0">
                <a:solidFill>
                  <a:srgbClr val="2A1006"/>
                </a:solidFill>
                <a:latin typeface="Plus Jakarta Sans"/>
              </a:rPr>
              <a:t>Guardan datos en su forma original, estructurados o no, a gran escala.</a:t>
            </a:r>
          </a:p>
        </p:txBody>
      </p:sp>
      <p:sp>
        <p:nvSpPr>
          <p:cNvPr id="376" name="Rounded Rectangle 375"/>
          <p:cNvSpPr/>
          <p:nvPr/>
        </p:nvSpPr>
        <p:spPr>
          <a:xfrm>
            <a:off x="6732270" y="1371600"/>
            <a:ext cx="1954530"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Visualización</a:t>
            </a:r>
          </a:p>
          <a:p>
            <a:pPr algn="l">
              <a:spcBef>
                <a:spcPts val="600"/>
              </a:spcBef>
            </a:pPr>
            <a:r>
              <a:rPr sz="1100" i="0">
                <a:solidFill>
                  <a:srgbClr val="2A1006"/>
                </a:solidFill>
                <a:latin typeface="Plus Jakarta Sans"/>
              </a:rPr>
              <a:t>Power BI, Tableau o Looker Studio muestran los resultados.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Excel básico: 4 conceptos mínimos</a:t>
            </a:r>
          </a:p>
        </p:txBody>
      </p:sp>
      <p:sp>
        <p:nvSpPr>
          <p:cNvPr id="372" name="Rounded Rectangle 371"/>
          <p:cNvSpPr/>
          <p:nvPr/>
        </p:nvSpPr>
        <p:spPr>
          <a:xfrm>
            <a:off x="457200" y="1005840"/>
            <a:ext cx="195453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Celda</a:t>
            </a:r>
          </a:p>
          <a:p>
            <a:pPr algn="l">
              <a:spcBef>
                <a:spcPts val="600"/>
              </a:spcBef>
            </a:pPr>
            <a:r>
              <a:rPr sz="1100" i="0">
                <a:solidFill>
                  <a:srgbClr val="2A1006"/>
                </a:solidFill>
                <a:latin typeface="Plus Jakarta Sans"/>
              </a:rPr>
              <a:t>Cada casillero de la hoja. A1 es columna A, fila 1.</a:t>
            </a:r>
          </a:p>
        </p:txBody>
      </p:sp>
      <p:sp>
        <p:nvSpPr>
          <p:cNvPr id="373" name="Rounded Rectangle 372"/>
          <p:cNvSpPr/>
          <p:nvPr/>
        </p:nvSpPr>
        <p:spPr>
          <a:xfrm>
            <a:off x="2548890" y="1005840"/>
            <a:ext cx="195453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Columna y fila</a:t>
            </a:r>
          </a:p>
          <a:p>
            <a:pPr algn="l">
              <a:spcBef>
                <a:spcPts val="600"/>
              </a:spcBef>
            </a:pPr>
            <a:r>
              <a:rPr sz="1100" i="0">
                <a:solidFill>
                  <a:srgbClr val="2A1006"/>
                </a:solidFill>
                <a:latin typeface="Plus Jakarta Sans"/>
              </a:rPr>
              <a:t>Las columnas son letras (A, B, C); las filas, números (1, 2, 3).</a:t>
            </a:r>
          </a:p>
        </p:txBody>
      </p:sp>
      <p:sp>
        <p:nvSpPr>
          <p:cNvPr id="374" name="Rounded Rectangle 373"/>
          <p:cNvSpPr/>
          <p:nvPr/>
        </p:nvSpPr>
        <p:spPr>
          <a:xfrm>
            <a:off x="4640580" y="1005840"/>
            <a:ext cx="195453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Rango</a:t>
            </a:r>
          </a:p>
          <a:p>
            <a:pPr algn="l">
              <a:spcBef>
                <a:spcPts val="600"/>
              </a:spcBef>
            </a:pPr>
            <a:r>
              <a:rPr sz="1100" i="0">
                <a:solidFill>
                  <a:srgbClr val="2A1006"/>
                </a:solidFill>
                <a:latin typeface="Plus Jakarta Sans"/>
              </a:rPr>
              <a:t>Celdas seguidas con dos puntos: A1:A5.</a:t>
            </a:r>
          </a:p>
        </p:txBody>
      </p:sp>
      <p:sp>
        <p:nvSpPr>
          <p:cNvPr id="375" name="Rounded Rectangle 374"/>
          <p:cNvSpPr/>
          <p:nvPr/>
        </p:nvSpPr>
        <p:spPr>
          <a:xfrm>
            <a:off x="6732270" y="1005840"/>
            <a:ext cx="1954530"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i="0">
                <a:solidFill>
                  <a:srgbClr val="FF632B"/>
                </a:solidFill>
                <a:latin typeface="Plus Jakarta Sans ExtraBold"/>
              </a:rPr>
              <a:t>Fórmula</a:t>
            </a:r>
          </a:p>
          <a:p>
            <a:pPr algn="l">
              <a:spcBef>
                <a:spcPts val="600"/>
              </a:spcBef>
            </a:pPr>
            <a:r>
              <a:rPr sz="1100" i="0">
                <a:solidFill>
                  <a:srgbClr val="2A1006"/>
                </a:solidFill>
                <a:latin typeface="Plus Jakarta Sans"/>
              </a:rPr>
              <a:t>Empieza con =. Ej.: =A1+A2 y Enter.</a:t>
            </a:r>
          </a:p>
        </p:txBody>
      </p:sp>
      <p:sp>
        <p:nvSpPr>
          <p:cNvPr id="376" name="TextBox 375"/>
          <p:cNvSpPr txBox="1"/>
          <p:nvPr/>
        </p:nvSpPr>
        <p:spPr>
          <a:xfrm>
            <a:off x="548640" y="4114800"/>
            <a:ext cx="8046720" cy="502920"/>
          </a:xfrm>
          <a:prstGeom prst="rect">
            <a:avLst/>
          </a:prstGeom>
          <a:noFill/>
        </p:spPr>
        <p:txBody>
          <a:bodyPr wrap="square">
            <a:spAutoFit/>
          </a:bodyPr>
          <a:lstStyle/>
          <a:p>
            <a:r>
              <a:rPr sz="1200" i="1">
                <a:solidFill>
                  <a:srgbClr val="FF632B"/>
                </a:solidFill>
                <a:latin typeface="Plus Jakarta Sans Light"/>
              </a:rPr>
              <a:t>Las fórmulas ahorran tiempo, reducen errores y se actualizan solas cuando cambian los datos.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Funciones fundamentales de Excel</a:t>
            </a:r>
          </a:p>
        </p:txBody>
      </p:sp>
      <p:graphicFrame>
        <p:nvGraphicFramePr>
          <p:cNvPr id="372" name="Table 371"/>
          <p:cNvGraphicFramePr>
            <a:graphicFrameLocks noGrp="1"/>
          </p:cNvGraphicFramePr>
          <p:nvPr/>
        </p:nvGraphicFramePr>
        <p:xfrm>
          <a:off x="457200" y="914400"/>
          <a:ext cx="8229600" cy="1828800"/>
        </p:xfrm>
        <a:graphic>
          <a:graphicData uri="http://schemas.openxmlformats.org/drawingml/2006/table">
            <a:tbl>
              <a:tblPr firstRow="1" bandRow="1">
                <a:tableStyleId>{5C22544A-7EE6-4342-B048-85BDC9FD1C3A}</a:tableStyleId>
              </a:tblPr>
              <a:tblGrid>
                <a:gridCol w="1371600"/>
                <a:gridCol w="2468880"/>
                <a:gridCol w="2468880"/>
                <a:gridCol w="1920240"/>
              </a:tblGrid>
              <a:tr h="365760">
                <a:tc>
                  <a:txBody>
                    <a:bodyPr/>
                    <a:lstStyle/>
                    <a:p>
                      <a:r>
                        <a:rPr sz="900" i="0">
                          <a:solidFill>
                            <a:srgbClr val="FFFFFF"/>
                          </a:solidFill>
                          <a:latin typeface="Plus Jakarta Sans ExtraBold"/>
                        </a:rPr>
                        <a:t>Función</a:t>
                      </a:r>
                    </a:p>
                  </a:txBody>
                  <a:tcPr marL="73152" marR="73152" anchor="ctr">
                    <a:solidFill>
                      <a:srgbClr val="FF632B"/>
                    </a:solidFill>
                  </a:tcPr>
                </a:tc>
                <a:tc>
                  <a:txBody>
                    <a:bodyPr/>
                    <a:lstStyle/>
                    <a:p>
                      <a:r>
                        <a:rPr sz="900" i="0">
                          <a:solidFill>
                            <a:srgbClr val="FFFFFF"/>
                          </a:solidFill>
                          <a:latin typeface="Plus Jakarta Sans ExtraBold"/>
                        </a:rPr>
                        <a:t>Sintaxis</a:t>
                      </a:r>
                    </a:p>
                  </a:txBody>
                  <a:tcPr marL="73152" marR="73152" anchor="ctr">
                    <a:solidFill>
                      <a:srgbClr val="FF632B"/>
                    </a:solidFill>
                  </a:tcPr>
                </a:tc>
                <a:tc>
                  <a:txBody>
                    <a:bodyPr/>
                    <a:lstStyle/>
                    <a:p>
                      <a:r>
                        <a:rPr sz="900" i="0">
                          <a:solidFill>
                            <a:srgbClr val="FFFFFF"/>
                          </a:solidFill>
                          <a:latin typeface="Plus Jakarta Sans ExtraBold"/>
                        </a:rPr>
                        <a:t>Ejemplo</a:t>
                      </a:r>
                    </a:p>
                  </a:txBody>
                  <a:tcPr marL="73152" marR="73152" anchor="ctr">
                    <a:solidFill>
                      <a:srgbClr val="FF632B"/>
                    </a:solidFill>
                  </a:tcPr>
                </a:tc>
                <a:tc>
                  <a:txBody>
                    <a:bodyPr/>
                    <a:lstStyle/>
                    <a:p>
                      <a:r>
                        <a:rPr sz="900" i="0">
                          <a:solidFill>
                            <a:srgbClr val="FFFFFF"/>
                          </a:solidFill>
                          <a:latin typeface="Plus Jakarta Sans ExtraBold"/>
                        </a:rPr>
                        <a:t>Cuándo usarla</a:t>
                      </a:r>
                    </a:p>
                  </a:txBody>
                  <a:tcPr marL="73152" marR="73152" anchor="ctr">
                    <a:solidFill>
                      <a:srgbClr val="FF632B"/>
                    </a:solidFill>
                  </a:tcPr>
                </a:tc>
              </a:tr>
              <a:tr h="365760">
                <a:tc>
                  <a:txBody>
                    <a:bodyPr/>
                    <a:lstStyle/>
                    <a:p>
                      <a:r>
                        <a:rPr sz="900" i="0">
                          <a:solidFill>
                            <a:srgbClr val="2A1006"/>
                          </a:solidFill>
                          <a:latin typeface="Plus Jakarta Sans ExtraBold"/>
                        </a:rPr>
                        <a:t>SUMA</a:t>
                      </a:r>
                    </a:p>
                  </a:txBody>
                  <a:tcPr marL="73152" marR="73152" anchor="ctr">
                    <a:solidFill>
                      <a:srgbClr val="FFFFFF"/>
                    </a:solidFill>
                  </a:tcPr>
                </a:tc>
                <a:tc>
                  <a:txBody>
                    <a:bodyPr/>
                    <a:lstStyle/>
                    <a:p>
                      <a:r>
                        <a:rPr sz="900" i="0">
                          <a:solidFill>
                            <a:srgbClr val="2A1006"/>
                          </a:solidFill>
                          <a:latin typeface="Plus Jakarta Sans"/>
                        </a:rPr>
                        <a:t>=SUMA(rango)</a:t>
                      </a:r>
                    </a:p>
                  </a:txBody>
                  <a:tcPr marL="73152" marR="73152" anchor="ctr">
                    <a:solidFill>
                      <a:srgbClr val="FFFFFF"/>
                    </a:solidFill>
                  </a:tcPr>
                </a:tc>
                <a:tc>
                  <a:txBody>
                    <a:bodyPr/>
                    <a:lstStyle/>
                    <a:p>
                      <a:r>
                        <a:rPr sz="900" i="0">
                          <a:solidFill>
                            <a:srgbClr val="2A1006"/>
                          </a:solidFill>
                          <a:latin typeface="Plus Jakarta Sans"/>
                        </a:rPr>
                        <a:t>=SUMA(A1:A10)</a:t>
                      </a:r>
                    </a:p>
                  </a:txBody>
                  <a:tcPr marL="73152" marR="73152" anchor="ctr">
                    <a:solidFill>
                      <a:srgbClr val="FFFFFF"/>
                    </a:solidFill>
                  </a:tcPr>
                </a:tc>
                <a:tc>
                  <a:txBody>
                    <a:bodyPr/>
                    <a:lstStyle/>
                    <a:p>
                      <a:r>
                        <a:rPr sz="900" i="0">
                          <a:solidFill>
                            <a:srgbClr val="2A1006"/>
                          </a:solidFill>
                          <a:latin typeface="Plus Jakarta Sans"/>
                        </a:rPr>
                        <a:t>Totales de ventas, gastos o ingresos</a:t>
                      </a:r>
                    </a:p>
                  </a:txBody>
                  <a:tcPr marL="73152" marR="73152" anchor="ctr">
                    <a:solidFill>
                      <a:srgbClr val="FFFFFF"/>
                    </a:solidFill>
                  </a:tcPr>
                </a:tc>
              </a:tr>
              <a:tr h="365760">
                <a:tc>
                  <a:txBody>
                    <a:bodyPr/>
                    <a:lstStyle/>
                    <a:p>
                      <a:r>
                        <a:rPr sz="900" i="0">
                          <a:solidFill>
                            <a:srgbClr val="2A1006"/>
                          </a:solidFill>
                          <a:latin typeface="Plus Jakarta Sans ExtraBold"/>
                        </a:rPr>
                        <a:t>PROMEDIO</a:t>
                      </a:r>
                    </a:p>
                  </a:txBody>
                  <a:tcPr marL="73152" marR="73152" anchor="ctr">
                    <a:solidFill>
                      <a:srgbClr val="FFF1E8"/>
                    </a:solidFill>
                  </a:tcPr>
                </a:tc>
                <a:tc>
                  <a:txBody>
                    <a:bodyPr/>
                    <a:lstStyle/>
                    <a:p>
                      <a:r>
                        <a:rPr sz="900" i="0">
                          <a:solidFill>
                            <a:srgbClr val="2A1006"/>
                          </a:solidFill>
                          <a:latin typeface="Plus Jakarta Sans"/>
                        </a:rPr>
                        <a:t>=PROMEDIO(rango)</a:t>
                      </a:r>
                    </a:p>
                  </a:txBody>
                  <a:tcPr marL="73152" marR="73152" anchor="ctr">
                    <a:solidFill>
                      <a:srgbClr val="FFF1E8"/>
                    </a:solidFill>
                  </a:tcPr>
                </a:tc>
                <a:tc>
                  <a:txBody>
                    <a:bodyPr/>
                    <a:lstStyle/>
                    <a:p>
                      <a:r>
                        <a:rPr sz="900" i="0">
                          <a:solidFill>
                            <a:srgbClr val="2A1006"/>
                          </a:solidFill>
                          <a:latin typeface="Plus Jakarta Sans"/>
                        </a:rPr>
                        <a:t>=PROMEDIO(B1:B10)</a:t>
                      </a:r>
                    </a:p>
                  </a:txBody>
                  <a:tcPr marL="73152" marR="73152" anchor="ctr">
                    <a:solidFill>
                      <a:srgbClr val="FFF1E8"/>
                    </a:solidFill>
                  </a:tcPr>
                </a:tc>
                <a:tc>
                  <a:txBody>
                    <a:bodyPr/>
                    <a:lstStyle/>
                    <a:p>
                      <a:r>
                        <a:rPr sz="900" i="0">
                          <a:solidFill>
                            <a:srgbClr val="2A1006"/>
                          </a:solidFill>
                          <a:latin typeface="Plus Jakarta Sans"/>
                        </a:rPr>
                        <a:t>Promedios y métricas generales</a:t>
                      </a:r>
                    </a:p>
                  </a:txBody>
                  <a:tcPr marL="73152" marR="73152" anchor="ctr">
                    <a:solidFill>
                      <a:srgbClr val="FFF1E8"/>
                    </a:solidFill>
                  </a:tcPr>
                </a:tc>
              </a:tr>
              <a:tr h="365760">
                <a:tc>
                  <a:txBody>
                    <a:bodyPr/>
                    <a:lstStyle/>
                    <a:p>
                      <a:r>
                        <a:rPr sz="900" i="0">
                          <a:solidFill>
                            <a:srgbClr val="2A1006"/>
                          </a:solidFill>
                          <a:latin typeface="Plus Jakarta Sans ExtraBold"/>
                        </a:rPr>
                        <a:t>SUMAR.SI</a:t>
                      </a:r>
                    </a:p>
                  </a:txBody>
                  <a:tcPr marL="73152" marR="73152" anchor="ctr">
                    <a:solidFill>
                      <a:srgbClr val="FFFFFF"/>
                    </a:solidFill>
                  </a:tcPr>
                </a:tc>
                <a:tc>
                  <a:txBody>
                    <a:bodyPr/>
                    <a:lstStyle/>
                    <a:p>
                      <a:r>
                        <a:rPr sz="900" i="0">
                          <a:solidFill>
                            <a:srgbClr val="2A1006"/>
                          </a:solidFill>
                          <a:latin typeface="Plus Jakarta Sans"/>
                        </a:rPr>
                        <a:t>=SUMAR.SI(rango_condición; criterio; rango_suma)</a:t>
                      </a:r>
                    </a:p>
                  </a:txBody>
                  <a:tcPr marL="73152" marR="73152" anchor="ctr">
                    <a:solidFill>
                      <a:srgbClr val="FFFFFF"/>
                    </a:solidFill>
                  </a:tcPr>
                </a:tc>
                <a:tc>
                  <a:txBody>
                    <a:bodyPr/>
                    <a:lstStyle/>
                    <a:p>
                      <a:r>
                        <a:rPr sz="900" i="0">
                          <a:solidFill>
                            <a:srgbClr val="2A1006"/>
                          </a:solidFill>
                          <a:latin typeface="Plus Jakarta Sans"/>
                        </a:rPr>
                        <a:t>=SUMAR.SI(A1:A10;"Ventas";B1:B10)</a:t>
                      </a:r>
                    </a:p>
                  </a:txBody>
                  <a:tcPr marL="73152" marR="73152" anchor="ctr">
                    <a:solidFill>
                      <a:srgbClr val="FFFFFF"/>
                    </a:solidFill>
                  </a:tcPr>
                </a:tc>
                <a:tc>
                  <a:txBody>
                    <a:bodyPr/>
                    <a:lstStyle/>
                    <a:p>
                      <a:r>
                        <a:rPr sz="900" i="0">
                          <a:solidFill>
                            <a:srgbClr val="2A1006"/>
                          </a:solidFill>
                          <a:latin typeface="Plus Jakarta Sans"/>
                        </a:rPr>
                        <a:t>Sumar por una categoría</a:t>
                      </a:r>
                    </a:p>
                  </a:txBody>
                  <a:tcPr marL="73152" marR="73152" anchor="ctr">
                    <a:solidFill>
                      <a:srgbClr val="FFFFFF"/>
                    </a:solidFill>
                  </a:tcPr>
                </a:tc>
              </a:tr>
              <a:tr h="365760">
                <a:tc>
                  <a:txBody>
                    <a:bodyPr/>
                    <a:lstStyle/>
                    <a:p>
                      <a:r>
                        <a:rPr sz="900" i="0">
                          <a:solidFill>
                            <a:srgbClr val="2A1006"/>
                          </a:solidFill>
                          <a:latin typeface="Plus Jakarta Sans ExtraBold"/>
                        </a:rPr>
                        <a:t>SUMAR.SI.CONJUNTO</a:t>
                      </a:r>
                    </a:p>
                  </a:txBody>
                  <a:tcPr marL="73152" marR="73152" anchor="ctr">
                    <a:solidFill>
                      <a:srgbClr val="FFF1E8"/>
                    </a:solidFill>
                  </a:tcPr>
                </a:tc>
                <a:tc>
                  <a:txBody>
                    <a:bodyPr/>
                    <a:lstStyle/>
                    <a:p>
                      <a:r>
                        <a:rPr sz="900" i="0">
                          <a:solidFill>
                            <a:srgbClr val="2A1006"/>
                          </a:solidFill>
                          <a:latin typeface="Plus Jakarta Sans"/>
                        </a:rPr>
                        <a:t>=SUMAR.SI.CONJUNTO(rango_suma; rango1; criterio1; rango2; criterio2)</a:t>
                      </a:r>
                    </a:p>
                  </a:txBody>
                  <a:tcPr marL="73152" marR="73152" anchor="ctr">
                    <a:solidFill>
                      <a:srgbClr val="FFF1E8"/>
                    </a:solidFill>
                  </a:tcPr>
                </a:tc>
                <a:tc>
                  <a:txBody>
                    <a:bodyPr/>
                    <a:lstStyle/>
                    <a:p>
                      <a:r>
                        <a:rPr sz="900" i="0">
                          <a:solidFill>
                            <a:srgbClr val="2A1006"/>
                          </a:solidFill>
                          <a:latin typeface="Plus Jakarta Sans"/>
                        </a:rPr>
                        <a:t>=SUMAR.SI.CONJUNTO(C1:C10;A1:A10;"Ventas";B1:B10;"&gt;100")</a:t>
                      </a:r>
                    </a:p>
                  </a:txBody>
                  <a:tcPr marL="73152" marR="73152" anchor="ctr">
                    <a:solidFill>
                      <a:srgbClr val="FFF1E8"/>
                    </a:solidFill>
                  </a:tcPr>
                </a:tc>
                <a:tc>
                  <a:txBody>
                    <a:bodyPr/>
                    <a:lstStyle/>
                    <a:p>
                      <a:r>
                        <a:rPr sz="900" i="0">
                          <a:solidFill>
                            <a:srgbClr val="2A1006"/>
                          </a:solidFill>
                          <a:latin typeface="Plus Jakarta Sans"/>
                        </a:rPr>
                        <a:t>Sumar con varios filtros</a:t>
                      </a:r>
                    </a:p>
                  </a:txBody>
                  <a:tcPr marL="73152" marR="73152" anchor="ctr">
                    <a:solidFill>
                      <a:srgbClr val="FFF1E8"/>
                    </a:solidFill>
                  </a:tcPr>
                </a:tc>
              </a:tr>
            </a:tbl>
          </a:graphicData>
        </a:graphic>
      </p:graphicFrame>
      <p:sp>
        <p:nvSpPr>
          <p:cNvPr id="373" name="TextBox 372"/>
          <p:cNvSpPr txBox="1"/>
          <p:nvPr/>
        </p:nvSpPr>
        <p:spPr>
          <a:xfrm>
            <a:off x="548640" y="4206240"/>
            <a:ext cx="8046720" cy="411480"/>
          </a:xfrm>
          <a:prstGeom prst="rect">
            <a:avLst/>
          </a:prstGeom>
          <a:noFill/>
        </p:spPr>
        <p:txBody>
          <a:bodyPr wrap="square">
            <a:spAutoFit/>
          </a:bodyPr>
          <a:lstStyle/>
          <a:p>
            <a:r>
              <a:rPr sz="1100" i="1">
                <a:solidFill>
                  <a:srgbClr val="FF632B"/>
                </a:solidFill>
                <a:latin typeface="Plus Jakarta Sans Light"/>
              </a:rPr>
              <a:t>Revisa los separadores (; o ,) según la configuración regional de tu Excel.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70" name="Google Shape;370;p28"/>
          <p:cNvPicPr preferRelativeResize="0"/>
          <p:nvPr/>
        </p:nvPicPr>
        <p:blipFill rotWithShape="1">
          <a:blip r:embed="rId2">
            <a:alphaModFix/>
          </a:blip>
          <a:srcRect b="0" l="0" r="0" t="0"/>
          <a:stretch/>
        </p:blipFill>
        <p:spPr>
          <a:xfrm>
            <a:off x="7531541" y="4692357"/>
            <a:ext cx="1548518" cy="451143"/>
          </a:xfrm>
          <a:prstGeom prst="rect">
            <a:avLst/>
          </a:prstGeom>
          <a:noFill/>
          <a:ln>
            <a:noFill/>
          </a:ln>
        </p:spPr>
      </p:pic>
      <p:sp>
        <p:nvSpPr>
          <p:cNvPr id="371" name="TextBox 370"/>
          <p:cNvSpPr txBox="1"/>
          <p:nvPr/>
        </p:nvSpPr>
        <p:spPr>
          <a:xfrm>
            <a:off x="548640" y="182880"/>
            <a:ext cx="8046720" cy="457200"/>
          </a:xfrm>
          <a:prstGeom prst="rect">
            <a:avLst/>
          </a:prstGeom>
          <a:noFill/>
        </p:spPr>
        <p:txBody>
          <a:bodyPr wrap="square">
            <a:spAutoFit/>
          </a:bodyPr>
          <a:lstStyle/>
          <a:p>
            <a:r>
              <a:rPr sz="2000" i="0">
                <a:solidFill>
                  <a:srgbClr val="FF632B"/>
                </a:solidFill>
                <a:latin typeface="Plus Jakarta Sans ExtraBold"/>
              </a:rPr>
              <a:t>Entregable evaluable: Pre-entrega RetailPro</a:t>
            </a:r>
          </a:p>
        </p:txBody>
      </p:sp>
      <p:sp>
        <p:nvSpPr>
          <p:cNvPr id="372" name="Rounded Rectangle 371"/>
          <p:cNvSpPr/>
          <p:nvPr/>
        </p:nvSpPr>
        <p:spPr>
          <a:xfrm>
            <a:off x="45720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Qué se entrega</a:t>
            </a:r>
          </a:p>
          <a:p>
            <a:pPr algn="l">
              <a:spcBef>
                <a:spcPts val="600"/>
              </a:spcBef>
            </a:pPr>
            <a:r>
              <a:rPr sz="1200" i="0">
                <a:solidFill>
                  <a:srgbClr val="2A1006"/>
                </a:solidFill>
                <a:latin typeface="Plus Jakarta Sans"/>
              </a:rPr>
              <a:t>Brief del proyecto RetailPro (PDF/DOCX): problema de negocio, fuentes de datos, preguntas de análisis, KPIs y boceto del dashboard.</a:t>
            </a:r>
          </a:p>
        </p:txBody>
      </p:sp>
      <p:sp>
        <p:nvSpPr>
          <p:cNvPr id="373" name="Rounded Rectangle 372"/>
          <p:cNvSpPr/>
          <p:nvPr/>
        </p:nvSpPr>
        <p:spPr>
          <a:xfrm>
            <a:off x="4663440" y="1005840"/>
            <a:ext cx="4023360" cy="3383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500" i="0">
                <a:solidFill>
                  <a:srgbClr val="FF632B"/>
                </a:solidFill>
                <a:latin typeface="Plus Jakarta Sans ExtraBold"/>
              </a:rPr>
              <a:t>Cómo se evalúa</a:t>
            </a:r>
          </a:p>
          <a:p>
            <a:pPr algn="l">
              <a:spcBef>
                <a:spcPts val="600"/>
              </a:spcBef>
            </a:pPr>
            <a:r>
              <a:rPr sz="1200" i="0">
                <a:solidFill>
                  <a:srgbClr val="2A1006"/>
                </a:solidFill>
                <a:latin typeface="Plus Jakarta Sans"/>
              </a:rPr>
              <a:t>Es lo único que se corrige del módulo y suma al proyecto integrador. Es un brief conceptual: no requiere construir nada en Excel. Las demás actividades son práctica guiada (no evaluable).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